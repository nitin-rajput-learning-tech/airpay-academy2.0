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story: the learning platform we bought has been rebuilt into a platform we own - Airpay Academy 2.0 on Sentientia LMS - and it is running on a UAT environment today with every persona validated. Be precise: it is NOT live; no real user is on it yet. Today we show it, and ask for five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67/67 from the functional walk (UAT-DEMO-READINESS), 16/16 = 10 checks on 16 Sep + 6 on 17 Sep, 3 tenants, 3 open security items (C1 payment hash merge, H2 reCAPTCHA keys, M5 which rides on C1). Say clearly: not live, no real users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"when does it go live": after the Stage B rehearsal passes and IT has production on MySQL 8.4 / PHP 8.3. Deliberately not date-promised.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Captured from https://academy2.airpay.ninja on 17 Sep 2026 (public pages). Logged-in screens are shown live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 framing: adoption, inclusion (Hindi), manager self-service, compliance evidence. Live sessions and gamification are demoable on UAT; outbound email/WhatsApp are deliberately switched off on 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CTO questions to expect: stack currency (5.2/8.3/8.4 - yes on UAT; production RDS is still 8.0.44 and needs IT's change request), isolation proof (screen-checked 16-17 Sep), how changes ship (checksummed, backed-up, upgrade + purge), licence (GPL core, SaaS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docs/security/UAT-SECURITY-POSTURE-2026-09-03.md and the validation plan. Present the open items as decisions, not gaps: C1 is a merge + sandbox test, H2 is a key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migration plan §3.1 (parity baseline), validation plan 2.2/2.3 (drill, load), Phase 0 provisioning. The 3,500+ figure is the live airpay.academy population, not Sentientia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Tenant figures are from the 16-17 Sep screen checks on UAT. Customer-N demo is on the development environment (2026-08-20). Do not oversell multi-customer - say "architecture demonstrated, productisation deferred until customer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ADR-028 decisions: freeze rejected → parallel tracks; Q3 full trust roadmap; Q5 native app funded; Addendum A AI budget (cap TBD, key not provisioned); Addendum B "5.2 now". Phase 2.1/2.2/2.4 done; 2.3 blocked on cap +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key-person risk is the one leadership will feel most; the support-engineer ask (August deck) is its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3 asks for direction, not final numbers - the security spend annex (Aug 2026) and an AI cap estimate follow as annexes. Item 5 is a note, not an approval: it protects everyone from date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credentials are in the confidential UAT handout, never on a slide. Every stop was walked and screen-verified between 7 and 17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CTO. One further theme fix (Hindi login placeholders) is committed and awaits the next deployment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55C"/>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0A4D80">
              <a:alpha val="45000"/>
            </a:srgbClr>
          </a:solidFill>
          <a:ln/>
        </p:spPr>
      </p:sp>
      <p:sp>
        <p:nvSpPr>
          <p:cNvPr id="3" name="Shape 1"/>
          <p:cNvSpPr/>
          <p:nvPr/>
        </p:nvSpPr>
        <p:spPr>
          <a:xfrm>
            <a:off x="-1280160" y="4937760"/>
            <a:ext cx="3291840" cy="3291840"/>
          </a:xfrm>
          <a:prstGeom prst="ellipse">
            <a:avLst/>
          </a:prstGeom>
          <a:solidFill>
            <a:srgbClr val="0A4D80">
              <a:alpha val="35000"/>
            </a:srgbClr>
          </a:solidFill>
          <a:ln/>
        </p:spPr>
      </p:sp>
      <p:pic>
        <p:nvPicPr>
          <p:cNvPr id="4" name="Image 0" descr="C:\Users\nitin.rajput\AppData\Local\Temp\claude\D--Claude-Local-airpay-ld-os\38f0e65b-f9f9-4537-9f0f-92db1b39265c\scratchpad\deck/logo-wide.png">    </p:cNvPr>
          <p:cNvPicPr>
            <a:picLocks noChangeAspect="1"/>
          </p:cNvPicPr>
          <p:nvPr/>
        </p:nvPicPr>
        <p:blipFill>
          <a:blip r:embed="rId1"/>
          <a:stretch>
            <a:fillRect/>
          </a:stretch>
        </p:blipFill>
        <p:spPr>
          <a:xfrm>
            <a:off x="548640" y="822960"/>
            <a:ext cx="1737360" cy="1005840"/>
          </a:xfrm>
          <a:prstGeom prst="rect">
            <a:avLst/>
          </a:prstGeom>
        </p:spPr>
      </p:pic>
      <p:sp>
        <p:nvSpPr>
          <p:cNvPr id="5" name="Text 2"/>
          <p:cNvSpPr/>
          <p:nvPr/>
        </p:nvSpPr>
        <p:spPr>
          <a:xfrm>
            <a:off x="548640" y="2148840"/>
            <a:ext cx="9144000" cy="320040"/>
          </a:xfrm>
          <a:prstGeom prst="rect">
            <a:avLst/>
          </a:prstGeom>
          <a:noFill/>
          <a:ln/>
        </p:spPr>
        <p:txBody>
          <a:bodyPr wrap="square" lIns="0" tIns="0" rIns="0" bIns="0" rtlCol="0" anchor="ctr"/>
          <a:lstStyle/>
          <a:p>
            <a:pPr indent="0" marL="0">
              <a:buNone/>
            </a:pPr>
            <a:r>
              <a:rPr lang="en-US" sz="1250" b="1" spc="300" kern="0" dirty="0">
                <a:solidFill>
                  <a:srgbClr val="A9CDE8"/>
                </a:solidFill>
                <a:latin typeface="Arial" pitchFamily="34" charset="0"/>
                <a:ea typeface="Arial" pitchFamily="34" charset="-122"/>
                <a:cs typeface="Arial" pitchFamily="34" charset="-120"/>
              </a:rPr>
              <a:t>AIRPAY  LEARNING &amp; DEVELOPMENT  ·  LEADERSHIP SHOWCASE</a:t>
            </a:r>
            <a:endParaRPr lang="en-US" sz="1250" dirty="0"/>
          </a:p>
        </p:txBody>
      </p:sp>
      <p:sp>
        <p:nvSpPr>
          <p:cNvPr id="6" name="Text 3"/>
          <p:cNvSpPr/>
          <p:nvPr/>
        </p:nvSpPr>
        <p:spPr>
          <a:xfrm>
            <a:off x="548640" y="2514600"/>
            <a:ext cx="1051560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Airpay Academy 2.0</a:t>
            </a:r>
            <a:endParaRPr lang="en-US" sz="5400" dirty="0"/>
          </a:p>
        </p:txBody>
      </p:sp>
      <p:sp>
        <p:nvSpPr>
          <p:cNvPr id="7" name="Text 4"/>
          <p:cNvSpPr/>
          <p:nvPr/>
        </p:nvSpPr>
        <p:spPr>
          <a:xfrm>
            <a:off x="548640" y="3474720"/>
            <a:ext cx="10515600" cy="502920"/>
          </a:xfrm>
          <a:prstGeom prst="rect">
            <a:avLst/>
          </a:prstGeom>
          <a:noFill/>
          <a:ln/>
        </p:spPr>
        <p:txBody>
          <a:bodyPr wrap="square" lIns="0" tIns="0" rIns="0" bIns="0" rtlCol="0" anchor="ctr"/>
          <a:lstStyle/>
          <a:p>
            <a:pPr indent="0" marL="0">
              <a:buNone/>
            </a:pPr>
            <a:r>
              <a:rPr lang="en-US" sz="2200" dirty="0">
                <a:solidFill>
                  <a:srgbClr val="CADCFC"/>
                </a:solidFill>
                <a:latin typeface="Arial" pitchFamily="34" charset="0"/>
                <a:ea typeface="Arial" pitchFamily="34" charset="-122"/>
                <a:cs typeface="Arial" pitchFamily="34" charset="-120"/>
              </a:rPr>
              <a:t>powered by Sentientia LMS - our own enterprise learning platform</a:t>
            </a:r>
            <a:endParaRPr lang="en-US" sz="2200" dirty="0"/>
          </a:p>
        </p:txBody>
      </p:sp>
      <p:sp>
        <p:nvSpPr>
          <p:cNvPr id="8" name="Text 5"/>
          <p:cNvSpPr/>
          <p:nvPr/>
        </p:nvSpPr>
        <p:spPr>
          <a:xfrm>
            <a:off x="548640" y="4343400"/>
            <a:ext cx="10789920" cy="64008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UAT showcase</a:t>
            </a:r>
            <a:pPr indent="0" marL="0">
              <a:buNone/>
            </a:pPr>
            <a:r>
              <a:rPr lang="en-US" sz="1450" dirty="0">
                <a:solidFill>
                  <a:srgbClr val="A9CDE8"/>
                </a:solidFill>
                <a:latin typeface="Arial" pitchFamily="34" charset="0"/>
                <a:ea typeface="Arial" pitchFamily="34" charset="-122"/>
                <a:cs typeface="Arial" pitchFamily="34" charset="-120"/>
              </a:rPr>
              <a:t>   -   what is running on the test environment today, what it means for people, technology and risk, and what we need decided</a:t>
            </a:r>
            <a:endParaRPr lang="en-US" sz="1450" dirty="0"/>
          </a:p>
        </p:txBody>
      </p:sp>
      <p:sp>
        <p:nvSpPr>
          <p:cNvPr id="9" name="Text 6"/>
          <p:cNvSpPr/>
          <p:nvPr/>
        </p:nvSpPr>
        <p:spPr>
          <a:xfrm>
            <a:off x="548640" y="5806440"/>
            <a:ext cx="10515600" cy="274320"/>
          </a:xfrm>
          <a:prstGeom prst="rect">
            <a:avLst/>
          </a:prstGeom>
          <a:noFill/>
          <a:ln/>
        </p:spPr>
        <p:txBody>
          <a:bodyPr wrap="square" lIns="0" tIns="0" rIns="0" bIns="0" rtlCol="0" anchor="ctr"/>
          <a:lstStyle/>
          <a:p>
            <a:pPr indent="0" marL="0">
              <a:buNone/>
            </a:pPr>
            <a:r>
              <a:rPr lang="en-US" sz="1150" dirty="0">
                <a:solidFill>
                  <a:srgbClr val="7FA8C9"/>
                </a:solidFill>
                <a:latin typeface="Arial" pitchFamily="34" charset="0"/>
                <a:ea typeface="Arial" pitchFamily="34" charset="-122"/>
                <a:cs typeface="Arial" pitchFamily="34" charset="-120"/>
              </a:rPr>
              <a:t>For the MD &amp; Founder, CTO and CHRO  ·  Prepared by Nitin Rajput, Head of Learning &amp; Development  ·  September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EXECUTIVE SUMMARY</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Built, validated on UAT, ready for the tester cohort</a:t>
            </a:r>
            <a:endParaRPr lang="en-US" sz="2800" dirty="0"/>
          </a:p>
        </p:txBody>
      </p:sp>
      <p:sp>
        <p:nvSpPr>
          <p:cNvPr id="4" name="Text 2"/>
          <p:cNvSpPr/>
          <p:nvPr/>
        </p:nvSpPr>
        <p:spPr>
          <a:xfrm>
            <a:off x="548640" y="1371600"/>
            <a:ext cx="11064240" cy="1143000"/>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Where we are.  </a:t>
            </a:r>
            <a:pPr indent="0" marL="0">
              <a:buNone/>
            </a:pPr>
            <a:r>
              <a:rPr lang="en-US" sz="1250" dirty="0">
                <a:solidFill>
                  <a:srgbClr val="5A6070"/>
                </a:solidFill>
                <a:latin typeface="Arial" pitchFamily="34" charset="0"/>
                <a:ea typeface="Arial" pitchFamily="34" charset="-122"/>
                <a:cs typeface="Arial" pitchFamily="34" charset="-120"/>
              </a:rPr>
              <a:t>Sentientia LMS - a white-label enterprise learning platform we own end to end, with Airpay Academy as its first customer - has been running on a dedicated UAT environment (academy2.airpay.ninja) since 3 September on the modern stack IT approved (Moodle 5.2, PHP 8.3, MySQL 8.4). Every persona's demo surface loads clean, tenant isolation and Hindi have been verified on screen, and the security audit findings that block production are down to three external items. It is not live: every user on it is a test persona. Real users load only after a passed migration rehearsal.</a:t>
            </a:r>
            <a:endParaRPr lang="en-US" sz="1250" dirty="0"/>
          </a:p>
        </p:txBody>
      </p:sp>
      <p:sp>
        <p:nvSpPr>
          <p:cNvPr id="5" name="Text 3"/>
          <p:cNvSpPr/>
          <p:nvPr/>
        </p:nvSpPr>
        <p:spPr>
          <a:xfrm>
            <a:off x="548640" y="2697480"/>
            <a:ext cx="2651760" cy="658368"/>
          </a:xfrm>
          <a:prstGeom prst="rect">
            <a:avLst/>
          </a:prstGeom>
          <a:noFill/>
          <a:ln/>
        </p:spPr>
        <p:txBody>
          <a:bodyPr wrap="square" lIns="0" tIns="0" rIns="0" bIns="0" rtlCol="0" anchor="ctr"/>
          <a:lstStyle/>
          <a:p>
            <a:pPr algn="ctr" indent="0" marL="0">
              <a:buNone/>
            </a:pPr>
            <a:r>
              <a:rPr lang="en-US" sz="3600" b="1" dirty="0">
                <a:solidFill>
                  <a:srgbClr val="0066A7"/>
                </a:solidFill>
                <a:latin typeface="Arial" pitchFamily="34" charset="0"/>
                <a:ea typeface="Arial" pitchFamily="34" charset="-122"/>
                <a:cs typeface="Arial" pitchFamily="34" charset="-120"/>
              </a:rPr>
              <a:t>67 / 67</a:t>
            </a:r>
            <a:endParaRPr lang="en-US" sz="3600" dirty="0"/>
          </a:p>
        </p:txBody>
      </p:sp>
      <p:sp>
        <p:nvSpPr>
          <p:cNvPr id="6" name="Text 4"/>
          <p:cNvSpPr/>
          <p:nvPr/>
        </p:nvSpPr>
        <p:spPr>
          <a:xfrm>
            <a:off x="548640" y="3355848"/>
            <a:ext cx="2651760" cy="603504"/>
          </a:xfrm>
          <a:prstGeom prst="rect">
            <a:avLst/>
          </a:prstGeom>
          <a:noFill/>
          <a:ln/>
        </p:spPr>
        <p:txBody>
          <a:bodyPr wrap="square" lIns="0" tIns="0" rIns="0" bIns="0" rtlCol="0" anchor="t"/>
          <a:lstStyle/>
          <a:p>
            <a:pPr algn="ctr" indent="0" marL="0">
              <a:buNone/>
            </a:pPr>
            <a:r>
              <a:rPr lang="en-US" sz="1050" dirty="0">
                <a:solidFill>
                  <a:srgbClr val="5A6070"/>
                </a:solidFill>
                <a:latin typeface="Arial" pitchFamily="34" charset="0"/>
                <a:ea typeface="Arial" pitchFamily="34" charset="-122"/>
                <a:cs typeface="Arial" pitchFamily="34" charset="-120"/>
              </a:rPr>
              <a:t>demo surfaces load clean across 11 persona walks</a:t>
            </a:r>
            <a:endParaRPr lang="en-US" sz="1050" dirty="0"/>
          </a:p>
        </p:txBody>
      </p:sp>
      <p:sp>
        <p:nvSpPr>
          <p:cNvPr id="7" name="Text 5"/>
          <p:cNvSpPr/>
          <p:nvPr/>
        </p:nvSpPr>
        <p:spPr>
          <a:xfrm>
            <a:off x="3383280" y="2697480"/>
            <a:ext cx="2651760" cy="658368"/>
          </a:xfrm>
          <a:prstGeom prst="rect">
            <a:avLst/>
          </a:prstGeom>
          <a:noFill/>
          <a:ln/>
        </p:spPr>
        <p:txBody>
          <a:bodyPr wrap="square" lIns="0" tIns="0" rIns="0" bIns="0" rtlCol="0" anchor="ctr"/>
          <a:lstStyle/>
          <a:p>
            <a:pPr algn="ctr" indent="0" marL="0">
              <a:buNone/>
            </a:pPr>
            <a:r>
              <a:rPr lang="en-US" sz="3600" b="1" dirty="0">
                <a:solidFill>
                  <a:srgbClr val="16A34A"/>
                </a:solidFill>
                <a:latin typeface="Arial" pitchFamily="34" charset="0"/>
                <a:ea typeface="Arial" pitchFamily="34" charset="-122"/>
                <a:cs typeface="Arial" pitchFamily="34" charset="-120"/>
              </a:rPr>
              <a:t>16 / 16</a:t>
            </a:r>
            <a:endParaRPr lang="en-US" sz="3600" dirty="0"/>
          </a:p>
        </p:txBody>
      </p:sp>
      <p:sp>
        <p:nvSpPr>
          <p:cNvPr id="8" name="Text 6"/>
          <p:cNvSpPr/>
          <p:nvPr/>
        </p:nvSpPr>
        <p:spPr>
          <a:xfrm>
            <a:off x="3383280" y="3355848"/>
            <a:ext cx="2651760" cy="603504"/>
          </a:xfrm>
          <a:prstGeom prst="rect">
            <a:avLst/>
          </a:prstGeom>
          <a:noFill/>
          <a:ln/>
        </p:spPr>
        <p:txBody>
          <a:bodyPr wrap="square" lIns="0" tIns="0" rIns="0" bIns="0" rtlCol="0" anchor="t"/>
          <a:lstStyle/>
          <a:p>
            <a:pPr algn="ctr" indent="0" marL="0">
              <a:buNone/>
            </a:pPr>
            <a:r>
              <a:rPr lang="en-US" sz="1050" dirty="0">
                <a:solidFill>
                  <a:srgbClr val="5A6070"/>
                </a:solidFill>
                <a:latin typeface="Arial" pitchFamily="34" charset="0"/>
                <a:ea typeface="Arial" pitchFamily="34" charset="-122"/>
                <a:cs typeface="Arial" pitchFamily="34" charset="-120"/>
              </a:rPr>
              <a:t>on-screen checks passed after the September fixes (10 + 6)</a:t>
            </a:r>
            <a:endParaRPr lang="en-US" sz="1050" dirty="0"/>
          </a:p>
        </p:txBody>
      </p:sp>
      <p:sp>
        <p:nvSpPr>
          <p:cNvPr id="9" name="Text 7"/>
          <p:cNvSpPr/>
          <p:nvPr/>
        </p:nvSpPr>
        <p:spPr>
          <a:xfrm>
            <a:off x="6217920" y="2697480"/>
            <a:ext cx="2651760" cy="658368"/>
          </a:xfrm>
          <a:prstGeom prst="rect">
            <a:avLst/>
          </a:prstGeom>
          <a:noFill/>
          <a:ln/>
        </p:spPr>
        <p:txBody>
          <a:bodyPr wrap="square" lIns="0" tIns="0" rIns="0" bIns="0" rtlCol="0" anchor="ctr"/>
          <a:lstStyle/>
          <a:p>
            <a:pPr algn="ctr" indent="0" marL="0">
              <a:buNone/>
            </a:pPr>
            <a:r>
              <a:rPr lang="en-US" sz="3600" b="1" dirty="0">
                <a:solidFill>
                  <a:srgbClr val="0066A7"/>
                </a:solidFill>
                <a:latin typeface="Arial" pitchFamily="34" charset="0"/>
                <a:ea typeface="Arial" pitchFamily="34" charset="-122"/>
                <a:cs typeface="Arial" pitchFamily="34" charset="-120"/>
              </a:rPr>
              <a:t>3</a:t>
            </a:r>
            <a:endParaRPr lang="en-US" sz="3600" dirty="0"/>
          </a:p>
        </p:txBody>
      </p:sp>
      <p:sp>
        <p:nvSpPr>
          <p:cNvPr id="10" name="Text 8"/>
          <p:cNvSpPr/>
          <p:nvPr/>
        </p:nvSpPr>
        <p:spPr>
          <a:xfrm>
            <a:off x="6217920" y="3355848"/>
            <a:ext cx="2651760" cy="603504"/>
          </a:xfrm>
          <a:prstGeom prst="rect">
            <a:avLst/>
          </a:prstGeom>
          <a:noFill/>
          <a:ln/>
        </p:spPr>
        <p:txBody>
          <a:bodyPr wrap="square" lIns="0" tIns="0" rIns="0" bIns="0" rtlCol="0" anchor="t"/>
          <a:lstStyle/>
          <a:p>
            <a:pPr algn="ctr" indent="0" marL="0">
              <a:buNone/>
            </a:pPr>
            <a:r>
              <a:rPr lang="en-US" sz="1050" dirty="0">
                <a:solidFill>
                  <a:srgbClr val="5A6070"/>
                </a:solidFill>
                <a:latin typeface="Arial" pitchFamily="34" charset="0"/>
                <a:ea typeface="Arial" pitchFamily="34" charset="-122"/>
                <a:cs typeface="Arial" pitchFamily="34" charset="-120"/>
              </a:rPr>
              <a:t>tenants isolated on one platform (Airpay · Public · ZEEA Tanzania)</a:t>
            </a:r>
            <a:endParaRPr lang="en-US" sz="1050" dirty="0"/>
          </a:p>
        </p:txBody>
      </p:sp>
      <p:sp>
        <p:nvSpPr>
          <p:cNvPr id="11" name="Text 9"/>
          <p:cNvSpPr/>
          <p:nvPr/>
        </p:nvSpPr>
        <p:spPr>
          <a:xfrm>
            <a:off x="9052560" y="2697480"/>
            <a:ext cx="2651760" cy="658368"/>
          </a:xfrm>
          <a:prstGeom prst="rect">
            <a:avLst/>
          </a:prstGeom>
          <a:noFill/>
          <a:ln/>
        </p:spPr>
        <p:txBody>
          <a:bodyPr wrap="square" lIns="0" tIns="0" rIns="0" bIns="0" rtlCol="0" anchor="ctr"/>
          <a:lstStyle/>
          <a:p>
            <a:pPr algn="ctr" indent="0" marL="0">
              <a:buNone/>
            </a:pPr>
            <a:r>
              <a:rPr lang="en-US" sz="3600" b="1" dirty="0">
                <a:solidFill>
                  <a:srgbClr val="ED692B"/>
                </a:solidFill>
                <a:latin typeface="Arial" pitchFamily="34" charset="0"/>
                <a:ea typeface="Arial" pitchFamily="34" charset="-122"/>
                <a:cs typeface="Arial" pitchFamily="34" charset="-120"/>
              </a:rPr>
              <a:t>3</a:t>
            </a:r>
            <a:endParaRPr lang="en-US" sz="3600" dirty="0"/>
          </a:p>
        </p:txBody>
      </p:sp>
      <p:sp>
        <p:nvSpPr>
          <p:cNvPr id="12" name="Text 10"/>
          <p:cNvSpPr/>
          <p:nvPr/>
        </p:nvSpPr>
        <p:spPr>
          <a:xfrm>
            <a:off x="9052560" y="3355848"/>
            <a:ext cx="2651760" cy="603504"/>
          </a:xfrm>
          <a:prstGeom prst="rect">
            <a:avLst/>
          </a:prstGeom>
          <a:noFill/>
          <a:ln/>
        </p:spPr>
        <p:txBody>
          <a:bodyPr wrap="square" lIns="0" tIns="0" rIns="0" bIns="0" rtlCol="0" anchor="t"/>
          <a:lstStyle/>
          <a:p>
            <a:pPr algn="ctr" indent="0" marL="0">
              <a:buNone/>
            </a:pPr>
            <a:r>
              <a:rPr lang="en-US" sz="1050" dirty="0">
                <a:solidFill>
                  <a:srgbClr val="5A6070"/>
                </a:solidFill>
                <a:latin typeface="Arial" pitchFamily="34" charset="0"/>
                <a:ea typeface="Arial" pitchFamily="34" charset="-122"/>
                <a:cs typeface="Arial" pitchFamily="34" charset="-120"/>
              </a:rPr>
              <a:t>security items still open before production - all external</a:t>
            </a:r>
            <a:endParaRPr lang="en-US" sz="1050" dirty="0"/>
          </a:p>
        </p:txBody>
      </p:sp>
      <p:sp>
        <p:nvSpPr>
          <p:cNvPr id="13" name="Shape 11"/>
          <p:cNvSpPr/>
          <p:nvPr/>
        </p:nvSpPr>
        <p:spPr>
          <a:xfrm>
            <a:off x="548640" y="4206240"/>
            <a:ext cx="11091672" cy="2103120"/>
          </a:xfrm>
          <a:prstGeom prst="roundRect">
            <a:avLst>
              <a:gd name="adj" fmla="val 3043"/>
            </a:avLst>
          </a:prstGeom>
          <a:solidFill>
            <a:srgbClr val="E8F2F9"/>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4" name="Text 12"/>
          <p:cNvSpPr/>
          <p:nvPr/>
        </p:nvSpPr>
        <p:spPr>
          <a:xfrm>
            <a:off x="777240" y="4370832"/>
            <a:ext cx="5486400" cy="274320"/>
          </a:xfrm>
          <a:prstGeom prst="rect">
            <a:avLst/>
          </a:prstGeom>
          <a:noFill/>
          <a:ln/>
        </p:spPr>
        <p:txBody>
          <a:bodyPr wrap="square" lIns="0" tIns="0" rIns="0" bIns="0" rtlCol="0" anchor="ctr"/>
          <a:lstStyle/>
          <a:p>
            <a:pPr indent="0" marL="0">
              <a:buNone/>
            </a:pPr>
            <a:r>
              <a:rPr lang="en-US" sz="1100" b="1" spc="200" kern="0" dirty="0">
                <a:solidFill>
                  <a:srgbClr val="0066A7"/>
                </a:solidFill>
                <a:latin typeface="Arial" pitchFamily="34" charset="0"/>
                <a:ea typeface="Arial" pitchFamily="34" charset="-122"/>
                <a:cs typeface="Arial" pitchFamily="34" charset="-120"/>
              </a:rPr>
              <a:t>WHAT WE ASK TODAY</a:t>
            </a:r>
            <a:endParaRPr lang="en-US" sz="1100" dirty="0"/>
          </a:p>
        </p:txBody>
      </p:sp>
      <p:sp>
        <p:nvSpPr>
          <p:cNvPr id="15" name="Text 13"/>
          <p:cNvSpPr/>
          <p:nvPr/>
        </p:nvSpPr>
        <p:spPr>
          <a:xfrm>
            <a:off x="777240" y="4663440"/>
            <a:ext cx="10424160" cy="1554480"/>
          </a:xfrm>
          <a:prstGeom prst="rect">
            <a:avLst/>
          </a:prstGeom>
          <a:noFill/>
          <a:ln/>
        </p:spPr>
        <p:txBody>
          <a:bodyPr wrap="square" lIns="0" tIns="0" rIns="0" bIns="0" rtlCol="0" anchor="ctr"/>
          <a:lstStyle/>
          <a:p>
            <a:pPr indent="0" marL="0">
              <a:spcAft>
                <a:spcPts val="600"/>
              </a:spcAft>
              <a:buNone/>
            </a:pPr>
            <a:r>
              <a:rPr lang="en-US" sz="1250" dirty="0">
                <a:solidFill>
                  <a:srgbClr val="1A1A2E"/>
                </a:solidFill>
                <a:latin typeface="Arial" pitchFamily="34" charset="0"/>
                <a:ea typeface="Arial" pitchFamily="34" charset="-122"/>
                <a:cs typeface="Arial" pitchFamily="34" charset="-120"/>
              </a:rPr>
              <a:t>1.  Green-light the tester cohort: 13 personas, a two-week window, findings triaged daily</a:t>
            </a:r>
            <a:endParaRPr lang="en-US" sz="1250" dirty="0"/>
          </a:p>
          <a:p>
            <a:pPr indent="0" marL="0">
              <a:spcAft>
                <a:spcPts val="600"/>
              </a:spcAft>
              <a:buNone/>
            </a:pPr>
            <a:r>
              <a:rPr lang="en-US" sz="1250" dirty="0">
                <a:solidFill>
                  <a:srgbClr val="1A1A2E"/>
                </a:solidFill>
                <a:latin typeface="Arial" pitchFamily="34" charset="0"/>
                <a:ea typeface="Arial" pitchFamily="34" charset="-122"/>
                <a:cs typeface="Arial" pitchFamily="34" charset="-120"/>
              </a:rPr>
              <a:t>2.  Close the three external blockers: payment-hash merge (product owner), reCAPTCHA keys + Entra SSO app + office-IP allowlist (IT)</a:t>
            </a:r>
            <a:endParaRPr lang="en-US" sz="1250" dirty="0"/>
          </a:p>
          <a:p>
            <a:pPr indent="0" marL="0">
              <a:spcAft>
                <a:spcPts val="600"/>
              </a:spcAft>
              <a:buNone/>
            </a:pPr>
            <a:r>
              <a:rPr lang="en-US" sz="1250" dirty="0">
                <a:solidFill>
                  <a:srgbClr val="1A1A2E"/>
                </a:solidFill>
                <a:latin typeface="Arial" pitchFamily="34" charset="0"/>
                <a:ea typeface="Arial" pitchFamily="34" charset="-122"/>
                <a:cs typeface="Arial" pitchFamily="34" charset="-120"/>
              </a:rPr>
              <a:t>3.  Approve direction on the security &amp; certification programme and the AI operating budget - spend plans already drafted</a:t>
            </a:r>
            <a:endParaRPr lang="en-US" sz="1250" dirty="0"/>
          </a:p>
          <a:p>
            <a:pPr indent="0" marL="0">
              <a:spcAft>
                <a:spcPts val="600"/>
              </a:spcAft>
              <a:buNone/>
            </a:pPr>
            <a:r>
              <a:rPr lang="en-US" sz="1250" dirty="0">
                <a:solidFill>
                  <a:srgbClr val="1A1A2E"/>
                </a:solidFill>
                <a:latin typeface="Arial" pitchFamily="34" charset="0"/>
                <a:ea typeface="Arial" pitchFamily="34" charset="-122"/>
                <a:cs typeface="Arial" pitchFamily="34" charset="-120"/>
              </a:rPr>
              <a:t>4.  Confirm the go-live gate: a passed live-backup rehearsal, not a calendar date</a:t>
            </a:r>
            <a:endParaRPr lang="en-US" sz="1250" dirty="0"/>
          </a:p>
        </p:txBody>
      </p:sp>
      <p:sp>
        <p:nvSpPr>
          <p:cNvPr id="16" name="Text 14"/>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17" name="Text 15"/>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HOW WE GOT HERE</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Six weeks from approval to a validated UAT</a:t>
            </a:r>
            <a:endParaRPr lang="en-US" sz="2800" dirty="0"/>
          </a:p>
        </p:txBody>
      </p:sp>
      <p:sp>
        <p:nvSpPr>
          <p:cNvPr id="4" name="Shape 2"/>
          <p:cNvSpPr/>
          <p:nvPr/>
        </p:nvSpPr>
        <p:spPr>
          <a:xfrm>
            <a:off x="548640" y="1463040"/>
            <a:ext cx="11091672" cy="676656"/>
          </a:xfrm>
          <a:prstGeom prst="roundRect">
            <a:avLst>
              <a:gd name="adj" fmla="val 8108"/>
            </a:avLst>
          </a:prstGeom>
          <a:solidFill>
            <a:srgbClr val="EEF7F1"/>
          </a:solidFill>
          <a:ln w="9525">
            <a:solidFill>
              <a:srgbClr val="E2E6EF"/>
            </a:solidFill>
            <a:prstDash val="solid"/>
          </a:ln>
        </p:spPr>
      </p:sp>
      <p:sp>
        <p:nvSpPr>
          <p:cNvPr id="5" name="Shape 3"/>
          <p:cNvSpPr/>
          <p:nvPr/>
        </p:nvSpPr>
        <p:spPr>
          <a:xfrm>
            <a:off x="713232" y="1618488"/>
            <a:ext cx="1371600" cy="365760"/>
          </a:xfrm>
          <a:prstGeom prst="roundRect">
            <a:avLst>
              <a:gd name="adj" fmla="val 12500"/>
            </a:avLst>
          </a:prstGeom>
          <a:solidFill>
            <a:srgbClr val="16A34A"/>
          </a:solidFill>
          <a:ln/>
        </p:spPr>
      </p:sp>
      <p:sp>
        <p:nvSpPr>
          <p:cNvPr id="6" name="Text 4"/>
          <p:cNvSpPr/>
          <p:nvPr/>
        </p:nvSpPr>
        <p:spPr>
          <a:xfrm>
            <a:off x="713232" y="1618488"/>
            <a:ext cx="13716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4 AUG</a:t>
            </a:r>
            <a:endParaRPr lang="en-US" sz="1050" dirty="0"/>
          </a:p>
        </p:txBody>
      </p:sp>
      <p:sp>
        <p:nvSpPr>
          <p:cNvPr id="7" name="Text 5"/>
          <p:cNvSpPr/>
          <p:nvPr/>
        </p:nvSpPr>
        <p:spPr>
          <a:xfrm>
            <a:off x="2286000" y="1508760"/>
            <a:ext cx="2926080" cy="585216"/>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Roadmap signed</a:t>
            </a:r>
            <a:endParaRPr lang="en-US" sz="1250" dirty="0"/>
          </a:p>
        </p:txBody>
      </p:sp>
      <p:sp>
        <p:nvSpPr>
          <p:cNvPr id="8" name="Text 6"/>
          <p:cNvSpPr/>
          <p:nvPr/>
        </p:nvSpPr>
        <p:spPr>
          <a:xfrm>
            <a:off x="5303520" y="1490472"/>
            <a:ext cx="6172200" cy="621792"/>
          </a:xfrm>
          <a:prstGeom prst="rect">
            <a:avLst/>
          </a:prstGeom>
          <a:noFill/>
          <a:ln/>
        </p:spPr>
        <p:txBody>
          <a:bodyPr wrap="square" lIns="0" tIns="0" rIns="0" bIns="0" rtlCol="0" anchor="ctr"/>
          <a:lstStyle/>
          <a:p>
            <a:pPr indent="0" marL="0">
              <a:buNone/>
            </a:pPr>
            <a:r>
              <a:rPr lang="en-US" sz="1050" dirty="0">
                <a:solidFill>
                  <a:srgbClr val="5A6070"/>
                </a:solidFill>
                <a:latin typeface="Arial" pitchFamily="34" charset="0"/>
                <a:ea typeface="Arial" pitchFamily="34" charset="-122"/>
                <a:cs typeface="Arial" pitchFamily="34" charset="-120"/>
              </a:rPr>
              <a:t>Reconciled product roadmap (ADR-028) and decision memo signed: parallel trust + product tracks, "5.2 now" as the single cutover path</a:t>
            </a:r>
            <a:endParaRPr lang="en-US" sz="1050" dirty="0"/>
          </a:p>
        </p:txBody>
      </p:sp>
      <p:sp>
        <p:nvSpPr>
          <p:cNvPr id="9" name="Shape 7"/>
          <p:cNvSpPr/>
          <p:nvPr/>
        </p:nvSpPr>
        <p:spPr>
          <a:xfrm>
            <a:off x="548640" y="2194560"/>
            <a:ext cx="11091672" cy="676656"/>
          </a:xfrm>
          <a:prstGeom prst="roundRect">
            <a:avLst>
              <a:gd name="adj" fmla="val 8108"/>
            </a:avLst>
          </a:prstGeom>
          <a:solidFill>
            <a:srgbClr val="EEF7F1"/>
          </a:solidFill>
          <a:ln w="9525">
            <a:solidFill>
              <a:srgbClr val="E2E6EF"/>
            </a:solidFill>
            <a:prstDash val="solid"/>
          </a:ln>
        </p:spPr>
      </p:sp>
      <p:sp>
        <p:nvSpPr>
          <p:cNvPr id="10" name="Shape 8"/>
          <p:cNvSpPr/>
          <p:nvPr/>
        </p:nvSpPr>
        <p:spPr>
          <a:xfrm>
            <a:off x="713232" y="2350008"/>
            <a:ext cx="1371600" cy="365760"/>
          </a:xfrm>
          <a:prstGeom prst="roundRect">
            <a:avLst>
              <a:gd name="adj" fmla="val 12500"/>
            </a:avLst>
          </a:prstGeom>
          <a:solidFill>
            <a:srgbClr val="16A34A"/>
          </a:solidFill>
          <a:ln/>
        </p:spPr>
      </p:sp>
      <p:sp>
        <p:nvSpPr>
          <p:cNvPr id="11" name="Text 9"/>
          <p:cNvSpPr/>
          <p:nvPr/>
        </p:nvSpPr>
        <p:spPr>
          <a:xfrm>
            <a:off x="713232" y="2350008"/>
            <a:ext cx="13716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19 AUG</a:t>
            </a:r>
            <a:endParaRPr lang="en-US" sz="1050" dirty="0"/>
          </a:p>
        </p:txBody>
      </p:sp>
      <p:sp>
        <p:nvSpPr>
          <p:cNvPr id="12" name="Text 10"/>
          <p:cNvSpPr/>
          <p:nvPr/>
        </p:nvSpPr>
        <p:spPr>
          <a:xfrm>
            <a:off x="2286000" y="2240280"/>
            <a:ext cx="2926080" cy="585216"/>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UAT infrastructure</a:t>
            </a:r>
            <a:endParaRPr lang="en-US" sz="1250" dirty="0"/>
          </a:p>
        </p:txBody>
      </p:sp>
      <p:sp>
        <p:nvSpPr>
          <p:cNvPr id="13" name="Text 11"/>
          <p:cNvSpPr/>
          <p:nvPr/>
        </p:nvSpPr>
        <p:spPr>
          <a:xfrm>
            <a:off x="5303520" y="2221992"/>
            <a:ext cx="6172200" cy="621792"/>
          </a:xfrm>
          <a:prstGeom prst="rect">
            <a:avLst/>
          </a:prstGeom>
          <a:noFill/>
          <a:ln/>
        </p:spPr>
        <p:txBody>
          <a:bodyPr wrap="square" lIns="0" tIns="0" rIns="0" bIns="0" rtlCol="0" anchor="ctr"/>
          <a:lstStyle/>
          <a:p>
            <a:pPr indent="0" marL="0">
              <a:buNone/>
            </a:pPr>
            <a:r>
              <a:rPr lang="en-US" sz="1050" dirty="0">
                <a:solidFill>
                  <a:srgbClr val="5A6070"/>
                </a:solidFill>
                <a:latin typeface="Arial" pitchFamily="34" charset="0"/>
                <a:ea typeface="Arial" pitchFamily="34" charset="-122"/>
                <a:cs typeface="Arial" pitchFamily="34" charset="-120"/>
              </a:rPr>
              <a:t>CTO-approved cloud environment provisioned: Ubuntu 24.04 / PHP 8.3.6 / MySQL 8.4.9 behind a load balancer (ticket HS-20260819-79876)</a:t>
            </a:r>
            <a:endParaRPr lang="en-US" sz="1050" dirty="0"/>
          </a:p>
        </p:txBody>
      </p:sp>
      <p:sp>
        <p:nvSpPr>
          <p:cNvPr id="14" name="Shape 12"/>
          <p:cNvSpPr/>
          <p:nvPr/>
        </p:nvSpPr>
        <p:spPr>
          <a:xfrm>
            <a:off x="548640" y="2926080"/>
            <a:ext cx="11091672" cy="676656"/>
          </a:xfrm>
          <a:prstGeom prst="roundRect">
            <a:avLst>
              <a:gd name="adj" fmla="val 8108"/>
            </a:avLst>
          </a:prstGeom>
          <a:solidFill>
            <a:srgbClr val="EEF7F1"/>
          </a:solidFill>
          <a:ln w="9525">
            <a:solidFill>
              <a:srgbClr val="E2E6EF"/>
            </a:solidFill>
            <a:prstDash val="solid"/>
          </a:ln>
        </p:spPr>
      </p:sp>
      <p:sp>
        <p:nvSpPr>
          <p:cNvPr id="15" name="Shape 13"/>
          <p:cNvSpPr/>
          <p:nvPr/>
        </p:nvSpPr>
        <p:spPr>
          <a:xfrm>
            <a:off x="713232" y="3081528"/>
            <a:ext cx="1371600" cy="365760"/>
          </a:xfrm>
          <a:prstGeom prst="roundRect">
            <a:avLst>
              <a:gd name="adj" fmla="val 12500"/>
            </a:avLst>
          </a:prstGeom>
          <a:solidFill>
            <a:srgbClr val="16A34A"/>
          </a:solidFill>
          <a:ln/>
        </p:spPr>
      </p:sp>
      <p:sp>
        <p:nvSpPr>
          <p:cNvPr id="16" name="Text 14"/>
          <p:cNvSpPr/>
          <p:nvPr/>
        </p:nvSpPr>
        <p:spPr>
          <a:xfrm>
            <a:off x="713232" y="3081528"/>
            <a:ext cx="13716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3 SEP</a:t>
            </a:r>
            <a:endParaRPr lang="en-US" sz="1050" dirty="0"/>
          </a:p>
        </p:txBody>
      </p:sp>
      <p:sp>
        <p:nvSpPr>
          <p:cNvPr id="17" name="Text 15"/>
          <p:cNvSpPr/>
          <p:nvPr/>
        </p:nvSpPr>
        <p:spPr>
          <a:xfrm>
            <a:off x="2286000" y="2971800"/>
            <a:ext cx="2926080" cy="585216"/>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Stage A install</a:t>
            </a:r>
            <a:endParaRPr lang="en-US" sz="1250" dirty="0"/>
          </a:p>
        </p:txBody>
      </p:sp>
      <p:sp>
        <p:nvSpPr>
          <p:cNvPr id="18" name="Text 16"/>
          <p:cNvSpPr/>
          <p:nvPr/>
        </p:nvSpPr>
        <p:spPr>
          <a:xfrm>
            <a:off x="5303520" y="2953512"/>
            <a:ext cx="6172200" cy="621792"/>
          </a:xfrm>
          <a:prstGeom prst="rect">
            <a:avLst/>
          </a:prstGeom>
          <a:noFill/>
          <a:ln/>
        </p:spPr>
        <p:txBody>
          <a:bodyPr wrap="square" lIns="0" tIns="0" rIns="0" bIns="0" rtlCol="0" anchor="ctr"/>
          <a:lstStyle/>
          <a:p>
            <a:pPr indent="0" marL="0">
              <a:buNone/>
            </a:pPr>
            <a:r>
              <a:rPr lang="en-US" sz="1050" dirty="0">
                <a:solidFill>
                  <a:srgbClr val="5A6070"/>
                </a:solidFill>
                <a:latin typeface="Arial" pitchFamily="34" charset="0"/>
                <a:ea typeface="Arial" pitchFamily="34" charset="-122"/>
                <a:cs typeface="Arial" pitchFamily="34" charset="-120"/>
              </a:rPr>
              <a:t>Fresh command-line install of the Sentientia 5.2 package: PASS-WITH-NOTES, 480 plugins, environment check 64 OK / 0 errors; 10 test personas + 14 courses seeded</a:t>
            </a:r>
            <a:endParaRPr lang="en-US" sz="1050" dirty="0"/>
          </a:p>
        </p:txBody>
      </p:sp>
      <p:sp>
        <p:nvSpPr>
          <p:cNvPr id="19" name="Shape 17"/>
          <p:cNvSpPr/>
          <p:nvPr/>
        </p:nvSpPr>
        <p:spPr>
          <a:xfrm>
            <a:off x="548640" y="3657600"/>
            <a:ext cx="11091672" cy="676656"/>
          </a:xfrm>
          <a:prstGeom prst="roundRect">
            <a:avLst>
              <a:gd name="adj" fmla="val 8108"/>
            </a:avLst>
          </a:prstGeom>
          <a:solidFill>
            <a:srgbClr val="EEF7F1"/>
          </a:solidFill>
          <a:ln w="9525">
            <a:solidFill>
              <a:srgbClr val="E2E6EF"/>
            </a:solidFill>
            <a:prstDash val="solid"/>
          </a:ln>
        </p:spPr>
      </p:sp>
      <p:sp>
        <p:nvSpPr>
          <p:cNvPr id="20" name="Shape 18"/>
          <p:cNvSpPr/>
          <p:nvPr/>
        </p:nvSpPr>
        <p:spPr>
          <a:xfrm>
            <a:off x="713232" y="3813048"/>
            <a:ext cx="1371600" cy="365760"/>
          </a:xfrm>
          <a:prstGeom prst="roundRect">
            <a:avLst>
              <a:gd name="adj" fmla="val 12500"/>
            </a:avLst>
          </a:prstGeom>
          <a:solidFill>
            <a:srgbClr val="16A34A"/>
          </a:solidFill>
          <a:ln/>
        </p:spPr>
      </p:sp>
      <p:sp>
        <p:nvSpPr>
          <p:cNvPr id="21" name="Text 19"/>
          <p:cNvSpPr/>
          <p:nvPr/>
        </p:nvSpPr>
        <p:spPr>
          <a:xfrm>
            <a:off x="713232" y="3813048"/>
            <a:ext cx="13716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4 - 17 SEP</a:t>
            </a:r>
            <a:endParaRPr lang="en-US" sz="1050" dirty="0"/>
          </a:p>
        </p:txBody>
      </p:sp>
      <p:sp>
        <p:nvSpPr>
          <p:cNvPr id="22" name="Text 20"/>
          <p:cNvSpPr/>
          <p:nvPr/>
        </p:nvSpPr>
        <p:spPr>
          <a:xfrm>
            <a:off x="2286000" y="3703320"/>
            <a:ext cx="2926080" cy="585216"/>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Hardening on real screens</a:t>
            </a:r>
            <a:endParaRPr lang="en-US" sz="1250" dirty="0"/>
          </a:p>
        </p:txBody>
      </p:sp>
      <p:sp>
        <p:nvSpPr>
          <p:cNvPr id="23" name="Text 21"/>
          <p:cNvSpPr/>
          <p:nvPr/>
        </p:nvSpPr>
        <p:spPr>
          <a:xfrm>
            <a:off x="5303520" y="3685032"/>
            <a:ext cx="6172200" cy="621792"/>
          </a:xfrm>
          <a:prstGeom prst="rect">
            <a:avLst/>
          </a:prstGeom>
          <a:noFill/>
          <a:ln/>
        </p:spPr>
        <p:txBody>
          <a:bodyPr wrap="square" lIns="0" tIns="0" rIns="0" bIns="0" rtlCol="0" anchor="ctr"/>
          <a:lstStyle/>
          <a:p>
            <a:pPr indent="0" marL="0">
              <a:buNone/>
            </a:pPr>
            <a:r>
              <a:rPr lang="en-US" sz="1050" dirty="0">
                <a:solidFill>
                  <a:srgbClr val="5A6070"/>
                </a:solidFill>
                <a:latin typeface="Arial" pitchFamily="34" charset="0"/>
                <a:ea typeface="Arial" pitchFamily="34" charset="-122"/>
                <a:cs typeface="Arial" pitchFamily="34" charset="-120"/>
              </a:rPr>
              <a:t>Security findings fixed, tenant scoping tightened, Hindi parity completed, author role wired, footer and licence wording set - 16 on-screen checks passed</a:t>
            </a:r>
            <a:endParaRPr lang="en-US" sz="1050" dirty="0"/>
          </a:p>
        </p:txBody>
      </p:sp>
      <p:sp>
        <p:nvSpPr>
          <p:cNvPr id="24" name="Shape 22"/>
          <p:cNvSpPr/>
          <p:nvPr/>
        </p:nvSpPr>
        <p:spPr>
          <a:xfrm>
            <a:off x="548640" y="4389120"/>
            <a:ext cx="11091672" cy="676656"/>
          </a:xfrm>
          <a:prstGeom prst="roundRect">
            <a:avLst>
              <a:gd name="adj" fmla="val 8108"/>
            </a:avLst>
          </a:prstGeom>
          <a:solidFill>
            <a:srgbClr val="FFFFFF"/>
          </a:solidFill>
          <a:ln w="9525">
            <a:solidFill>
              <a:srgbClr val="E2E6EF"/>
            </a:solidFill>
            <a:prstDash val="solid"/>
          </a:ln>
        </p:spPr>
      </p:sp>
      <p:sp>
        <p:nvSpPr>
          <p:cNvPr id="25" name="Shape 23"/>
          <p:cNvSpPr/>
          <p:nvPr/>
        </p:nvSpPr>
        <p:spPr>
          <a:xfrm>
            <a:off x="713232" y="4544568"/>
            <a:ext cx="1371600" cy="365760"/>
          </a:xfrm>
          <a:prstGeom prst="roundRect">
            <a:avLst>
              <a:gd name="adj" fmla="val 12500"/>
            </a:avLst>
          </a:prstGeom>
          <a:solidFill>
            <a:srgbClr val="ED692B"/>
          </a:solidFill>
          <a:ln/>
        </p:spPr>
      </p:sp>
      <p:sp>
        <p:nvSpPr>
          <p:cNvPr id="26" name="Text 24"/>
          <p:cNvSpPr/>
          <p:nvPr/>
        </p:nvSpPr>
        <p:spPr>
          <a:xfrm>
            <a:off x="713232" y="4544568"/>
            <a:ext cx="13716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NOW</a:t>
            </a:r>
            <a:endParaRPr lang="en-US" sz="1050" dirty="0"/>
          </a:p>
        </p:txBody>
      </p:sp>
      <p:sp>
        <p:nvSpPr>
          <p:cNvPr id="27" name="Text 25"/>
          <p:cNvSpPr/>
          <p:nvPr/>
        </p:nvSpPr>
        <p:spPr>
          <a:xfrm>
            <a:off x="2286000" y="4434840"/>
            <a:ext cx="2926080" cy="585216"/>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Tester cohort</a:t>
            </a:r>
            <a:endParaRPr lang="en-US" sz="1250" dirty="0"/>
          </a:p>
        </p:txBody>
      </p:sp>
      <p:sp>
        <p:nvSpPr>
          <p:cNvPr id="28" name="Text 26"/>
          <p:cNvSpPr/>
          <p:nvPr/>
        </p:nvSpPr>
        <p:spPr>
          <a:xfrm>
            <a:off x="5303520" y="4416552"/>
            <a:ext cx="6172200" cy="621792"/>
          </a:xfrm>
          <a:prstGeom prst="rect">
            <a:avLst/>
          </a:prstGeom>
          <a:noFill/>
          <a:ln/>
        </p:spPr>
        <p:txBody>
          <a:bodyPr wrap="square" lIns="0" tIns="0" rIns="0" bIns="0" rtlCol="0" anchor="ctr"/>
          <a:lstStyle/>
          <a:p>
            <a:pPr indent="0" marL="0">
              <a:buNone/>
            </a:pPr>
            <a:r>
              <a:rPr lang="en-US" sz="1050" dirty="0">
                <a:solidFill>
                  <a:srgbClr val="5A6070"/>
                </a:solidFill>
                <a:latin typeface="Arial" pitchFamily="34" charset="0"/>
                <a:ea typeface="Arial" pitchFamily="34" charset="-122"/>
                <a:cs typeface="Arial" pitchFamily="34" charset="-120"/>
              </a:rPr>
              <a:t>13 personas, guided scripts, shared tracker - the UAT Phase 1 that turns our checks into your people's verdict</a:t>
            </a:r>
            <a:endParaRPr lang="en-US" sz="1050" dirty="0"/>
          </a:p>
        </p:txBody>
      </p:sp>
      <p:sp>
        <p:nvSpPr>
          <p:cNvPr id="29" name="Shape 27"/>
          <p:cNvSpPr/>
          <p:nvPr/>
        </p:nvSpPr>
        <p:spPr>
          <a:xfrm>
            <a:off x="548640" y="5120640"/>
            <a:ext cx="11091672" cy="676656"/>
          </a:xfrm>
          <a:prstGeom prst="roundRect">
            <a:avLst>
              <a:gd name="adj" fmla="val 8108"/>
            </a:avLst>
          </a:prstGeom>
          <a:solidFill>
            <a:srgbClr val="FFFFFF"/>
          </a:solidFill>
          <a:ln w="9525">
            <a:solidFill>
              <a:srgbClr val="E2E6EF"/>
            </a:solidFill>
            <a:prstDash val="solid"/>
          </a:ln>
        </p:spPr>
      </p:sp>
      <p:sp>
        <p:nvSpPr>
          <p:cNvPr id="30" name="Shape 28"/>
          <p:cNvSpPr/>
          <p:nvPr/>
        </p:nvSpPr>
        <p:spPr>
          <a:xfrm>
            <a:off x="713232" y="5276088"/>
            <a:ext cx="1371600" cy="365760"/>
          </a:xfrm>
          <a:prstGeom prst="roundRect">
            <a:avLst>
              <a:gd name="adj" fmla="val 12500"/>
            </a:avLst>
          </a:prstGeom>
          <a:solidFill>
            <a:srgbClr val="0A4D80"/>
          </a:solidFill>
          <a:ln/>
        </p:spPr>
      </p:sp>
      <p:sp>
        <p:nvSpPr>
          <p:cNvPr id="31" name="Text 29"/>
          <p:cNvSpPr/>
          <p:nvPr/>
        </p:nvSpPr>
        <p:spPr>
          <a:xfrm>
            <a:off x="713232" y="5276088"/>
            <a:ext cx="13716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GATED</a:t>
            </a:r>
            <a:endParaRPr lang="en-US" sz="1050" dirty="0"/>
          </a:p>
        </p:txBody>
      </p:sp>
      <p:sp>
        <p:nvSpPr>
          <p:cNvPr id="32" name="Text 30"/>
          <p:cNvSpPr/>
          <p:nvPr/>
        </p:nvSpPr>
        <p:spPr>
          <a:xfrm>
            <a:off x="2286000" y="5166360"/>
            <a:ext cx="2926080" cy="585216"/>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Stage B rehearsal → cutover</a:t>
            </a:r>
            <a:endParaRPr lang="en-US" sz="1250" dirty="0"/>
          </a:p>
        </p:txBody>
      </p:sp>
      <p:sp>
        <p:nvSpPr>
          <p:cNvPr id="33" name="Text 31"/>
          <p:cNvSpPr/>
          <p:nvPr/>
        </p:nvSpPr>
        <p:spPr>
          <a:xfrm>
            <a:off x="5303520" y="5148072"/>
            <a:ext cx="6172200" cy="621792"/>
          </a:xfrm>
          <a:prstGeom prst="rect">
            <a:avLst/>
          </a:prstGeom>
          <a:noFill/>
          <a:ln/>
        </p:spPr>
        <p:txBody>
          <a:bodyPr wrap="square" lIns="0" tIns="0" rIns="0" bIns="0" rtlCol="0" anchor="ctr"/>
          <a:lstStyle/>
          <a:p>
            <a:pPr indent="0" marL="0">
              <a:buNone/>
            </a:pPr>
            <a:r>
              <a:rPr lang="en-US" sz="1050" dirty="0">
                <a:solidFill>
                  <a:srgbClr val="5A6070"/>
                </a:solidFill>
                <a:latin typeface="Arial" pitchFamily="34" charset="0"/>
                <a:ea typeface="Arial" pitchFamily="34" charset="-122"/>
                <a:cs typeface="Arial" pitchFamily="34" charset="-120"/>
              </a:rPr>
              <a:t>Live-backup migration rehearsal on UAT (100 % parity gate), then a same-domain cutover with history intact - only on the product owner's go</a:t>
            </a:r>
            <a:endParaRPr lang="en-US" sz="1050" dirty="0"/>
          </a:p>
        </p:txBody>
      </p:sp>
      <p:sp>
        <p:nvSpPr>
          <p:cNvPr id="34" name="Text 32"/>
          <p:cNvSpPr/>
          <p:nvPr/>
        </p:nvSpPr>
        <p:spPr>
          <a:xfrm>
            <a:off x="548640" y="5989320"/>
            <a:ext cx="11064240" cy="411480"/>
          </a:xfrm>
          <a:prstGeom prst="rect">
            <a:avLst/>
          </a:prstGeom>
          <a:noFill/>
          <a:ln/>
        </p:spPr>
        <p:txBody>
          <a:bodyPr wrap="square" lIns="0" tIns="0" rIns="0" bIns="0" rtlCol="0" anchor="ctr"/>
          <a:lstStyle/>
          <a:p>
            <a:pPr indent="0" marL="0">
              <a:buNone/>
            </a:pPr>
            <a:r>
              <a:rPr lang="en-US" sz="1200" i="1" dirty="0">
                <a:solidFill>
                  <a:srgbClr val="0066A7"/>
                </a:solidFill>
                <a:latin typeface="Arial" pitchFamily="34" charset="0"/>
                <a:ea typeface="Arial" pitchFamily="34" charset="-122"/>
                <a:cs typeface="Arial" pitchFamily="34" charset="-120"/>
              </a:rPr>
              <a:t>The live airpay.academy has stayed untouched throughout - by design. Nothing changes for today's learners until the rehearsal passes.</a:t>
            </a:r>
            <a:endParaRPr lang="en-US" sz="1200" dirty="0"/>
          </a:p>
        </p:txBody>
      </p:sp>
      <p:sp>
        <p:nvSpPr>
          <p:cNvPr id="35" name="Text 33"/>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36" name="Text 34"/>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ON THE UAT ENVIRONMENT TODAY</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Airpay-branded and bilingual, built for financial services</a:t>
            </a:r>
            <a:endParaRPr lang="en-US" sz="2800" dirty="0"/>
          </a:p>
        </p:txBody>
      </p:sp>
      <p:pic>
        <p:nvPicPr>
          <p:cNvPr id="4" name="Image 0" descr="C:\Users\nitin.rajput\AppData\Local\Temp\claude\D--Claude-Local-airpay-ld-os\38f0e65b-f9f9-4537-9f0f-92db1b39265c\scratchpad\deck/png/uat-landing-crop.png">    </p:cNvPr>
          <p:cNvPicPr>
            <a:picLocks noChangeAspect="1"/>
          </p:cNvPicPr>
          <p:nvPr/>
        </p:nvPicPr>
        <p:blipFill>
          <a:blip r:embed="rId1"/>
          <a:stretch>
            <a:fillRect/>
          </a:stretch>
        </p:blipFill>
        <p:spPr>
          <a:xfrm>
            <a:off x="548640" y="1417320"/>
            <a:ext cx="5440680" cy="3438144"/>
          </a:xfrm>
          <a:prstGeom prst="rect">
            <a:avLst/>
          </a:prstGeom>
        </p:spPr>
      </p:pic>
      <p:pic>
        <p:nvPicPr>
          <p:cNvPr id="5" name="Image 1" descr="C:\Users\nitin.rajput\AppData\Local\Temp\claude\D--Claude-Local-airpay-ld-os\38f0e65b-f9f9-4537-9f0f-92db1b39265c\scratchpad\deck/png/uat-login-hi-hero.png">    </p:cNvPr>
          <p:cNvPicPr>
            <a:picLocks noChangeAspect="1"/>
          </p:cNvPicPr>
          <p:nvPr/>
        </p:nvPicPr>
        <p:blipFill>
          <a:blip r:embed="rId2"/>
          <a:stretch>
            <a:fillRect/>
          </a:stretch>
        </p:blipFill>
        <p:spPr>
          <a:xfrm>
            <a:off x="6172200" y="1417320"/>
            <a:ext cx="2459736" cy="3438144"/>
          </a:xfrm>
          <a:prstGeom prst="rect">
            <a:avLst/>
          </a:prstGeom>
        </p:spPr>
      </p:pic>
      <p:pic>
        <p:nvPicPr>
          <p:cNvPr id="6" name="Image 2" descr="C:\Users\nitin.rajput\AppData\Local\Temp\claude\D--Claude-Local-airpay-ld-os\38f0e65b-f9f9-4537-9f0f-92db1b39265c\scratchpad\deck/png/uat-courses-crop.png">    </p:cNvPr>
          <p:cNvPicPr>
            <a:picLocks noChangeAspect="1"/>
          </p:cNvPicPr>
          <p:nvPr/>
        </p:nvPicPr>
        <p:blipFill>
          <a:blip r:embed="rId3"/>
          <a:stretch>
            <a:fillRect/>
          </a:stretch>
        </p:blipFill>
        <p:spPr>
          <a:xfrm>
            <a:off x="8814816" y="1417320"/>
            <a:ext cx="2825496" cy="1645920"/>
          </a:xfrm>
          <a:prstGeom prst="rect">
            <a:avLst/>
          </a:prstGeom>
        </p:spPr>
      </p:pic>
      <p:sp>
        <p:nvSpPr>
          <p:cNvPr id="7" name="Text 2"/>
          <p:cNvSpPr/>
          <p:nvPr/>
        </p:nvSpPr>
        <p:spPr>
          <a:xfrm>
            <a:off x="548640" y="4919472"/>
            <a:ext cx="5440680" cy="274320"/>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Public landing page - the storefront for the Public tenant</a:t>
            </a:r>
            <a:endParaRPr lang="en-US" sz="1000" dirty="0"/>
          </a:p>
        </p:txBody>
      </p:sp>
      <p:sp>
        <p:nvSpPr>
          <p:cNvPr id="8" name="Text 3"/>
          <p:cNvSpPr/>
          <p:nvPr/>
        </p:nvSpPr>
        <p:spPr>
          <a:xfrm>
            <a:off x="6172200" y="4919472"/>
            <a:ext cx="2560320" cy="274320"/>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Login in Hindi - one switch, every screen</a:t>
            </a:r>
            <a:endParaRPr lang="en-US" sz="1000" dirty="0"/>
          </a:p>
        </p:txBody>
      </p:sp>
      <p:sp>
        <p:nvSpPr>
          <p:cNvPr id="9" name="Text 4"/>
          <p:cNvSpPr/>
          <p:nvPr/>
        </p:nvSpPr>
        <p:spPr>
          <a:xfrm>
            <a:off x="8814816" y="3108960"/>
            <a:ext cx="2825496" cy="274320"/>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Public catalogue with free and paid courses</a:t>
            </a:r>
            <a:endParaRPr lang="en-US" sz="1000" dirty="0"/>
          </a:p>
        </p:txBody>
      </p:sp>
      <p:sp>
        <p:nvSpPr>
          <p:cNvPr id="10" name="Shape 5"/>
          <p:cNvSpPr/>
          <p:nvPr/>
        </p:nvSpPr>
        <p:spPr>
          <a:xfrm>
            <a:off x="8814816" y="3474720"/>
            <a:ext cx="2825496" cy="1380744"/>
          </a:xfrm>
          <a:prstGeom prst="roundRect">
            <a:avLst>
              <a:gd name="adj" fmla="val 4636"/>
            </a:avLst>
          </a:prstGeom>
          <a:solidFill>
            <a:srgbClr val="E8F2F9"/>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1" name="Text 6"/>
          <p:cNvSpPr/>
          <p:nvPr/>
        </p:nvSpPr>
        <p:spPr>
          <a:xfrm>
            <a:off x="8942832" y="3547872"/>
            <a:ext cx="2606040" cy="1261872"/>
          </a:xfrm>
          <a:prstGeom prst="rect">
            <a:avLst/>
          </a:prstGeom>
          <a:noFill/>
          <a:ln/>
        </p:spPr>
        <p:txBody>
          <a:bodyPr wrap="square" lIns="0" tIns="0" rIns="0" bIns="0" rtlCol="0" anchor="t"/>
          <a:lstStyle/>
          <a:p>
            <a:pPr indent="0" marL="0">
              <a:buNone/>
            </a:pPr>
            <a:r>
              <a:rPr lang="en-US" sz="1000" b="1" dirty="0">
                <a:solidFill>
                  <a:srgbClr val="1A1A2E"/>
                </a:solidFill>
                <a:latin typeface="Arial" pitchFamily="34" charset="0"/>
                <a:ea typeface="Arial" pitchFamily="34" charset="-122"/>
                <a:cs typeface="Arial" pitchFamily="34" charset="-120"/>
              </a:rPr>
              <a:t>3 tenants  ·  13 personas  ·  14 courses
</a:t>
            </a:r>
            <a:pPr indent="0" marL="0">
              <a:buNone/>
            </a:pPr>
            <a:r>
              <a:rPr lang="en-US" sz="1000" dirty="0">
                <a:solidFill>
                  <a:srgbClr val="5A6070"/>
                </a:solidFill>
                <a:latin typeface="Arial" pitchFamily="34" charset="0"/>
                <a:ea typeface="Arial" pitchFamily="34" charset="-122"/>
                <a:cs typeface="Arial" pitchFamily="34" charset="-120"/>
              </a:rPr>
              <a:t>seeded on UAT - learning paths, classrooms, an exam, a live poll and four compliance-tracked courses</a:t>
            </a:r>
            <a:endParaRPr lang="en-US" sz="1000" dirty="0"/>
          </a:p>
        </p:txBody>
      </p:sp>
      <p:sp>
        <p:nvSpPr>
          <p:cNvPr id="12" name="Shape 7"/>
          <p:cNvSpPr/>
          <p:nvPr/>
        </p:nvSpPr>
        <p:spPr>
          <a:xfrm>
            <a:off x="548640" y="5349240"/>
            <a:ext cx="11091672" cy="868680"/>
          </a:xfrm>
          <a:prstGeom prst="roundRect">
            <a:avLst>
              <a:gd name="adj" fmla="val 7368"/>
            </a:avLst>
          </a:prstGeom>
          <a:solidFill>
            <a:srgbClr val="E8F2F9"/>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3" name="Text 8"/>
          <p:cNvSpPr/>
          <p:nvPr/>
        </p:nvSpPr>
        <p:spPr>
          <a:xfrm>
            <a:off x="777240" y="5440680"/>
            <a:ext cx="10607040" cy="685800"/>
          </a:xfrm>
          <a:prstGeom prst="rect">
            <a:avLst/>
          </a:prstGeom>
          <a:noFill/>
          <a:ln/>
        </p:spPr>
        <p:txBody>
          <a:bodyPr wrap="square" lIns="0" tIns="0" rIns="0" bIns="0" rtlCol="0" anchor="ctr"/>
          <a:lstStyle/>
          <a:p>
            <a:pPr indent="0" marL="0">
              <a:buNone/>
            </a:pPr>
            <a:r>
              <a:rPr lang="en-US" sz="1150" b="1" dirty="0">
                <a:solidFill>
                  <a:srgbClr val="1A1A2E"/>
                </a:solidFill>
                <a:latin typeface="Arial" pitchFamily="34" charset="0"/>
                <a:ea typeface="Arial" pitchFamily="34" charset="-122"/>
                <a:cs typeface="Arial" pitchFamily="34" charset="-120"/>
              </a:rPr>
              <a:t>Live in the room:  </a:t>
            </a:r>
            <a:pPr indent="0" marL="0">
              <a:buNone/>
            </a:pPr>
            <a:r>
              <a:rPr lang="en-US" sz="1150" dirty="0">
                <a:solidFill>
                  <a:srgbClr val="5A6070"/>
                </a:solidFill>
                <a:latin typeface="Arial" pitchFamily="34" charset="0"/>
                <a:ea typeface="Arial" pitchFamily="34" charset="-122"/>
                <a:cs typeface="Arial" pitchFamily="34" charset="-120"/>
              </a:rPr>
              <a:t>the 20-minute demo path walks a learner, a manager, a trainer's live poll, the L&amp;D admin and the second tenant - all on this environment, all on test data. Screens shown here are captured from UAT on 17 September.</a:t>
            </a:r>
            <a:endParaRPr lang="en-US" sz="1150" dirty="0"/>
          </a:p>
        </p:txBody>
      </p:sp>
      <p:sp>
        <p:nvSpPr>
          <p:cNvPr id="14" name="Text 9"/>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15" name="Text 10"/>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WHAT THE PEOPLE FUNCTION GETS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Employees get consumer-grade learning; managers get control</a:t>
            </a:r>
            <a:endParaRPr lang="en-US" sz="2800" dirty="0"/>
          </a:p>
        </p:txBody>
      </p:sp>
      <p:sp>
        <p:nvSpPr>
          <p:cNvPr id="4" name="Shape 2"/>
          <p:cNvSpPr/>
          <p:nvPr/>
        </p:nvSpPr>
        <p:spPr>
          <a:xfrm>
            <a:off x="548640" y="1463040"/>
            <a:ext cx="3520440" cy="2057400"/>
          </a:xfrm>
          <a:prstGeom prst="roundRect">
            <a:avLst>
              <a:gd name="adj" fmla="val 3111"/>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5" name="Shape 3"/>
          <p:cNvSpPr/>
          <p:nvPr/>
        </p:nvSpPr>
        <p:spPr>
          <a:xfrm>
            <a:off x="694944" y="1609344"/>
            <a:ext cx="402336" cy="402336"/>
          </a:xfrm>
          <a:prstGeom prst="ellipse">
            <a:avLst/>
          </a:prstGeom>
          <a:solidFill>
            <a:srgbClr val="0066A7"/>
          </a:solidFill>
          <a:ln/>
        </p:spPr>
      </p:sp>
      <p:pic>
        <p:nvPicPr>
          <p:cNvPr id="6" name="Image 0" descr="preencoded.png">    </p:cNvPr>
          <p:cNvPicPr>
            <a:picLocks noChangeAspect="1"/>
          </p:cNvPicPr>
          <p:nvPr/>
        </p:nvPicPr>
        <p:blipFill>
          <a:blip r:embed="rId1"/>
          <a:stretch>
            <a:fillRect/>
          </a:stretch>
        </p:blipFill>
        <p:spPr>
          <a:xfrm>
            <a:off x="799551" y="1713951"/>
            <a:ext cx="193121" cy="193121"/>
          </a:xfrm>
          <a:prstGeom prst="rect">
            <a:avLst/>
          </a:prstGeom>
        </p:spPr>
      </p:pic>
      <p:sp>
        <p:nvSpPr>
          <p:cNvPr id="7" name="Text 4"/>
          <p:cNvSpPr/>
          <p:nvPr/>
        </p:nvSpPr>
        <p:spPr>
          <a:xfrm>
            <a:off x="1188720" y="1591056"/>
            <a:ext cx="2752344" cy="457200"/>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Learners</a:t>
            </a:r>
            <a:endParaRPr lang="en-US" sz="1250" dirty="0"/>
          </a:p>
        </p:txBody>
      </p:sp>
      <p:sp>
        <p:nvSpPr>
          <p:cNvPr id="8" name="Text 5"/>
          <p:cNvSpPr/>
          <p:nvPr/>
        </p:nvSpPr>
        <p:spPr>
          <a:xfrm>
            <a:off x="713232" y="2084832"/>
            <a:ext cx="3191256" cy="1307592"/>
          </a:xfrm>
          <a:prstGeom prst="rect">
            <a:avLst/>
          </a:prstGeom>
          <a:noFill/>
          <a:ln/>
        </p:spPr>
        <p:txBody>
          <a:bodyPr wrap="square" lIns="0" tIns="0" rIns="0" bIns="0" rtlCol="0" anchor="t"/>
          <a:lstStyle/>
          <a:p>
            <a:pPr indent="0" marL="0">
              <a:buNone/>
            </a:pPr>
            <a:r>
              <a:rPr lang="en-US" sz="1150" dirty="0">
                <a:solidFill>
                  <a:srgbClr val="5A6070"/>
                </a:solidFill>
                <a:latin typeface="Arial" pitchFamily="34" charset="0"/>
                <a:ea typeface="Arial" pitchFamily="34" charset="-122"/>
                <a:cs typeface="Arial" pitchFamily="34" charset="-120"/>
              </a:rPr>
              <a:t>Role-aware dashboard with continue-learning, deadlines, achievements and a 7-day streak; My Courses, catalogue, certificates wall, skills self-assessment with gap radar; SCORM, quizzes and assignments in one branded player.</a:t>
            </a:r>
            <a:endParaRPr lang="en-US" sz="1150" dirty="0"/>
          </a:p>
        </p:txBody>
      </p:sp>
      <p:sp>
        <p:nvSpPr>
          <p:cNvPr id="9" name="Shape 6"/>
          <p:cNvSpPr/>
          <p:nvPr/>
        </p:nvSpPr>
        <p:spPr>
          <a:xfrm>
            <a:off x="4297680" y="1463040"/>
            <a:ext cx="3520440" cy="2057400"/>
          </a:xfrm>
          <a:prstGeom prst="roundRect">
            <a:avLst>
              <a:gd name="adj" fmla="val 3111"/>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0" name="Shape 7"/>
          <p:cNvSpPr/>
          <p:nvPr/>
        </p:nvSpPr>
        <p:spPr>
          <a:xfrm>
            <a:off x="4443984" y="1609344"/>
            <a:ext cx="402336" cy="402336"/>
          </a:xfrm>
          <a:prstGeom prst="ellipse">
            <a:avLst/>
          </a:prstGeom>
          <a:solidFill>
            <a:srgbClr val="0066A7"/>
          </a:solidFill>
          <a:ln/>
        </p:spPr>
      </p:sp>
      <p:pic>
        <p:nvPicPr>
          <p:cNvPr id="11" name="Image 1" descr="preencoded.png">    </p:cNvPr>
          <p:cNvPicPr>
            <a:picLocks noChangeAspect="1"/>
          </p:cNvPicPr>
          <p:nvPr/>
        </p:nvPicPr>
        <p:blipFill>
          <a:blip r:embed="rId2"/>
          <a:stretch>
            <a:fillRect/>
          </a:stretch>
        </p:blipFill>
        <p:spPr>
          <a:xfrm>
            <a:off x="4548591" y="1713951"/>
            <a:ext cx="193121" cy="193121"/>
          </a:xfrm>
          <a:prstGeom prst="rect">
            <a:avLst/>
          </a:prstGeom>
        </p:spPr>
      </p:pic>
      <p:sp>
        <p:nvSpPr>
          <p:cNvPr id="12" name="Text 8"/>
          <p:cNvSpPr/>
          <p:nvPr/>
        </p:nvSpPr>
        <p:spPr>
          <a:xfrm>
            <a:off x="4937760" y="1591056"/>
            <a:ext cx="2752344" cy="457200"/>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Inclusion built in</a:t>
            </a:r>
            <a:endParaRPr lang="en-US" sz="1250" dirty="0"/>
          </a:p>
        </p:txBody>
      </p:sp>
      <p:sp>
        <p:nvSpPr>
          <p:cNvPr id="13" name="Text 9"/>
          <p:cNvSpPr/>
          <p:nvPr/>
        </p:nvSpPr>
        <p:spPr>
          <a:xfrm>
            <a:off x="4462272" y="2084832"/>
            <a:ext cx="3191256" cy="1307592"/>
          </a:xfrm>
          <a:prstGeom prst="rect">
            <a:avLst/>
          </a:prstGeom>
          <a:noFill/>
          <a:ln/>
        </p:spPr>
        <p:txBody>
          <a:bodyPr wrap="square" lIns="0" tIns="0" rIns="0" bIns="0" rtlCol="0" anchor="t"/>
          <a:lstStyle/>
          <a:p>
            <a:pPr indent="0" marL="0">
              <a:buNone/>
            </a:pPr>
            <a:r>
              <a:rPr lang="en-US" sz="1150" dirty="0">
                <a:solidFill>
                  <a:srgbClr val="5A6070"/>
                </a:solidFill>
                <a:latin typeface="Arial" pitchFamily="34" charset="0"/>
                <a:ea typeface="Arial" pitchFamily="34" charset="-122"/>
                <a:cs typeface="Arial" pitchFamily="34" charset="-120"/>
              </a:rPr>
              <a:t>Full Hindi experience - 332 theme strings and every plugin surface on the demo path verified on screen; Marathi, Kannada and Swahili packs started. Accessibility: WCAG-AA contrast, reduced-motion, screen-reader structure.</a:t>
            </a:r>
            <a:endParaRPr lang="en-US" sz="1150" dirty="0"/>
          </a:p>
        </p:txBody>
      </p:sp>
      <p:sp>
        <p:nvSpPr>
          <p:cNvPr id="14" name="Shape 10"/>
          <p:cNvSpPr/>
          <p:nvPr/>
        </p:nvSpPr>
        <p:spPr>
          <a:xfrm>
            <a:off x="8046720" y="1463040"/>
            <a:ext cx="3520440" cy="2057400"/>
          </a:xfrm>
          <a:prstGeom prst="roundRect">
            <a:avLst>
              <a:gd name="adj" fmla="val 3111"/>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5" name="Shape 11"/>
          <p:cNvSpPr/>
          <p:nvPr/>
        </p:nvSpPr>
        <p:spPr>
          <a:xfrm>
            <a:off x="8193024" y="1609344"/>
            <a:ext cx="402336" cy="402336"/>
          </a:xfrm>
          <a:prstGeom prst="ellipse">
            <a:avLst/>
          </a:prstGeom>
          <a:solidFill>
            <a:srgbClr val="0066A7"/>
          </a:solidFill>
          <a:ln/>
        </p:spPr>
      </p:sp>
      <p:pic>
        <p:nvPicPr>
          <p:cNvPr id="16" name="Image 2" descr="preencoded.png">    </p:cNvPr>
          <p:cNvPicPr>
            <a:picLocks noChangeAspect="1"/>
          </p:cNvPicPr>
          <p:nvPr/>
        </p:nvPicPr>
        <p:blipFill>
          <a:blip r:embed="rId3"/>
          <a:stretch>
            <a:fillRect/>
          </a:stretch>
        </p:blipFill>
        <p:spPr>
          <a:xfrm>
            <a:off x="8297631" y="1713951"/>
            <a:ext cx="193121" cy="193121"/>
          </a:xfrm>
          <a:prstGeom prst="rect">
            <a:avLst/>
          </a:prstGeom>
        </p:spPr>
      </p:pic>
      <p:sp>
        <p:nvSpPr>
          <p:cNvPr id="17" name="Text 12"/>
          <p:cNvSpPr/>
          <p:nvPr/>
        </p:nvSpPr>
        <p:spPr>
          <a:xfrm>
            <a:off x="8686800" y="1591056"/>
            <a:ext cx="2752344" cy="457200"/>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Managers</a:t>
            </a:r>
            <a:endParaRPr lang="en-US" sz="1250" dirty="0"/>
          </a:p>
        </p:txBody>
      </p:sp>
      <p:sp>
        <p:nvSpPr>
          <p:cNvPr id="18" name="Text 13"/>
          <p:cNvSpPr/>
          <p:nvPr/>
        </p:nvSpPr>
        <p:spPr>
          <a:xfrm>
            <a:off x="8211312" y="2084832"/>
            <a:ext cx="3191256" cy="1307592"/>
          </a:xfrm>
          <a:prstGeom prst="rect">
            <a:avLst/>
          </a:prstGeom>
          <a:noFill/>
          <a:ln/>
        </p:spPr>
        <p:txBody>
          <a:bodyPr wrap="square" lIns="0" tIns="0" rIns="0" bIns="0" rtlCol="0" anchor="t"/>
          <a:lstStyle/>
          <a:p>
            <a:pPr indent="0" marL="0">
              <a:buNone/>
            </a:pPr>
            <a:r>
              <a:rPr lang="en-US" sz="1150" dirty="0">
                <a:solidFill>
                  <a:srgbClr val="5A6070"/>
                </a:solidFill>
                <a:latin typeface="Arial" pitchFamily="34" charset="0"/>
                <a:ea typeface="Arial" pitchFamily="34" charset="-122"/>
                <a:cs typeface="Arial" pitchFamily="34" charset="-120"/>
              </a:rPr>
              <a:t>Team dashboard with enrolments, completions and completion rate; compliance table with overdue drill-down; approvals for course requests; CSV export - managers see their team without asking L&amp;D.</a:t>
            </a:r>
            <a:endParaRPr lang="en-US" sz="1150" dirty="0"/>
          </a:p>
        </p:txBody>
      </p:sp>
      <p:sp>
        <p:nvSpPr>
          <p:cNvPr id="19" name="Shape 14"/>
          <p:cNvSpPr/>
          <p:nvPr/>
        </p:nvSpPr>
        <p:spPr>
          <a:xfrm>
            <a:off x="548640" y="3703320"/>
            <a:ext cx="3520440" cy="2057400"/>
          </a:xfrm>
          <a:prstGeom prst="roundRect">
            <a:avLst>
              <a:gd name="adj" fmla="val 3111"/>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20" name="Shape 15"/>
          <p:cNvSpPr/>
          <p:nvPr/>
        </p:nvSpPr>
        <p:spPr>
          <a:xfrm>
            <a:off x="694944" y="3849624"/>
            <a:ext cx="402336" cy="402336"/>
          </a:xfrm>
          <a:prstGeom prst="ellipse">
            <a:avLst/>
          </a:prstGeom>
          <a:solidFill>
            <a:srgbClr val="0066A7"/>
          </a:solidFill>
          <a:ln/>
        </p:spPr>
      </p:sp>
      <p:pic>
        <p:nvPicPr>
          <p:cNvPr id="21" name="Image 3" descr="preencoded.png">    </p:cNvPr>
          <p:cNvPicPr>
            <a:picLocks noChangeAspect="1"/>
          </p:cNvPicPr>
          <p:nvPr/>
        </p:nvPicPr>
        <p:blipFill>
          <a:blip r:embed="rId4"/>
          <a:stretch>
            <a:fillRect/>
          </a:stretch>
        </p:blipFill>
        <p:spPr>
          <a:xfrm>
            <a:off x="799551" y="3954231"/>
            <a:ext cx="193121" cy="193121"/>
          </a:xfrm>
          <a:prstGeom prst="rect">
            <a:avLst/>
          </a:prstGeom>
        </p:spPr>
      </p:pic>
      <p:sp>
        <p:nvSpPr>
          <p:cNvPr id="22" name="Text 16"/>
          <p:cNvSpPr/>
          <p:nvPr/>
        </p:nvSpPr>
        <p:spPr>
          <a:xfrm>
            <a:off x="1188720" y="3831336"/>
            <a:ext cx="2752344" cy="457200"/>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Compliance</a:t>
            </a:r>
            <a:endParaRPr lang="en-US" sz="1250" dirty="0"/>
          </a:p>
        </p:txBody>
      </p:sp>
      <p:sp>
        <p:nvSpPr>
          <p:cNvPr id="23" name="Text 17"/>
          <p:cNvSpPr/>
          <p:nvPr/>
        </p:nvSpPr>
        <p:spPr>
          <a:xfrm>
            <a:off x="713232" y="4325112"/>
            <a:ext cx="3191256" cy="1307592"/>
          </a:xfrm>
          <a:prstGeom prst="rect">
            <a:avLst/>
          </a:prstGeom>
          <a:noFill/>
          <a:ln/>
        </p:spPr>
        <p:txBody>
          <a:bodyPr wrap="square" lIns="0" tIns="0" rIns="0" bIns="0" rtlCol="0" anchor="t"/>
          <a:lstStyle/>
          <a:p>
            <a:pPr indent="0" marL="0">
              <a:buNone/>
            </a:pPr>
            <a:r>
              <a:rPr lang="en-US" sz="1150" dirty="0">
                <a:solidFill>
                  <a:srgbClr val="5A6070"/>
                </a:solidFill>
                <a:latin typeface="Arial" pitchFamily="34" charset="0"/>
                <a:ea typeface="Arial" pitchFamily="34" charset="-122"/>
                <a:cs typeface="Arial" pitchFamily="34" charset="-120"/>
              </a:rPr>
              <a:t>Mandatory training with deadlines and auto-reminders (7/3/1 days), manager escalation (1/7/14 days overdue), tenant-scoped compliance matrix with Excel export, recompletion cycles for annual certifications, DPDP data-rights tooling.</a:t>
            </a:r>
            <a:endParaRPr lang="en-US" sz="1150" dirty="0"/>
          </a:p>
        </p:txBody>
      </p:sp>
      <p:sp>
        <p:nvSpPr>
          <p:cNvPr id="24" name="Shape 18"/>
          <p:cNvSpPr/>
          <p:nvPr/>
        </p:nvSpPr>
        <p:spPr>
          <a:xfrm>
            <a:off x="4297680" y="3703320"/>
            <a:ext cx="3520440" cy="2057400"/>
          </a:xfrm>
          <a:prstGeom prst="roundRect">
            <a:avLst>
              <a:gd name="adj" fmla="val 3111"/>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25" name="Shape 19"/>
          <p:cNvSpPr/>
          <p:nvPr/>
        </p:nvSpPr>
        <p:spPr>
          <a:xfrm>
            <a:off x="4443984" y="3849624"/>
            <a:ext cx="402336" cy="402336"/>
          </a:xfrm>
          <a:prstGeom prst="ellipse">
            <a:avLst/>
          </a:prstGeom>
          <a:solidFill>
            <a:srgbClr val="0066A7"/>
          </a:solidFill>
          <a:ln/>
        </p:spPr>
      </p:sp>
      <p:pic>
        <p:nvPicPr>
          <p:cNvPr id="26" name="Image 4" descr="preencoded.png">    </p:cNvPr>
          <p:cNvPicPr>
            <a:picLocks noChangeAspect="1"/>
          </p:cNvPicPr>
          <p:nvPr/>
        </p:nvPicPr>
        <p:blipFill>
          <a:blip r:embed="rId5"/>
          <a:stretch>
            <a:fillRect/>
          </a:stretch>
        </p:blipFill>
        <p:spPr>
          <a:xfrm>
            <a:off x="4548591" y="3954231"/>
            <a:ext cx="193121" cy="193121"/>
          </a:xfrm>
          <a:prstGeom prst="rect">
            <a:avLst/>
          </a:prstGeom>
        </p:spPr>
      </p:pic>
      <p:sp>
        <p:nvSpPr>
          <p:cNvPr id="27" name="Text 20"/>
          <p:cNvSpPr/>
          <p:nvPr/>
        </p:nvSpPr>
        <p:spPr>
          <a:xfrm>
            <a:off x="4937760" y="3831336"/>
            <a:ext cx="2752344" cy="457200"/>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Engagement</a:t>
            </a:r>
            <a:endParaRPr lang="en-US" sz="1250" dirty="0"/>
          </a:p>
        </p:txBody>
      </p:sp>
      <p:sp>
        <p:nvSpPr>
          <p:cNvPr id="28" name="Text 21"/>
          <p:cNvSpPr/>
          <p:nvPr/>
        </p:nvSpPr>
        <p:spPr>
          <a:xfrm>
            <a:off x="4462272" y="4325112"/>
            <a:ext cx="3191256" cy="1307592"/>
          </a:xfrm>
          <a:prstGeom prst="rect">
            <a:avLst/>
          </a:prstGeom>
          <a:noFill/>
          <a:ln/>
        </p:spPr>
        <p:txBody>
          <a:bodyPr wrap="square" lIns="0" tIns="0" rIns="0" bIns="0" rtlCol="0" anchor="t"/>
          <a:lstStyle/>
          <a:p>
            <a:pPr indent="0" marL="0">
              <a:buNone/>
            </a:pPr>
            <a:r>
              <a:rPr lang="en-US" sz="1150" dirty="0">
                <a:solidFill>
                  <a:srgbClr val="5A6070"/>
                </a:solidFill>
                <a:latin typeface="Arial" pitchFamily="34" charset="0"/>
                <a:ea typeface="Arial" pitchFamily="34" charset="-122"/>
                <a:cs typeface="Arial" pitchFamily="34" charset="-120"/>
              </a:rPr>
              <a:t>Sentientia Live: in-class polls, quizzes, word clouds and Q&amp;A with real-time results (Mentimeter-class, built in-house); gamification points, levels and leaderboards; a running town-hall poll is seeded on UAT.</a:t>
            </a:r>
            <a:endParaRPr lang="en-US" sz="1150" dirty="0"/>
          </a:p>
        </p:txBody>
      </p:sp>
      <p:sp>
        <p:nvSpPr>
          <p:cNvPr id="29" name="Shape 22"/>
          <p:cNvSpPr/>
          <p:nvPr/>
        </p:nvSpPr>
        <p:spPr>
          <a:xfrm>
            <a:off x="8046720" y="3703320"/>
            <a:ext cx="3520440" cy="2057400"/>
          </a:xfrm>
          <a:prstGeom prst="roundRect">
            <a:avLst>
              <a:gd name="adj" fmla="val 3111"/>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30" name="Shape 23"/>
          <p:cNvSpPr/>
          <p:nvPr/>
        </p:nvSpPr>
        <p:spPr>
          <a:xfrm>
            <a:off x="8193024" y="3849624"/>
            <a:ext cx="402336" cy="402336"/>
          </a:xfrm>
          <a:prstGeom prst="ellipse">
            <a:avLst/>
          </a:prstGeom>
          <a:solidFill>
            <a:srgbClr val="0066A7"/>
          </a:solidFill>
          <a:ln/>
        </p:spPr>
      </p:sp>
      <p:pic>
        <p:nvPicPr>
          <p:cNvPr id="31" name="Image 5" descr="preencoded.png">    </p:cNvPr>
          <p:cNvPicPr>
            <a:picLocks noChangeAspect="1"/>
          </p:cNvPicPr>
          <p:nvPr/>
        </p:nvPicPr>
        <p:blipFill>
          <a:blip r:embed="rId6"/>
          <a:stretch>
            <a:fillRect/>
          </a:stretch>
        </p:blipFill>
        <p:spPr>
          <a:xfrm>
            <a:off x="8297631" y="3954231"/>
            <a:ext cx="193121" cy="193121"/>
          </a:xfrm>
          <a:prstGeom prst="rect">
            <a:avLst/>
          </a:prstGeom>
        </p:spPr>
      </p:pic>
      <p:sp>
        <p:nvSpPr>
          <p:cNvPr id="32" name="Text 24"/>
          <p:cNvSpPr/>
          <p:nvPr/>
        </p:nvSpPr>
        <p:spPr>
          <a:xfrm>
            <a:off x="8686800" y="3831336"/>
            <a:ext cx="2752344" cy="457200"/>
          </a:xfrm>
          <a:prstGeom prst="rect">
            <a:avLst/>
          </a:prstGeom>
          <a:noFill/>
          <a:ln/>
        </p:spPr>
        <p:txBody>
          <a:bodyPr wrap="square" lIns="0" tIns="0" rIns="0" bIns="0" rtlCol="0" anchor="ctr"/>
          <a:lstStyle/>
          <a:p>
            <a:pPr indent="0" marL="0">
              <a:buNone/>
            </a:pPr>
            <a:r>
              <a:rPr lang="en-US" sz="1250" b="1" dirty="0">
                <a:solidFill>
                  <a:srgbClr val="1A1A2E"/>
                </a:solidFill>
                <a:latin typeface="Arial" pitchFamily="34" charset="0"/>
                <a:ea typeface="Arial" pitchFamily="34" charset="-122"/>
                <a:cs typeface="Arial" pitchFamily="34" charset="-120"/>
              </a:rPr>
              <a:t>Onboarding &amp; lifecycle</a:t>
            </a:r>
            <a:endParaRPr lang="en-US" sz="1250" dirty="0"/>
          </a:p>
        </p:txBody>
      </p:sp>
      <p:sp>
        <p:nvSpPr>
          <p:cNvPr id="33" name="Text 25"/>
          <p:cNvSpPr/>
          <p:nvPr/>
        </p:nvSpPr>
        <p:spPr>
          <a:xfrm>
            <a:off x="8211312" y="4325112"/>
            <a:ext cx="3191256" cy="1307592"/>
          </a:xfrm>
          <a:prstGeom prst="rect">
            <a:avLst/>
          </a:prstGeom>
          <a:noFill/>
          <a:ln/>
        </p:spPr>
        <p:txBody>
          <a:bodyPr wrap="square" lIns="0" tIns="0" rIns="0" bIns="0" rtlCol="0" anchor="t"/>
          <a:lstStyle/>
          <a:p>
            <a:pPr indent="0" marL="0">
              <a:buNone/>
            </a:pPr>
            <a:r>
              <a:rPr lang="en-US" sz="1150" dirty="0">
                <a:solidFill>
                  <a:srgbClr val="5A6070"/>
                </a:solidFill>
                <a:latin typeface="Arial" pitchFamily="34" charset="0"/>
                <a:ea typeface="Arial" pitchFamily="34" charset="-122"/>
                <a:cs typeface="Arial" pitchFamily="34" charset="-120"/>
              </a:rPr>
              <a:t>First-login onboarding wizard (shown in Hindi for a new joiner persona); HRMS-driven joiner / mover / leaver automation proven on the full 2,871-employee record; KeKa webhook receiver hardened.</a:t>
            </a:r>
            <a:endParaRPr lang="en-US" sz="1150" dirty="0"/>
          </a:p>
        </p:txBody>
      </p:sp>
      <p:sp>
        <p:nvSpPr>
          <p:cNvPr id="34" name="Text 26"/>
          <p:cNvSpPr/>
          <p:nvPr/>
        </p:nvSpPr>
        <p:spPr>
          <a:xfrm>
            <a:off x="548640" y="5989320"/>
            <a:ext cx="11064240" cy="411480"/>
          </a:xfrm>
          <a:prstGeom prst="rect">
            <a:avLst/>
          </a:prstGeom>
          <a:noFill/>
          <a:ln/>
        </p:spPr>
        <p:txBody>
          <a:bodyPr wrap="square" lIns="0" tIns="0" rIns="0" bIns="0" rtlCol="0" anchor="ctr"/>
          <a:lstStyle/>
          <a:p>
            <a:pPr indent="0" marL="0">
              <a:buNone/>
            </a:pPr>
            <a:r>
              <a:rPr lang="en-US" sz="1200" i="1" dirty="0">
                <a:solidFill>
                  <a:srgbClr val="0066A7"/>
                </a:solidFill>
                <a:latin typeface="Arial" pitchFamily="34" charset="0"/>
                <a:ea typeface="Arial" pitchFamily="34" charset="-122"/>
                <a:cs typeface="Arial" pitchFamily="34" charset="-120"/>
              </a:rPr>
              <a:t>Why it matters: adoption. A platform people like using turns compliance training into a learning culture - and it is the same storefront we would show a paying customer.</a:t>
            </a:r>
            <a:endParaRPr lang="en-US" sz="1200" dirty="0"/>
          </a:p>
        </p:txBody>
      </p:sp>
      <p:sp>
        <p:nvSpPr>
          <p:cNvPr id="35" name="Text 27"/>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36" name="Text 28"/>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WHAT TECHNOLOGY LEADERSHIP GETS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A modern, owned platform with engineering discipline behind it</a:t>
            </a:r>
            <a:endParaRPr lang="en-US" sz="2800" dirty="0"/>
          </a:p>
        </p:txBody>
      </p:sp>
      <p:sp>
        <p:nvSpPr>
          <p:cNvPr id="4" name="Shape 2"/>
          <p:cNvSpPr/>
          <p:nvPr/>
        </p:nvSpPr>
        <p:spPr>
          <a:xfrm>
            <a:off x="548640" y="1463040"/>
            <a:ext cx="3520440" cy="4343400"/>
          </a:xfrm>
          <a:prstGeom prst="roundRect">
            <a:avLst>
              <a:gd name="adj" fmla="val 181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5" name="Shape 3"/>
          <p:cNvSpPr/>
          <p:nvPr/>
        </p:nvSpPr>
        <p:spPr>
          <a:xfrm>
            <a:off x="713232" y="1645920"/>
            <a:ext cx="457200" cy="457200"/>
          </a:xfrm>
          <a:prstGeom prst="ellipse">
            <a:avLst/>
          </a:prstGeom>
          <a:solidFill>
            <a:srgbClr val="0066A7"/>
          </a:solidFill>
          <a:ln/>
        </p:spPr>
      </p:sp>
      <p:pic>
        <p:nvPicPr>
          <p:cNvPr id="6" name="Image 0" descr="preencoded.png">    </p:cNvPr>
          <p:cNvPicPr>
            <a:picLocks noChangeAspect="1"/>
          </p:cNvPicPr>
          <p:nvPr/>
        </p:nvPicPr>
        <p:blipFill>
          <a:blip r:embed="rId1"/>
          <a:stretch>
            <a:fillRect/>
          </a:stretch>
        </p:blipFill>
        <p:spPr>
          <a:xfrm>
            <a:off x="832104" y="1764792"/>
            <a:ext cx="219456" cy="219456"/>
          </a:xfrm>
          <a:prstGeom prst="rect">
            <a:avLst/>
          </a:prstGeom>
        </p:spPr>
      </p:pic>
      <p:sp>
        <p:nvSpPr>
          <p:cNvPr id="7" name="Text 4"/>
          <p:cNvSpPr/>
          <p:nvPr/>
        </p:nvSpPr>
        <p:spPr>
          <a:xfrm>
            <a:off x="1298448" y="1645920"/>
            <a:ext cx="2651760" cy="45720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Platform</a:t>
            </a:r>
            <a:endParaRPr lang="en-US" sz="1500" dirty="0"/>
          </a:p>
        </p:txBody>
      </p:sp>
      <p:sp>
        <p:nvSpPr>
          <p:cNvPr id="8" name="Text 5"/>
          <p:cNvSpPr/>
          <p:nvPr/>
        </p:nvSpPr>
        <p:spPr>
          <a:xfrm>
            <a:off x="749808" y="2240280"/>
            <a:ext cx="3154680" cy="347472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Moodle 5.2 core (Build 20260519) on PHP 8.3.6 / MySQL 8.4.9 RDS, Apache + PHP-FPM behind an ALB - the stack IT approved for UAT</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Sentientia layer: 46 plugins, 6 blocks, a standalone 708-file design system - every template owned</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Multi-tenant by design: tenant isolation on the org path, verified on real data (Airpay admin 743 users, ZEEA admin 6, site admin 1,426)</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Feature flags at 5 levels, default OFF - platform behaviour never changes by accident</a:t>
            </a:r>
            <a:endParaRPr lang="en-US" sz="1150" dirty="0"/>
          </a:p>
        </p:txBody>
      </p:sp>
      <p:sp>
        <p:nvSpPr>
          <p:cNvPr id="9" name="Shape 6"/>
          <p:cNvSpPr/>
          <p:nvPr/>
        </p:nvSpPr>
        <p:spPr>
          <a:xfrm>
            <a:off x="4297680" y="1463040"/>
            <a:ext cx="3520440" cy="4343400"/>
          </a:xfrm>
          <a:prstGeom prst="roundRect">
            <a:avLst>
              <a:gd name="adj" fmla="val 181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0" name="Shape 7"/>
          <p:cNvSpPr/>
          <p:nvPr/>
        </p:nvSpPr>
        <p:spPr>
          <a:xfrm>
            <a:off x="4462272" y="1645920"/>
            <a:ext cx="457200" cy="457200"/>
          </a:xfrm>
          <a:prstGeom prst="ellipse">
            <a:avLst/>
          </a:prstGeom>
          <a:solidFill>
            <a:srgbClr val="0A4D80"/>
          </a:solidFill>
          <a:ln/>
        </p:spPr>
      </p:sp>
      <p:pic>
        <p:nvPicPr>
          <p:cNvPr id="11" name="Image 1" descr="preencoded.png">    </p:cNvPr>
          <p:cNvPicPr>
            <a:picLocks noChangeAspect="1"/>
          </p:cNvPicPr>
          <p:nvPr/>
        </p:nvPicPr>
        <p:blipFill>
          <a:blip r:embed="rId2"/>
          <a:stretch>
            <a:fillRect/>
          </a:stretch>
        </p:blipFill>
        <p:spPr>
          <a:xfrm>
            <a:off x="4581144" y="1764792"/>
            <a:ext cx="219456" cy="219456"/>
          </a:xfrm>
          <a:prstGeom prst="rect">
            <a:avLst/>
          </a:prstGeom>
        </p:spPr>
      </p:pic>
      <p:sp>
        <p:nvSpPr>
          <p:cNvPr id="12" name="Text 8"/>
          <p:cNvSpPr/>
          <p:nvPr/>
        </p:nvSpPr>
        <p:spPr>
          <a:xfrm>
            <a:off x="5047488" y="1645920"/>
            <a:ext cx="2651760" cy="45720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Integration &amp; identity</a:t>
            </a:r>
            <a:endParaRPr lang="en-US" sz="1500" dirty="0"/>
          </a:p>
        </p:txBody>
      </p:sp>
      <p:sp>
        <p:nvSpPr>
          <p:cNvPr id="13" name="Text 9"/>
          <p:cNvSpPr/>
          <p:nvPr/>
        </p:nvSpPr>
        <p:spPr>
          <a:xfrm>
            <a:off x="4498848" y="2240280"/>
            <a:ext cx="3154680" cy="347472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SCIM 2.0 users + groups and signed outbound webhooks built and unit-tested (flag-OFF until a consumer exists)</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KeKa HRMS joiner / mover / leaver webhook hardened; 24-column HRMS CSV import proven on 2,871 records</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Entra SSO + MFA: configuration packs ready, 0 lines of code - waits on the IT app registration</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Public REST API v1 with rate limiting and OpenAPI; LTI 1.3 scaffolding; xAPI activity capture</a:t>
            </a:r>
            <a:endParaRPr lang="en-US" sz="1150" dirty="0"/>
          </a:p>
        </p:txBody>
      </p:sp>
      <p:sp>
        <p:nvSpPr>
          <p:cNvPr id="14" name="Shape 10"/>
          <p:cNvSpPr/>
          <p:nvPr/>
        </p:nvSpPr>
        <p:spPr>
          <a:xfrm>
            <a:off x="8046720" y="1463040"/>
            <a:ext cx="3520440" cy="4343400"/>
          </a:xfrm>
          <a:prstGeom prst="roundRect">
            <a:avLst>
              <a:gd name="adj" fmla="val 181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5" name="Shape 11"/>
          <p:cNvSpPr/>
          <p:nvPr/>
        </p:nvSpPr>
        <p:spPr>
          <a:xfrm>
            <a:off x="8211312" y="1645920"/>
            <a:ext cx="457200" cy="457200"/>
          </a:xfrm>
          <a:prstGeom prst="ellipse">
            <a:avLst/>
          </a:prstGeom>
          <a:solidFill>
            <a:srgbClr val="16A34A"/>
          </a:solidFill>
          <a:ln/>
        </p:spPr>
      </p:sp>
      <p:pic>
        <p:nvPicPr>
          <p:cNvPr id="16" name="Image 2" descr="preencoded.png">    </p:cNvPr>
          <p:cNvPicPr>
            <a:picLocks noChangeAspect="1"/>
          </p:cNvPicPr>
          <p:nvPr/>
        </p:nvPicPr>
        <p:blipFill>
          <a:blip r:embed="rId3"/>
          <a:stretch>
            <a:fillRect/>
          </a:stretch>
        </p:blipFill>
        <p:spPr>
          <a:xfrm>
            <a:off x="8330184" y="1764792"/>
            <a:ext cx="219456" cy="219456"/>
          </a:xfrm>
          <a:prstGeom prst="rect">
            <a:avLst/>
          </a:prstGeom>
        </p:spPr>
      </p:pic>
      <p:sp>
        <p:nvSpPr>
          <p:cNvPr id="17" name="Text 12"/>
          <p:cNvSpPr/>
          <p:nvPr/>
        </p:nvSpPr>
        <p:spPr>
          <a:xfrm>
            <a:off x="8796528" y="1645920"/>
            <a:ext cx="2651760" cy="45720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Delivery discipline</a:t>
            </a:r>
            <a:endParaRPr lang="en-US" sz="1500" dirty="0"/>
          </a:p>
        </p:txBody>
      </p:sp>
      <p:sp>
        <p:nvSpPr>
          <p:cNvPr id="18" name="Text 13"/>
          <p:cNvSpPr/>
          <p:nvPr/>
        </p:nvSpPr>
        <p:spPr>
          <a:xfrm>
            <a:off x="8247888" y="2240280"/>
            <a:ext cx="3154680" cy="347472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Checksummed release packages (v4.2.0: 65,588 files, SHA-256 published) and a surgical deployer with pre-deploy backups</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17 pre-commit checks + CI: language parity, security scans, template leaks, contract checks; PHPUnit on every touched plugin</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30 architecture decision records + per-component state cards - any engineer or auditor can reconstruct why</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Same-domain cutover plan with a 100 % data-parity gate (2,057-step upgrade already rehearsed error-free on production-shaped data)</a:t>
            </a:r>
            <a:endParaRPr lang="en-US" sz="1150" dirty="0"/>
          </a:p>
        </p:txBody>
      </p:sp>
      <p:sp>
        <p:nvSpPr>
          <p:cNvPr id="19" name="Text 14"/>
          <p:cNvSpPr/>
          <p:nvPr/>
        </p:nvSpPr>
        <p:spPr>
          <a:xfrm>
            <a:off x="548640" y="5989320"/>
            <a:ext cx="11064240" cy="411480"/>
          </a:xfrm>
          <a:prstGeom prst="rect">
            <a:avLst/>
          </a:prstGeom>
          <a:noFill/>
          <a:ln/>
        </p:spPr>
        <p:txBody>
          <a:bodyPr wrap="square" lIns="0" tIns="0" rIns="0" bIns="0" rtlCol="0" anchor="ctr"/>
          <a:lstStyle/>
          <a:p>
            <a:pPr indent="0" marL="0">
              <a:buNone/>
            </a:pPr>
            <a:r>
              <a:rPr lang="en-US" sz="1200" i="1" dirty="0">
                <a:solidFill>
                  <a:srgbClr val="0066A7"/>
                </a:solidFill>
                <a:latin typeface="Arial" pitchFamily="34" charset="0"/>
                <a:ea typeface="Arial" pitchFamily="34" charset="-122"/>
                <a:cs typeface="Arial" pitchFamily="34" charset="-120"/>
              </a:rPr>
              <a:t>Licence posture: the core stays GPL v3 (Moodle); we sell hosting, implementation and service, not seats. End-user screens carry Airpay's private-and-confidential notice.</a:t>
            </a:r>
            <a:endParaRPr lang="en-US" sz="1200" dirty="0"/>
          </a:p>
        </p:txBody>
      </p:sp>
      <p:sp>
        <p:nvSpPr>
          <p:cNvPr id="20" name="Text 15"/>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21" name="Text 16"/>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SECURITY POSTURE</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Audit findings closed fast; three external items remain</a:t>
            </a:r>
            <a:endParaRPr lang="en-US" sz="2800" dirty="0"/>
          </a:p>
        </p:txBody>
      </p:sp>
      <p:sp>
        <p:nvSpPr>
          <p:cNvPr id="4" name="Shape 2"/>
          <p:cNvSpPr/>
          <p:nvPr/>
        </p:nvSpPr>
        <p:spPr>
          <a:xfrm>
            <a:off x="548640" y="1463040"/>
            <a:ext cx="5394960" cy="4297680"/>
          </a:xfrm>
          <a:prstGeom prst="roundRect">
            <a:avLst>
              <a:gd name="adj" fmla="val 1489"/>
            </a:avLst>
          </a:prstGeom>
          <a:solidFill>
            <a:srgbClr val="EEF7F1"/>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5" name="Text 3"/>
          <p:cNvSpPr/>
          <p:nvPr/>
        </p:nvSpPr>
        <p:spPr>
          <a:xfrm>
            <a:off x="777240" y="1627632"/>
            <a:ext cx="4937760" cy="274320"/>
          </a:xfrm>
          <a:prstGeom prst="rect">
            <a:avLst/>
          </a:prstGeom>
          <a:noFill/>
          <a:ln/>
        </p:spPr>
        <p:txBody>
          <a:bodyPr wrap="square" lIns="0" tIns="0" rIns="0" bIns="0" rtlCol="0" anchor="ctr"/>
          <a:lstStyle/>
          <a:p>
            <a:pPr indent="0" marL="0">
              <a:buNone/>
            </a:pPr>
            <a:r>
              <a:rPr lang="en-US" sz="1100" b="1" spc="100" kern="0" dirty="0">
                <a:solidFill>
                  <a:srgbClr val="16A34A"/>
                </a:solidFill>
                <a:latin typeface="Arial" pitchFamily="34" charset="0"/>
                <a:ea typeface="Arial" pitchFamily="34" charset="-122"/>
                <a:cs typeface="Arial" pitchFamily="34" charset="-120"/>
              </a:rPr>
              <a:t>FIXED AND VERIFIED ON UAT</a:t>
            </a:r>
            <a:endParaRPr lang="en-US" sz="1100" dirty="0"/>
          </a:p>
        </p:txBody>
      </p:sp>
      <p:sp>
        <p:nvSpPr>
          <p:cNvPr id="6" name="Text 4"/>
          <p:cNvSpPr/>
          <p:nvPr/>
        </p:nvSpPr>
        <p:spPr>
          <a:xfrm>
            <a:off x="777240" y="1965960"/>
            <a:ext cx="4983480" cy="365760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A1A2E"/>
                </a:solidFill>
                <a:latin typeface="Arial" pitchFamily="34" charset="0"/>
                <a:ea typeface="Arial" pitchFamily="34" charset="-122"/>
                <a:cs typeface="Arial" pitchFamily="34" charset="-120"/>
              </a:rPr>
              <a:t>C2 - cross-tenant self-enrolment closed (a Public learner now gets 404 on Airpay / ZEEA courses)</a:t>
            </a:r>
            <a:endParaRPr lang="en-US" sz="1100" dirty="0"/>
          </a:p>
          <a:p>
            <a:pPr marL="342900" indent="-342900">
              <a:spcAft>
                <a:spcPts val="800"/>
              </a:spcAft>
              <a:buSzPct val="100000"/>
              <a:buChar char="•"/>
            </a:pPr>
            <a:r>
              <a:rPr lang="en-US" sz="1100" dirty="0">
                <a:solidFill>
                  <a:srgbClr val="1A1A2E"/>
                </a:solidFill>
                <a:latin typeface="Arial" pitchFamily="34" charset="0"/>
                <a:ea typeface="Arial" pitchFamily="34" charset="-122"/>
                <a:cs typeface="Arial" pitchFamily="34" charset="-120"/>
              </a:rPr>
              <a:t>H1 - signup account enumeration closed</a:t>
            </a:r>
            <a:endParaRPr lang="en-US" sz="1100" dirty="0"/>
          </a:p>
          <a:p>
            <a:pPr marL="342900" indent="-342900">
              <a:spcAft>
                <a:spcPts val="800"/>
              </a:spcAft>
              <a:buSzPct val="100000"/>
              <a:buChar char="•"/>
            </a:pPr>
            <a:r>
              <a:rPr lang="en-US" sz="1100" dirty="0">
                <a:solidFill>
                  <a:srgbClr val="1A1A2E"/>
                </a:solidFill>
                <a:latin typeface="Arial" pitchFamily="34" charset="0"/>
                <a:ea typeface="Arial" pitchFamily="34" charset="-122"/>
                <a:cs typeface="Arial" pitchFamily="34" charset="-120"/>
              </a:rPr>
              <a:t>H3 - xAPI endpoint rate-limited; H4 - real-time stream connection caps (137 tests)</a:t>
            </a:r>
            <a:endParaRPr lang="en-US" sz="1100" dirty="0"/>
          </a:p>
          <a:p>
            <a:pPr marL="342900" indent="-342900">
              <a:spcAft>
                <a:spcPts val="800"/>
              </a:spcAft>
              <a:buSzPct val="100000"/>
              <a:buChar char="•"/>
            </a:pPr>
            <a:r>
              <a:rPr lang="en-US" sz="1100" dirty="0">
                <a:solidFill>
                  <a:srgbClr val="1A1A2E"/>
                </a:solidFill>
                <a:latin typeface="Arial" pitchFamily="34" charset="0"/>
                <a:ea typeface="Arial" pitchFamily="34" charset="-122"/>
                <a:cs typeface="Arial" pitchFamily="34" charset="-120"/>
              </a:rPr>
              <a:t>M1 / M3 / M4 - HSTS, X-Frame-Options, nosniff, Referrer and Permissions policies; server banner hidden; config file 640; debug off</a:t>
            </a:r>
            <a:endParaRPr lang="en-US" sz="1100" dirty="0"/>
          </a:p>
          <a:p>
            <a:pPr marL="342900" indent="-342900">
              <a:spcAft>
                <a:spcPts val="800"/>
              </a:spcAft>
              <a:buSzPct val="100000"/>
              <a:buChar char="•"/>
            </a:pPr>
            <a:r>
              <a:rPr lang="en-US" sz="1100" dirty="0">
                <a:solidFill>
                  <a:srgbClr val="1A1A2E"/>
                </a:solidFill>
                <a:latin typeface="Arial" pitchFamily="34" charset="0"/>
                <a:ea typeface="Arial" pitchFamily="34" charset="-122"/>
                <a:cs typeface="Arial" pitchFamily="34" charset="-120"/>
              </a:rPr>
              <a:t>Payment-verification bypass in the inherited gateway fixed fail-closed (13-test suite) - merge pending</a:t>
            </a:r>
            <a:endParaRPr lang="en-US" sz="1100" dirty="0"/>
          </a:p>
          <a:p>
            <a:pPr marL="342900" indent="-342900">
              <a:spcAft>
                <a:spcPts val="800"/>
              </a:spcAft>
              <a:buSzPct val="100000"/>
              <a:buChar char="•"/>
            </a:pPr>
            <a:r>
              <a:rPr lang="en-US" sz="1100" dirty="0">
                <a:solidFill>
                  <a:srgbClr val="1A1A2E"/>
                </a:solidFill>
                <a:latin typeface="Arial" pitchFamily="34" charset="0"/>
                <a:ea typeface="Arial" pitchFamily="34" charset="-122"/>
                <a:cs typeface="Arial" pitchFamily="34" charset="-120"/>
              </a:rPr>
              <a:t>Database access moved to an app-scoped user; the superuser password delivered in plain text was rotated</a:t>
            </a:r>
            <a:endParaRPr lang="en-US" sz="1100" dirty="0"/>
          </a:p>
        </p:txBody>
      </p:sp>
      <p:sp>
        <p:nvSpPr>
          <p:cNvPr id="7" name="Shape 5"/>
          <p:cNvSpPr/>
          <p:nvPr/>
        </p:nvSpPr>
        <p:spPr>
          <a:xfrm>
            <a:off x="6263640" y="1463040"/>
            <a:ext cx="5394960" cy="4297680"/>
          </a:xfrm>
          <a:prstGeom prst="roundRect">
            <a:avLst>
              <a:gd name="adj" fmla="val 1489"/>
            </a:avLst>
          </a:prstGeom>
          <a:solidFill>
            <a:srgbClr val="FDF3EC"/>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8" name="Text 6"/>
          <p:cNvSpPr/>
          <p:nvPr/>
        </p:nvSpPr>
        <p:spPr>
          <a:xfrm>
            <a:off x="6492240" y="1627632"/>
            <a:ext cx="4937760" cy="274320"/>
          </a:xfrm>
          <a:prstGeom prst="rect">
            <a:avLst/>
          </a:prstGeom>
          <a:noFill/>
          <a:ln/>
        </p:spPr>
        <p:txBody>
          <a:bodyPr wrap="square" lIns="0" tIns="0" rIns="0" bIns="0" rtlCol="0" anchor="ctr"/>
          <a:lstStyle/>
          <a:p>
            <a:pPr indent="0" marL="0">
              <a:buNone/>
            </a:pPr>
            <a:r>
              <a:rPr lang="en-US" sz="1100" b="1" spc="100" kern="0" dirty="0">
                <a:solidFill>
                  <a:srgbClr val="C2410C"/>
                </a:solidFill>
                <a:latin typeface="Arial" pitchFamily="34" charset="0"/>
                <a:ea typeface="Arial" pitchFamily="34" charset="-122"/>
                <a:cs typeface="Arial" pitchFamily="34" charset="-120"/>
              </a:rPr>
              <a:t>STILL OPEN - ALL EXTERNAL TO ENGINEERING</a:t>
            </a:r>
            <a:endParaRPr lang="en-US" sz="1100" dirty="0"/>
          </a:p>
        </p:txBody>
      </p:sp>
      <p:sp>
        <p:nvSpPr>
          <p:cNvPr id="9" name="Shape 7"/>
          <p:cNvSpPr/>
          <p:nvPr/>
        </p:nvSpPr>
        <p:spPr>
          <a:xfrm>
            <a:off x="6492240" y="2011680"/>
            <a:ext cx="685800" cy="384048"/>
          </a:xfrm>
          <a:prstGeom prst="roundRect">
            <a:avLst>
              <a:gd name="adj" fmla="val 11905"/>
            </a:avLst>
          </a:prstGeom>
          <a:solidFill>
            <a:srgbClr val="C2410C"/>
          </a:solidFill>
          <a:ln/>
        </p:spPr>
      </p:sp>
      <p:sp>
        <p:nvSpPr>
          <p:cNvPr id="10" name="Text 8"/>
          <p:cNvSpPr/>
          <p:nvPr/>
        </p:nvSpPr>
        <p:spPr>
          <a:xfrm>
            <a:off x="6492240" y="2011680"/>
            <a:ext cx="685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C1</a:t>
            </a:r>
            <a:endParaRPr lang="en-US" sz="1100" dirty="0"/>
          </a:p>
        </p:txBody>
      </p:sp>
      <p:sp>
        <p:nvSpPr>
          <p:cNvPr id="11" name="Text 9"/>
          <p:cNvSpPr/>
          <p:nvPr/>
        </p:nvSpPr>
        <p:spPr>
          <a:xfrm>
            <a:off x="7315200" y="1965960"/>
            <a:ext cx="4206240" cy="685800"/>
          </a:xfrm>
          <a:prstGeom prst="rect">
            <a:avLst/>
          </a:prstGeom>
          <a:noFill/>
          <a:ln/>
        </p:spPr>
        <p:txBody>
          <a:bodyPr wrap="square" lIns="0" tIns="0" rIns="0" bIns="0" rtlCol="0" anchor="t"/>
          <a:lstStyle/>
          <a:p>
            <a:pPr indent="0" marL="0">
              <a:buNone/>
            </a:pPr>
            <a:r>
              <a:rPr lang="en-US" sz="1050" dirty="0">
                <a:solidFill>
                  <a:srgbClr val="1A1A2E"/>
                </a:solidFill>
                <a:latin typeface="Arial" pitchFamily="34" charset="0"/>
                <a:ea typeface="Arial" pitchFamily="34" charset="-122"/>
                <a:cs typeface="Arial" pitchFamily="34" charset="-120"/>
              </a:rPr>
              <a:t>Payment hash fix branch to be merged; needs one Airpay gateway sandbox round-trip  </a:t>
            </a:r>
            <a:pPr indent="0" marL="0">
              <a:buNone/>
            </a:pPr>
            <a:r>
              <a:rPr lang="en-US" sz="1050" b="1" dirty="0">
                <a:solidFill>
                  <a:srgbClr val="0066A7"/>
                </a:solidFill>
                <a:latin typeface="Arial" pitchFamily="34" charset="0"/>
                <a:ea typeface="Arial" pitchFamily="34" charset="-122"/>
                <a:cs typeface="Arial" pitchFamily="34" charset="-120"/>
              </a:rPr>
              <a:t>Product owner</a:t>
            </a:r>
            <a:endParaRPr lang="en-US" sz="1050" dirty="0"/>
          </a:p>
        </p:txBody>
      </p:sp>
      <p:sp>
        <p:nvSpPr>
          <p:cNvPr id="12" name="Shape 10"/>
          <p:cNvSpPr/>
          <p:nvPr/>
        </p:nvSpPr>
        <p:spPr>
          <a:xfrm>
            <a:off x="6492240" y="2834640"/>
            <a:ext cx="685800" cy="384048"/>
          </a:xfrm>
          <a:prstGeom prst="roundRect">
            <a:avLst>
              <a:gd name="adj" fmla="val 11905"/>
            </a:avLst>
          </a:prstGeom>
          <a:solidFill>
            <a:srgbClr val="C2410C"/>
          </a:solidFill>
          <a:ln/>
        </p:spPr>
      </p:sp>
      <p:sp>
        <p:nvSpPr>
          <p:cNvPr id="13" name="Text 11"/>
          <p:cNvSpPr/>
          <p:nvPr/>
        </p:nvSpPr>
        <p:spPr>
          <a:xfrm>
            <a:off x="6492240" y="2834640"/>
            <a:ext cx="685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H2</a:t>
            </a:r>
            <a:endParaRPr lang="en-US" sz="1100" dirty="0"/>
          </a:p>
        </p:txBody>
      </p:sp>
      <p:sp>
        <p:nvSpPr>
          <p:cNvPr id="14" name="Text 12"/>
          <p:cNvSpPr/>
          <p:nvPr/>
        </p:nvSpPr>
        <p:spPr>
          <a:xfrm>
            <a:off x="7315200" y="2788920"/>
            <a:ext cx="4206240" cy="685800"/>
          </a:xfrm>
          <a:prstGeom prst="rect">
            <a:avLst/>
          </a:prstGeom>
          <a:noFill/>
          <a:ln/>
        </p:spPr>
        <p:txBody>
          <a:bodyPr wrap="square" lIns="0" tIns="0" rIns="0" bIns="0" rtlCol="0" anchor="t"/>
          <a:lstStyle/>
          <a:p>
            <a:pPr indent="0" marL="0">
              <a:buNone/>
            </a:pPr>
            <a:r>
              <a:rPr lang="en-US" sz="1050" dirty="0">
                <a:solidFill>
                  <a:srgbClr val="1A1A2E"/>
                </a:solidFill>
                <a:latin typeface="Arial" pitchFamily="34" charset="0"/>
                <a:ea typeface="Arial" pitchFamily="34" charset="-122"/>
                <a:cs typeface="Arial" pitchFamily="34" charset="-120"/>
              </a:rPr>
              <a:t>Production reCAPTCHA keys for public signup  </a:t>
            </a:r>
            <a:pPr indent="0" marL="0">
              <a:buNone/>
            </a:pPr>
            <a:r>
              <a:rPr lang="en-US" sz="1050" b="1" dirty="0">
                <a:solidFill>
                  <a:srgbClr val="0066A7"/>
                </a:solidFill>
                <a:latin typeface="Arial" pitchFamily="34" charset="0"/>
                <a:ea typeface="Arial" pitchFamily="34" charset="-122"/>
                <a:cs typeface="Arial" pitchFamily="34" charset="-120"/>
              </a:rPr>
              <a:t>IT</a:t>
            </a:r>
            <a:endParaRPr lang="en-US" sz="1050" dirty="0"/>
          </a:p>
        </p:txBody>
      </p:sp>
      <p:sp>
        <p:nvSpPr>
          <p:cNvPr id="15" name="Shape 13"/>
          <p:cNvSpPr/>
          <p:nvPr/>
        </p:nvSpPr>
        <p:spPr>
          <a:xfrm>
            <a:off x="6492240" y="3657600"/>
            <a:ext cx="685800" cy="384048"/>
          </a:xfrm>
          <a:prstGeom prst="roundRect">
            <a:avLst>
              <a:gd name="adj" fmla="val 11905"/>
            </a:avLst>
          </a:prstGeom>
          <a:solidFill>
            <a:srgbClr val="C2410C"/>
          </a:solidFill>
          <a:ln/>
        </p:spPr>
      </p:sp>
      <p:sp>
        <p:nvSpPr>
          <p:cNvPr id="16" name="Text 14"/>
          <p:cNvSpPr/>
          <p:nvPr/>
        </p:nvSpPr>
        <p:spPr>
          <a:xfrm>
            <a:off x="6492240" y="3657600"/>
            <a:ext cx="685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M5</a:t>
            </a:r>
            <a:endParaRPr lang="en-US" sz="1100" dirty="0"/>
          </a:p>
        </p:txBody>
      </p:sp>
      <p:sp>
        <p:nvSpPr>
          <p:cNvPr id="17" name="Text 15"/>
          <p:cNvSpPr/>
          <p:nvPr/>
        </p:nvSpPr>
        <p:spPr>
          <a:xfrm>
            <a:off x="7315200" y="3611880"/>
            <a:ext cx="4206240" cy="685800"/>
          </a:xfrm>
          <a:prstGeom prst="rect">
            <a:avLst/>
          </a:prstGeom>
          <a:noFill/>
          <a:ln/>
        </p:spPr>
        <p:txBody>
          <a:bodyPr wrap="square" lIns="0" tIns="0" rIns="0" bIns="0" rtlCol="0" anchor="t"/>
          <a:lstStyle/>
          <a:p>
            <a:pPr indent="0" marL="0">
              <a:buNone/>
            </a:pPr>
            <a:r>
              <a:rPr lang="en-US" sz="1050" dirty="0">
                <a:solidFill>
                  <a:srgbClr val="1A1A2E"/>
                </a:solidFill>
                <a:latin typeface="Arial" pitchFamily="34" charset="0"/>
                <a:ea typeface="Arial" pitchFamily="34" charset="-122"/>
                <a:cs typeface="Arial" pitchFamily="34" charset="-120"/>
              </a:rPr>
              <a:t>Rides on C1 - closes with the merge  </a:t>
            </a:r>
            <a:pPr indent="0" marL="0">
              <a:buNone/>
            </a:pPr>
            <a:r>
              <a:rPr lang="en-US" sz="1050" b="1" dirty="0">
                <a:solidFill>
                  <a:srgbClr val="0066A7"/>
                </a:solidFill>
                <a:latin typeface="Arial" pitchFamily="34" charset="0"/>
                <a:ea typeface="Arial" pitchFamily="34" charset="-122"/>
                <a:cs typeface="Arial" pitchFamily="34" charset="-120"/>
              </a:rPr>
              <a:t>Product owner</a:t>
            </a:r>
            <a:endParaRPr lang="en-US" sz="1050" dirty="0"/>
          </a:p>
        </p:txBody>
      </p:sp>
      <p:sp>
        <p:nvSpPr>
          <p:cNvPr id="18" name="Shape 16"/>
          <p:cNvSpPr/>
          <p:nvPr/>
        </p:nvSpPr>
        <p:spPr>
          <a:xfrm>
            <a:off x="6492240" y="4480560"/>
            <a:ext cx="685800" cy="384048"/>
          </a:xfrm>
          <a:prstGeom prst="roundRect">
            <a:avLst>
              <a:gd name="adj" fmla="val 11905"/>
            </a:avLst>
          </a:prstGeom>
          <a:solidFill>
            <a:srgbClr val="C2410C"/>
          </a:solidFill>
          <a:ln/>
        </p:spPr>
      </p:sp>
      <p:sp>
        <p:nvSpPr>
          <p:cNvPr id="19" name="Text 17"/>
          <p:cNvSpPr/>
          <p:nvPr/>
        </p:nvSpPr>
        <p:spPr>
          <a:xfrm>
            <a:off x="6492240" y="4480560"/>
            <a:ext cx="685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Gate</a:t>
            </a:r>
            <a:endParaRPr lang="en-US" sz="1100" dirty="0"/>
          </a:p>
        </p:txBody>
      </p:sp>
      <p:sp>
        <p:nvSpPr>
          <p:cNvPr id="20" name="Text 18"/>
          <p:cNvSpPr/>
          <p:nvPr/>
        </p:nvSpPr>
        <p:spPr>
          <a:xfrm>
            <a:off x="7315200" y="4434840"/>
            <a:ext cx="4206240" cy="685800"/>
          </a:xfrm>
          <a:prstGeom prst="rect">
            <a:avLst/>
          </a:prstGeom>
          <a:noFill/>
          <a:ln/>
        </p:spPr>
        <p:txBody>
          <a:bodyPr wrap="square" lIns="0" tIns="0" rIns="0" bIns="0" rtlCol="0" anchor="t"/>
          <a:lstStyle/>
          <a:p>
            <a:pPr indent="0" marL="0">
              <a:buNone/>
            </a:pPr>
            <a:r>
              <a:rPr lang="en-US" sz="1050" dirty="0">
                <a:solidFill>
                  <a:srgbClr val="1A1A2E"/>
                </a:solidFill>
                <a:latin typeface="Arial" pitchFamily="34" charset="0"/>
                <a:ea typeface="Arial" pitchFamily="34" charset="-122"/>
                <a:cs typeface="Arial" pitchFamily="34" charset="-120"/>
              </a:rPr>
              <a:t>Office-IP allowlist on the UAT load balancer before any real-data rehearsal  </a:t>
            </a:r>
            <a:pPr indent="0" marL="0">
              <a:buNone/>
            </a:pPr>
            <a:r>
              <a:rPr lang="en-US" sz="1050" b="1" dirty="0">
                <a:solidFill>
                  <a:srgbClr val="0066A7"/>
                </a:solidFill>
                <a:latin typeface="Arial" pitchFamily="34" charset="0"/>
                <a:ea typeface="Arial" pitchFamily="34" charset="-122"/>
                <a:cs typeface="Arial" pitchFamily="34" charset="-120"/>
              </a:rPr>
              <a:t>IT / Cloud.in</a:t>
            </a:r>
            <a:endParaRPr lang="en-US" sz="1050" dirty="0"/>
          </a:p>
        </p:txBody>
      </p:sp>
      <p:sp>
        <p:nvSpPr>
          <p:cNvPr id="21" name="Text 19"/>
          <p:cNvSpPr/>
          <p:nvPr/>
        </p:nvSpPr>
        <p:spPr>
          <a:xfrm>
            <a:off x="6492240" y="5349240"/>
            <a:ext cx="4983480" cy="365760"/>
          </a:xfrm>
          <a:prstGeom prst="rect">
            <a:avLst/>
          </a:prstGeom>
          <a:noFill/>
          <a:ln/>
        </p:spPr>
        <p:txBody>
          <a:bodyPr wrap="square" lIns="0" tIns="0" rIns="0" bIns="0" rtlCol="0" anchor="ctr"/>
          <a:lstStyle/>
          <a:p>
            <a:pPr indent="0" marL="0">
              <a:buNone/>
            </a:pPr>
            <a:r>
              <a:rPr lang="en-US" sz="1050" i="1" dirty="0">
                <a:solidFill>
                  <a:srgbClr val="5A6070"/>
                </a:solidFill>
                <a:latin typeface="Arial" pitchFamily="34" charset="0"/>
                <a:ea typeface="Arial" pitchFamily="34" charset="-122"/>
                <a:cs typeface="Arial" pitchFamily="34" charset="-120"/>
              </a:rPr>
              <a:t>Audit verdict (3 Sep): CONDITIONAL PASS for UAT, BLOCK for production until these close.</a:t>
            </a:r>
            <a:endParaRPr lang="en-US" sz="1050" dirty="0"/>
          </a:p>
        </p:txBody>
      </p:sp>
      <p:sp>
        <p:nvSpPr>
          <p:cNvPr id="22" name="Text 20"/>
          <p:cNvSpPr/>
          <p:nvPr/>
        </p:nvSpPr>
        <p:spPr>
          <a:xfrm>
            <a:off x="548640" y="5989320"/>
            <a:ext cx="11064240" cy="411480"/>
          </a:xfrm>
          <a:prstGeom prst="rect">
            <a:avLst/>
          </a:prstGeom>
          <a:noFill/>
          <a:ln/>
        </p:spPr>
        <p:txBody>
          <a:bodyPr wrap="square" lIns="0" tIns="0" rIns="0" bIns="0" rtlCol="0" anchor="ctr"/>
          <a:lstStyle/>
          <a:p>
            <a:pPr indent="0" marL="0">
              <a:buNone/>
            </a:pPr>
            <a:r>
              <a:rPr lang="en-US" sz="1200" i="1" dirty="0">
                <a:solidFill>
                  <a:srgbClr val="0066A7"/>
                </a:solidFill>
                <a:latin typeface="Arial" pitchFamily="34" charset="0"/>
                <a:ea typeface="Arial" pitchFamily="34" charset="-122"/>
                <a:cs typeface="Arial" pitchFamily="34" charset="-120"/>
              </a:rPr>
              <a:t>Beyond fixes: the funded trust track (CERT-In pen-test, ISO 27001, SOC 2, 25k-user load test) is what turns "secure by our word" into buyer-grade evidence - direction approval requested today.</a:t>
            </a:r>
            <a:endParaRPr lang="en-US" sz="1200" dirty="0"/>
          </a:p>
        </p:txBody>
      </p:sp>
      <p:sp>
        <p:nvSpPr>
          <p:cNvPr id="23" name="Text 21"/>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24" name="Text 22"/>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355C"/>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A9CDE8"/>
                </a:solidFill>
                <a:latin typeface="Arial" pitchFamily="34" charset="0"/>
                <a:ea typeface="Arial" pitchFamily="34" charset="-122"/>
                <a:cs typeface="Arial" pitchFamily="34" charset="-120"/>
              </a:rPr>
              <a:t>SCALE AND DATA - WHAT IS REAL, WHAT IS TEST</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Hardened at production scale, running on test data only</a:t>
            </a:r>
            <a:endParaRPr lang="en-US" sz="2800" dirty="0"/>
          </a:p>
        </p:txBody>
      </p:sp>
      <p:sp>
        <p:nvSpPr>
          <p:cNvPr id="4" name="Shape 2"/>
          <p:cNvSpPr/>
          <p:nvPr/>
        </p:nvSpPr>
        <p:spPr>
          <a:xfrm>
            <a:off x="548640" y="1554480"/>
            <a:ext cx="3520440" cy="1965960"/>
          </a:xfrm>
          <a:prstGeom prst="roundRect">
            <a:avLst>
              <a:gd name="adj" fmla="val 3721"/>
            </a:avLst>
          </a:prstGeom>
          <a:solidFill>
            <a:srgbClr val="0A4D80"/>
          </a:solidFill>
          <a:ln w="9525">
            <a:solidFill>
              <a:srgbClr val="1C6EA8"/>
            </a:solidFill>
            <a:prstDash val="solid"/>
          </a:ln>
        </p:spPr>
      </p:sp>
      <p:sp>
        <p:nvSpPr>
          <p:cNvPr id="5" name="Shape 3"/>
          <p:cNvSpPr/>
          <p:nvPr/>
        </p:nvSpPr>
        <p:spPr>
          <a:xfrm>
            <a:off x="749808" y="1773936"/>
            <a:ext cx="457200" cy="457200"/>
          </a:xfrm>
          <a:prstGeom prst="ellipse">
            <a:avLst/>
          </a:prstGeom>
          <a:solidFill>
            <a:srgbClr val="0066A7"/>
          </a:solidFill>
          <a:ln/>
        </p:spPr>
      </p:sp>
      <p:pic>
        <p:nvPicPr>
          <p:cNvPr id="6" name="Image 0" descr="preencoded.png">    </p:cNvPr>
          <p:cNvPicPr>
            <a:picLocks noChangeAspect="1"/>
          </p:cNvPicPr>
          <p:nvPr/>
        </p:nvPicPr>
        <p:blipFill>
          <a:blip r:embed="rId1"/>
          <a:stretch>
            <a:fillRect/>
          </a:stretch>
        </p:blipFill>
        <p:spPr>
          <a:xfrm>
            <a:off x="868680" y="1892808"/>
            <a:ext cx="219456" cy="219456"/>
          </a:xfrm>
          <a:prstGeom prst="rect">
            <a:avLst/>
          </a:prstGeom>
        </p:spPr>
      </p:pic>
      <p:sp>
        <p:nvSpPr>
          <p:cNvPr id="7" name="Text 4"/>
          <p:cNvSpPr/>
          <p:nvPr/>
        </p:nvSpPr>
        <p:spPr>
          <a:xfrm>
            <a:off x="1371600" y="1682496"/>
            <a:ext cx="256032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2,871</a:t>
            </a:r>
            <a:endParaRPr lang="en-US" sz="3000" dirty="0"/>
          </a:p>
        </p:txBody>
      </p:sp>
      <p:sp>
        <p:nvSpPr>
          <p:cNvPr id="8" name="Text 5"/>
          <p:cNvSpPr/>
          <p:nvPr/>
        </p:nvSpPr>
        <p:spPr>
          <a:xfrm>
            <a:off x="768096" y="2450592"/>
            <a:ext cx="3108960" cy="1005840"/>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employee records in the production data copy the platform was hardened against (411 courses, 3 tenants)</a:t>
            </a:r>
            <a:endParaRPr lang="en-US" sz="1050" dirty="0"/>
          </a:p>
        </p:txBody>
      </p:sp>
      <p:sp>
        <p:nvSpPr>
          <p:cNvPr id="9" name="Shape 6"/>
          <p:cNvSpPr/>
          <p:nvPr/>
        </p:nvSpPr>
        <p:spPr>
          <a:xfrm>
            <a:off x="4297680" y="1554480"/>
            <a:ext cx="3520440" cy="1965960"/>
          </a:xfrm>
          <a:prstGeom prst="roundRect">
            <a:avLst>
              <a:gd name="adj" fmla="val 3721"/>
            </a:avLst>
          </a:prstGeom>
          <a:solidFill>
            <a:srgbClr val="0A4D80"/>
          </a:solidFill>
          <a:ln w="9525">
            <a:solidFill>
              <a:srgbClr val="1C6EA8"/>
            </a:solidFill>
            <a:prstDash val="solid"/>
          </a:ln>
        </p:spPr>
      </p:sp>
      <p:sp>
        <p:nvSpPr>
          <p:cNvPr id="10" name="Shape 7"/>
          <p:cNvSpPr/>
          <p:nvPr/>
        </p:nvSpPr>
        <p:spPr>
          <a:xfrm>
            <a:off x="4498848" y="1773936"/>
            <a:ext cx="457200" cy="457200"/>
          </a:xfrm>
          <a:prstGeom prst="ellipse">
            <a:avLst/>
          </a:prstGeom>
          <a:solidFill>
            <a:srgbClr val="0066A7"/>
          </a:solidFill>
          <a:ln/>
        </p:spPr>
      </p:sp>
      <p:pic>
        <p:nvPicPr>
          <p:cNvPr id="11" name="Image 1" descr="preencoded.png">    </p:cNvPr>
          <p:cNvPicPr>
            <a:picLocks noChangeAspect="1"/>
          </p:cNvPicPr>
          <p:nvPr/>
        </p:nvPicPr>
        <p:blipFill>
          <a:blip r:embed="rId2"/>
          <a:stretch>
            <a:fillRect/>
          </a:stretch>
        </p:blipFill>
        <p:spPr>
          <a:xfrm>
            <a:off x="4617720" y="1892808"/>
            <a:ext cx="219456" cy="219456"/>
          </a:xfrm>
          <a:prstGeom prst="rect">
            <a:avLst/>
          </a:prstGeom>
        </p:spPr>
      </p:pic>
      <p:sp>
        <p:nvSpPr>
          <p:cNvPr id="12" name="Text 8"/>
          <p:cNvSpPr/>
          <p:nvPr/>
        </p:nvSpPr>
        <p:spPr>
          <a:xfrm>
            <a:off x="5120640" y="1682496"/>
            <a:ext cx="256032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100 %</a:t>
            </a:r>
            <a:endParaRPr lang="en-US" sz="3000" dirty="0"/>
          </a:p>
        </p:txBody>
      </p:sp>
      <p:sp>
        <p:nvSpPr>
          <p:cNvPr id="13" name="Text 9"/>
          <p:cNvSpPr/>
          <p:nvPr/>
        </p:nvSpPr>
        <p:spPr>
          <a:xfrm>
            <a:off x="4517136" y="2450592"/>
            <a:ext cx="3108960" cy="1005840"/>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data parity in the local migration rehearsal - 32,248 completions, 11,415 certificates, 8,687 quiz attempts matched row for row</a:t>
            </a:r>
            <a:endParaRPr lang="en-US" sz="1050" dirty="0"/>
          </a:p>
        </p:txBody>
      </p:sp>
      <p:sp>
        <p:nvSpPr>
          <p:cNvPr id="14" name="Shape 10"/>
          <p:cNvSpPr/>
          <p:nvPr/>
        </p:nvSpPr>
        <p:spPr>
          <a:xfrm>
            <a:off x="8046720" y="1554480"/>
            <a:ext cx="3520440" cy="1965960"/>
          </a:xfrm>
          <a:prstGeom prst="roundRect">
            <a:avLst>
              <a:gd name="adj" fmla="val 3721"/>
            </a:avLst>
          </a:prstGeom>
          <a:solidFill>
            <a:srgbClr val="0A4D80"/>
          </a:solidFill>
          <a:ln w="9525">
            <a:solidFill>
              <a:srgbClr val="1C6EA8"/>
            </a:solidFill>
            <a:prstDash val="solid"/>
          </a:ln>
        </p:spPr>
      </p:sp>
      <p:sp>
        <p:nvSpPr>
          <p:cNvPr id="15" name="Shape 11"/>
          <p:cNvSpPr/>
          <p:nvPr/>
        </p:nvSpPr>
        <p:spPr>
          <a:xfrm>
            <a:off x="8247888" y="1773936"/>
            <a:ext cx="457200" cy="457200"/>
          </a:xfrm>
          <a:prstGeom prst="ellipse">
            <a:avLst/>
          </a:prstGeom>
          <a:solidFill>
            <a:srgbClr val="0066A7"/>
          </a:solidFill>
          <a:ln/>
        </p:spPr>
      </p:sp>
      <p:pic>
        <p:nvPicPr>
          <p:cNvPr id="16" name="Image 2" descr="preencoded.png">    </p:cNvPr>
          <p:cNvPicPr>
            <a:picLocks noChangeAspect="1"/>
          </p:cNvPicPr>
          <p:nvPr/>
        </p:nvPicPr>
        <p:blipFill>
          <a:blip r:embed="rId3"/>
          <a:stretch>
            <a:fillRect/>
          </a:stretch>
        </p:blipFill>
        <p:spPr>
          <a:xfrm>
            <a:off x="8366760" y="1892808"/>
            <a:ext cx="219456" cy="219456"/>
          </a:xfrm>
          <a:prstGeom prst="rect">
            <a:avLst/>
          </a:prstGeom>
        </p:spPr>
      </p:pic>
      <p:sp>
        <p:nvSpPr>
          <p:cNvPr id="17" name="Text 12"/>
          <p:cNvSpPr/>
          <p:nvPr/>
        </p:nvSpPr>
        <p:spPr>
          <a:xfrm>
            <a:off x="8869680" y="1682496"/>
            <a:ext cx="256032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13</a:t>
            </a:r>
            <a:endParaRPr lang="en-US" sz="3000" dirty="0"/>
          </a:p>
        </p:txBody>
      </p:sp>
      <p:sp>
        <p:nvSpPr>
          <p:cNvPr id="18" name="Text 13"/>
          <p:cNvSpPr/>
          <p:nvPr/>
        </p:nvSpPr>
        <p:spPr>
          <a:xfrm>
            <a:off x="8266176" y="2450592"/>
            <a:ext cx="3108960" cy="1005840"/>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test personas on UAT across 3 tenants, 14 seeded courses, learning paths, classrooms, an exam and a live poll</a:t>
            </a:r>
            <a:endParaRPr lang="en-US" sz="1050" dirty="0"/>
          </a:p>
        </p:txBody>
      </p:sp>
      <p:sp>
        <p:nvSpPr>
          <p:cNvPr id="19" name="Shape 14"/>
          <p:cNvSpPr/>
          <p:nvPr/>
        </p:nvSpPr>
        <p:spPr>
          <a:xfrm>
            <a:off x="548640" y="3749040"/>
            <a:ext cx="3520440" cy="1965960"/>
          </a:xfrm>
          <a:prstGeom prst="roundRect">
            <a:avLst>
              <a:gd name="adj" fmla="val 3721"/>
            </a:avLst>
          </a:prstGeom>
          <a:solidFill>
            <a:srgbClr val="0A4D80"/>
          </a:solidFill>
          <a:ln w="9525">
            <a:solidFill>
              <a:srgbClr val="1C6EA8"/>
            </a:solidFill>
            <a:prstDash val="solid"/>
          </a:ln>
        </p:spPr>
      </p:sp>
      <p:sp>
        <p:nvSpPr>
          <p:cNvPr id="20" name="Shape 15"/>
          <p:cNvSpPr/>
          <p:nvPr/>
        </p:nvSpPr>
        <p:spPr>
          <a:xfrm>
            <a:off x="749808" y="3968496"/>
            <a:ext cx="457200" cy="457200"/>
          </a:xfrm>
          <a:prstGeom prst="ellipse">
            <a:avLst/>
          </a:prstGeom>
          <a:solidFill>
            <a:srgbClr val="0066A7"/>
          </a:solidFill>
          <a:ln/>
        </p:spPr>
      </p:sp>
      <p:pic>
        <p:nvPicPr>
          <p:cNvPr id="21" name="Image 3" descr="preencoded.png">    </p:cNvPr>
          <p:cNvPicPr>
            <a:picLocks noChangeAspect="1"/>
          </p:cNvPicPr>
          <p:nvPr/>
        </p:nvPicPr>
        <p:blipFill>
          <a:blip r:embed="rId4"/>
          <a:stretch>
            <a:fillRect/>
          </a:stretch>
        </p:blipFill>
        <p:spPr>
          <a:xfrm>
            <a:off x="868680" y="4087368"/>
            <a:ext cx="219456" cy="219456"/>
          </a:xfrm>
          <a:prstGeom prst="rect">
            <a:avLst/>
          </a:prstGeom>
        </p:spPr>
      </p:pic>
      <p:sp>
        <p:nvSpPr>
          <p:cNvPr id="22" name="Text 16"/>
          <p:cNvSpPr/>
          <p:nvPr/>
        </p:nvSpPr>
        <p:spPr>
          <a:xfrm>
            <a:off x="1371600" y="3877056"/>
            <a:ext cx="256032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0</a:t>
            </a:r>
            <a:endParaRPr lang="en-US" sz="3000" dirty="0"/>
          </a:p>
        </p:txBody>
      </p:sp>
      <p:sp>
        <p:nvSpPr>
          <p:cNvPr id="23" name="Text 17"/>
          <p:cNvSpPr/>
          <p:nvPr/>
        </p:nvSpPr>
        <p:spPr>
          <a:xfrm>
            <a:off x="768096" y="4645152"/>
            <a:ext cx="3108960" cy="1005840"/>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errors under a 20-user load baseline on UAT; p95 under 1 second; backup + restore drill in 44 seconds</a:t>
            </a:r>
            <a:endParaRPr lang="en-US" sz="1050" dirty="0"/>
          </a:p>
        </p:txBody>
      </p:sp>
      <p:sp>
        <p:nvSpPr>
          <p:cNvPr id="24" name="Shape 18"/>
          <p:cNvSpPr/>
          <p:nvPr/>
        </p:nvSpPr>
        <p:spPr>
          <a:xfrm>
            <a:off x="4297680" y="3749040"/>
            <a:ext cx="3520440" cy="1965960"/>
          </a:xfrm>
          <a:prstGeom prst="roundRect">
            <a:avLst>
              <a:gd name="adj" fmla="val 3721"/>
            </a:avLst>
          </a:prstGeom>
          <a:solidFill>
            <a:srgbClr val="0A4D80"/>
          </a:solidFill>
          <a:ln w="9525">
            <a:solidFill>
              <a:srgbClr val="1C6EA8"/>
            </a:solidFill>
            <a:prstDash val="solid"/>
          </a:ln>
        </p:spPr>
      </p:sp>
      <p:sp>
        <p:nvSpPr>
          <p:cNvPr id="25" name="Shape 19"/>
          <p:cNvSpPr/>
          <p:nvPr/>
        </p:nvSpPr>
        <p:spPr>
          <a:xfrm>
            <a:off x="4498848" y="3968496"/>
            <a:ext cx="457200" cy="457200"/>
          </a:xfrm>
          <a:prstGeom prst="ellipse">
            <a:avLst/>
          </a:prstGeom>
          <a:solidFill>
            <a:srgbClr val="0066A7"/>
          </a:solidFill>
          <a:ln/>
        </p:spPr>
      </p:sp>
      <p:pic>
        <p:nvPicPr>
          <p:cNvPr id="26" name="Image 4" descr="preencoded.png">    </p:cNvPr>
          <p:cNvPicPr>
            <a:picLocks noChangeAspect="1"/>
          </p:cNvPicPr>
          <p:nvPr/>
        </p:nvPicPr>
        <p:blipFill>
          <a:blip r:embed="rId5"/>
          <a:stretch>
            <a:fillRect/>
          </a:stretch>
        </p:blipFill>
        <p:spPr>
          <a:xfrm>
            <a:off x="4617720" y="4087368"/>
            <a:ext cx="219456" cy="219456"/>
          </a:xfrm>
          <a:prstGeom prst="rect">
            <a:avLst/>
          </a:prstGeom>
        </p:spPr>
      </p:pic>
      <p:sp>
        <p:nvSpPr>
          <p:cNvPr id="27" name="Text 20"/>
          <p:cNvSpPr/>
          <p:nvPr/>
        </p:nvSpPr>
        <p:spPr>
          <a:xfrm>
            <a:off x="5120640" y="3877056"/>
            <a:ext cx="256032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2,057</a:t>
            </a:r>
            <a:endParaRPr lang="en-US" sz="3000" dirty="0"/>
          </a:p>
        </p:txBody>
      </p:sp>
      <p:sp>
        <p:nvSpPr>
          <p:cNvPr id="28" name="Text 21"/>
          <p:cNvSpPr/>
          <p:nvPr/>
        </p:nvSpPr>
        <p:spPr>
          <a:xfrm>
            <a:off x="4517136" y="4645152"/>
            <a:ext cx="3108960" cy="1005840"/>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upgrade steps in the 5.1 → 5.2 data migration, rehearsed error-free - the one real transform on cutover day</a:t>
            </a:r>
            <a:endParaRPr lang="en-US" sz="1050" dirty="0"/>
          </a:p>
        </p:txBody>
      </p:sp>
      <p:sp>
        <p:nvSpPr>
          <p:cNvPr id="29" name="Shape 22"/>
          <p:cNvSpPr/>
          <p:nvPr/>
        </p:nvSpPr>
        <p:spPr>
          <a:xfrm>
            <a:off x="8046720" y="3749040"/>
            <a:ext cx="3520440" cy="1965960"/>
          </a:xfrm>
          <a:prstGeom prst="roundRect">
            <a:avLst>
              <a:gd name="adj" fmla="val 3721"/>
            </a:avLst>
          </a:prstGeom>
          <a:solidFill>
            <a:srgbClr val="0A4D80"/>
          </a:solidFill>
          <a:ln w="9525">
            <a:solidFill>
              <a:srgbClr val="1C6EA8"/>
            </a:solidFill>
            <a:prstDash val="solid"/>
          </a:ln>
        </p:spPr>
      </p:sp>
      <p:sp>
        <p:nvSpPr>
          <p:cNvPr id="30" name="Shape 23"/>
          <p:cNvSpPr/>
          <p:nvPr/>
        </p:nvSpPr>
        <p:spPr>
          <a:xfrm>
            <a:off x="8247888" y="3968496"/>
            <a:ext cx="457200" cy="457200"/>
          </a:xfrm>
          <a:prstGeom prst="ellipse">
            <a:avLst/>
          </a:prstGeom>
          <a:solidFill>
            <a:srgbClr val="0066A7"/>
          </a:solidFill>
          <a:ln/>
        </p:spPr>
      </p:sp>
      <p:pic>
        <p:nvPicPr>
          <p:cNvPr id="31" name="Image 5" descr="preencoded.png">    </p:cNvPr>
          <p:cNvPicPr>
            <a:picLocks noChangeAspect="1"/>
          </p:cNvPicPr>
          <p:nvPr/>
        </p:nvPicPr>
        <p:blipFill>
          <a:blip r:embed="rId6"/>
          <a:stretch>
            <a:fillRect/>
          </a:stretch>
        </p:blipFill>
        <p:spPr>
          <a:xfrm>
            <a:off x="8366760" y="4087368"/>
            <a:ext cx="219456" cy="219456"/>
          </a:xfrm>
          <a:prstGeom prst="rect">
            <a:avLst/>
          </a:prstGeom>
        </p:spPr>
      </p:pic>
      <p:sp>
        <p:nvSpPr>
          <p:cNvPr id="32" name="Text 24"/>
          <p:cNvSpPr/>
          <p:nvPr/>
        </p:nvSpPr>
        <p:spPr>
          <a:xfrm>
            <a:off x="8869680" y="3877056"/>
            <a:ext cx="256032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3,500+</a:t>
            </a:r>
            <a:endParaRPr lang="en-US" sz="3000" dirty="0"/>
          </a:p>
        </p:txBody>
      </p:sp>
      <p:sp>
        <p:nvSpPr>
          <p:cNvPr id="33" name="Text 25"/>
          <p:cNvSpPr/>
          <p:nvPr/>
        </p:nvSpPr>
        <p:spPr>
          <a:xfrm>
            <a:off x="8266176" y="4645152"/>
            <a:ext cx="3108960" cy="1005840"/>
          </a:xfrm>
          <a:prstGeom prst="rect">
            <a:avLst/>
          </a:prstGeom>
          <a:noFill/>
          <a:ln/>
        </p:spPr>
        <p:txBody>
          <a:bodyPr wrap="square" lIns="0" tIns="0" rIns="0" bIns="0" rtlCol="0" anchor="t"/>
          <a:lstStyle/>
          <a:p>
            <a:pPr indent="0" marL="0">
              <a:buNone/>
            </a:pPr>
            <a:r>
              <a:rPr lang="en-US" sz="1050" dirty="0">
                <a:solidFill>
                  <a:srgbClr val="CADCFC"/>
                </a:solidFill>
                <a:latin typeface="Arial" pitchFamily="34" charset="0"/>
                <a:ea typeface="Arial" pitchFamily="34" charset="-122"/>
                <a:cs typeface="Arial" pitchFamily="34" charset="-120"/>
              </a:rPr>
              <a:t>learners on the live airpay.academy today - untouched, still on the previous platform until the rehearsal passes</a:t>
            </a:r>
            <a:endParaRPr lang="en-US" sz="1050" dirty="0"/>
          </a:p>
        </p:txBody>
      </p:sp>
      <p:sp>
        <p:nvSpPr>
          <p:cNvPr id="34" name="Text 26"/>
          <p:cNvSpPr/>
          <p:nvPr/>
        </p:nvSpPr>
        <p:spPr>
          <a:xfrm>
            <a:off x="548640" y="5943600"/>
            <a:ext cx="11064240" cy="457200"/>
          </a:xfrm>
          <a:prstGeom prst="rect">
            <a:avLst/>
          </a:prstGeom>
          <a:noFill/>
          <a:ln/>
        </p:spPr>
        <p:txBody>
          <a:bodyPr wrap="square" lIns="0" tIns="0" rIns="0" bIns="0" rtlCol="0" anchor="ctr"/>
          <a:lstStyle/>
          <a:p>
            <a:pPr indent="0" marL="0">
              <a:buNone/>
            </a:pPr>
            <a:r>
              <a:rPr lang="en-US" sz="1150" i="1" dirty="0">
                <a:solidFill>
                  <a:srgbClr val="A9CDE8"/>
                </a:solidFill>
                <a:latin typeface="Arial" pitchFamily="34" charset="0"/>
                <a:ea typeface="Arial" pitchFamily="34" charset="-122"/>
                <a:cs typeface="Arial" pitchFamily="34" charset="-120"/>
              </a:rPr>
              <a:t>Two environments, one rule: the development copy holds a test import of production data; UAT holds fake personas. No real learner has used Sentientia yet.</a:t>
            </a:r>
            <a:endParaRPr lang="en-US" sz="1150" dirty="0"/>
          </a:p>
        </p:txBody>
      </p:sp>
      <p:sp>
        <p:nvSpPr>
          <p:cNvPr id="35" name="Text 27"/>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7FA8C9"/>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36" name="Text 28"/>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7FA8C9"/>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ONE PLATFORM, MANY ORGANISATIONS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Three tenants isolated; a second customer is a config task</a:t>
            </a:r>
            <a:endParaRPr lang="en-US" sz="2800" dirty="0"/>
          </a:p>
        </p:txBody>
      </p:sp>
      <p:sp>
        <p:nvSpPr>
          <p:cNvPr id="4" name="Shape 2"/>
          <p:cNvSpPr/>
          <p:nvPr/>
        </p:nvSpPr>
        <p:spPr>
          <a:xfrm>
            <a:off x="548640" y="1463040"/>
            <a:ext cx="3520440" cy="457200"/>
          </a:xfrm>
          <a:prstGeom prst="roundRect">
            <a:avLst>
              <a:gd name="adj" fmla="val 12000"/>
            </a:avLst>
          </a:prstGeom>
          <a:solidFill>
            <a:srgbClr val="0066A7"/>
          </a:solidFill>
          <a:ln/>
        </p:spPr>
      </p:sp>
      <p:sp>
        <p:nvSpPr>
          <p:cNvPr id="5" name="Text 3"/>
          <p:cNvSpPr/>
          <p:nvPr/>
        </p:nvSpPr>
        <p:spPr>
          <a:xfrm>
            <a:off x="548640" y="1463040"/>
            <a:ext cx="3520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Airpay internal  (/1)</a:t>
            </a:r>
            <a:endParaRPr lang="en-US" sz="1250" dirty="0"/>
          </a:p>
        </p:txBody>
      </p:sp>
      <p:sp>
        <p:nvSpPr>
          <p:cNvPr id="6" name="Shape 4"/>
          <p:cNvSpPr/>
          <p:nvPr/>
        </p:nvSpPr>
        <p:spPr>
          <a:xfrm>
            <a:off x="548640" y="2057400"/>
            <a:ext cx="3520440" cy="1417320"/>
          </a:xfrm>
          <a:prstGeom prst="roundRect">
            <a:avLst>
              <a:gd name="adj" fmla="val 4516"/>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7" name="Text 5"/>
          <p:cNvSpPr/>
          <p:nvPr/>
        </p:nvSpPr>
        <p:spPr>
          <a:xfrm>
            <a:off x="713232" y="2148840"/>
            <a:ext cx="3200400" cy="1234440"/>
          </a:xfrm>
          <a:prstGeom prst="rect">
            <a:avLst/>
          </a:prstGeom>
          <a:noFill/>
          <a:ln/>
        </p:spPr>
        <p:txBody>
          <a:bodyPr wrap="square" lIns="0" tIns="0" rIns="0" bIns="0" rtlCol="0" anchor="t"/>
          <a:lstStyle/>
          <a:p>
            <a:pPr indent="0" marL="0">
              <a:buNone/>
            </a:pPr>
            <a:r>
              <a:rPr lang="en-US" sz="1050" dirty="0">
                <a:solidFill>
                  <a:srgbClr val="5A6070"/>
                </a:solidFill>
                <a:latin typeface="Arial" pitchFamily="34" charset="0"/>
                <a:ea typeface="Arial" pitchFamily="34" charset="-122"/>
                <a:cs typeface="Arial" pitchFamily="34" charset="-120"/>
              </a:rPr>
              <a:t>HRMS-synced employees, supervisor hierarchy, mandatory compliance. L&amp;D admin sees 9 users, 6 courses on UAT - and only those.</a:t>
            </a:r>
            <a:endParaRPr lang="en-US" sz="1050" dirty="0"/>
          </a:p>
        </p:txBody>
      </p:sp>
      <p:sp>
        <p:nvSpPr>
          <p:cNvPr id="8" name="Shape 6"/>
          <p:cNvSpPr/>
          <p:nvPr/>
        </p:nvSpPr>
        <p:spPr>
          <a:xfrm>
            <a:off x="4297680" y="1463040"/>
            <a:ext cx="3520440" cy="457200"/>
          </a:xfrm>
          <a:prstGeom prst="roundRect">
            <a:avLst>
              <a:gd name="adj" fmla="val 12000"/>
            </a:avLst>
          </a:prstGeom>
          <a:solidFill>
            <a:srgbClr val="1985DD"/>
          </a:solidFill>
          <a:ln/>
        </p:spPr>
      </p:sp>
      <p:sp>
        <p:nvSpPr>
          <p:cNvPr id="9" name="Text 7"/>
          <p:cNvSpPr/>
          <p:nvPr/>
        </p:nvSpPr>
        <p:spPr>
          <a:xfrm>
            <a:off x="4297680" y="1463040"/>
            <a:ext cx="3520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Public  (/77)</a:t>
            </a:r>
            <a:endParaRPr lang="en-US" sz="1250" dirty="0"/>
          </a:p>
        </p:txBody>
      </p:sp>
      <p:sp>
        <p:nvSpPr>
          <p:cNvPr id="10" name="Shape 8"/>
          <p:cNvSpPr/>
          <p:nvPr/>
        </p:nvSpPr>
        <p:spPr>
          <a:xfrm>
            <a:off x="4297680" y="2057400"/>
            <a:ext cx="3520440" cy="1417320"/>
          </a:xfrm>
          <a:prstGeom prst="roundRect">
            <a:avLst>
              <a:gd name="adj" fmla="val 4516"/>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1" name="Text 9"/>
          <p:cNvSpPr/>
          <p:nvPr/>
        </p:nvSpPr>
        <p:spPr>
          <a:xfrm>
            <a:off x="4462272" y="2148840"/>
            <a:ext cx="3200400" cy="1234440"/>
          </a:xfrm>
          <a:prstGeom prst="rect">
            <a:avLst/>
          </a:prstGeom>
          <a:noFill/>
          <a:ln/>
        </p:spPr>
        <p:txBody>
          <a:bodyPr wrap="square" lIns="0" tIns="0" rIns="0" bIns="0" rtlCol="0" anchor="t"/>
          <a:lstStyle/>
          <a:p>
            <a:pPr indent="0" marL="0">
              <a:buNone/>
            </a:pPr>
            <a:r>
              <a:rPr lang="en-US" sz="1050" dirty="0">
                <a:solidFill>
                  <a:srgbClr val="5A6070"/>
                </a:solidFill>
                <a:latin typeface="Arial" pitchFamily="34" charset="0"/>
                <a:ea typeface="Arial" pitchFamily="34" charset="-122"/>
                <a:cs typeface="Arial" pitchFamily="34" charset="-120"/>
              </a:rPr>
              <a:t>Self-signup storefront with cart and the Airpay payment gateway (checkout stops at "Payment coming soon" on UAT).</a:t>
            </a:r>
            <a:endParaRPr lang="en-US" sz="1050" dirty="0"/>
          </a:p>
        </p:txBody>
      </p:sp>
      <p:sp>
        <p:nvSpPr>
          <p:cNvPr id="12" name="Shape 10"/>
          <p:cNvSpPr/>
          <p:nvPr/>
        </p:nvSpPr>
        <p:spPr>
          <a:xfrm>
            <a:off x="8046720" y="1463040"/>
            <a:ext cx="3520440" cy="457200"/>
          </a:xfrm>
          <a:prstGeom prst="roundRect">
            <a:avLst>
              <a:gd name="adj" fmla="val 12000"/>
            </a:avLst>
          </a:prstGeom>
          <a:solidFill>
            <a:srgbClr val="0A4D80"/>
          </a:solidFill>
          <a:ln/>
        </p:spPr>
      </p:sp>
      <p:sp>
        <p:nvSpPr>
          <p:cNvPr id="13" name="Text 11"/>
          <p:cNvSpPr/>
          <p:nvPr/>
        </p:nvSpPr>
        <p:spPr>
          <a:xfrm>
            <a:off x="8046720" y="1463040"/>
            <a:ext cx="3520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ZEEA Mafunzo, Tanzania  (/177)</a:t>
            </a:r>
            <a:endParaRPr lang="en-US" sz="1250" dirty="0"/>
          </a:p>
        </p:txBody>
      </p:sp>
      <p:sp>
        <p:nvSpPr>
          <p:cNvPr id="14" name="Shape 12"/>
          <p:cNvSpPr/>
          <p:nvPr/>
        </p:nvSpPr>
        <p:spPr>
          <a:xfrm>
            <a:off x="8046720" y="2057400"/>
            <a:ext cx="3520440" cy="1417320"/>
          </a:xfrm>
          <a:prstGeom prst="roundRect">
            <a:avLst>
              <a:gd name="adj" fmla="val 4516"/>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5" name="Text 13"/>
          <p:cNvSpPr/>
          <p:nvPr/>
        </p:nvSpPr>
        <p:spPr>
          <a:xfrm>
            <a:off x="8211312" y="2148840"/>
            <a:ext cx="3200400" cy="1234440"/>
          </a:xfrm>
          <a:prstGeom prst="rect">
            <a:avLst/>
          </a:prstGeom>
          <a:noFill/>
          <a:ln/>
        </p:spPr>
        <p:txBody>
          <a:bodyPr wrap="square" lIns="0" tIns="0" rIns="0" bIns="0" rtlCol="0" anchor="t"/>
          <a:lstStyle/>
          <a:p>
            <a:pPr indent="0" marL="0">
              <a:buNone/>
            </a:pPr>
            <a:r>
              <a:rPr lang="en-US" sz="1050" dirty="0">
                <a:solidFill>
                  <a:srgbClr val="5A6070"/>
                </a:solidFill>
                <a:latin typeface="Arial" pitchFamily="34" charset="0"/>
                <a:ea typeface="Arial" pitchFamily="34" charset="-122"/>
                <a:cs typeface="Arial" pitchFamily="34" charset="-120"/>
              </a:rPr>
              <a:t>Partner tenant in Swahili; its admin sees 2 users, 4 courses and its own compliance course - nothing of Airpay's.</a:t>
            </a:r>
            <a:endParaRPr lang="en-US" sz="1050" dirty="0"/>
          </a:p>
        </p:txBody>
      </p:sp>
      <p:sp>
        <p:nvSpPr>
          <p:cNvPr id="16" name="Shape 14"/>
          <p:cNvSpPr/>
          <p:nvPr/>
        </p:nvSpPr>
        <p:spPr>
          <a:xfrm>
            <a:off x="548640" y="3703320"/>
            <a:ext cx="11091672" cy="2103120"/>
          </a:xfrm>
          <a:prstGeom prst="roundRect">
            <a:avLst>
              <a:gd name="adj" fmla="val 3043"/>
            </a:avLst>
          </a:prstGeom>
          <a:solidFill>
            <a:srgbClr val="E8F2F9"/>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7" name="Shape 15"/>
          <p:cNvSpPr/>
          <p:nvPr/>
        </p:nvSpPr>
        <p:spPr>
          <a:xfrm>
            <a:off x="749808" y="3931920"/>
            <a:ext cx="457200" cy="457200"/>
          </a:xfrm>
          <a:prstGeom prst="ellipse">
            <a:avLst/>
          </a:prstGeom>
          <a:solidFill>
            <a:srgbClr val="0066A7"/>
          </a:solidFill>
          <a:ln/>
        </p:spPr>
      </p:sp>
      <p:pic>
        <p:nvPicPr>
          <p:cNvPr id="18" name="Image 0" descr="preencoded.png">    </p:cNvPr>
          <p:cNvPicPr>
            <a:picLocks noChangeAspect="1"/>
          </p:cNvPicPr>
          <p:nvPr/>
        </p:nvPicPr>
        <p:blipFill>
          <a:blip r:embed="rId1"/>
          <a:stretch>
            <a:fillRect/>
          </a:stretch>
        </p:blipFill>
        <p:spPr>
          <a:xfrm>
            <a:off x="868680" y="4050792"/>
            <a:ext cx="219456" cy="219456"/>
          </a:xfrm>
          <a:prstGeom prst="rect">
            <a:avLst/>
          </a:prstGeom>
        </p:spPr>
      </p:pic>
      <p:sp>
        <p:nvSpPr>
          <p:cNvPr id="19" name="Text 16"/>
          <p:cNvSpPr/>
          <p:nvPr/>
        </p:nvSpPr>
        <p:spPr>
          <a:xfrm>
            <a:off x="1371600" y="3886200"/>
            <a:ext cx="9875520" cy="45720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White-label by architecture</a:t>
            </a:r>
            <a:endParaRPr lang="en-US" sz="1400" dirty="0"/>
          </a:p>
        </p:txBody>
      </p:sp>
      <p:sp>
        <p:nvSpPr>
          <p:cNvPr id="20" name="Text 17"/>
          <p:cNvSpPr/>
          <p:nvPr/>
        </p:nvSpPr>
        <p:spPr>
          <a:xfrm>
            <a:off x="1371600" y="4389120"/>
            <a:ext cx="9966960" cy="13716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5A6070"/>
                </a:solidFill>
                <a:latin typeface="Arial" pitchFamily="34" charset="0"/>
                <a:ea typeface="Arial" pitchFamily="34" charset="-122"/>
                <a:cs typeface="Arial" pitchFamily="34" charset="-120"/>
              </a:rPr>
              <a:t>Customer registry demonstrated in August: a fictional second customer ("Meridian Financial Services") resolves end to end with its own feature flags and isolation</a:t>
            </a:r>
            <a:endParaRPr lang="en-US" sz="1100" dirty="0"/>
          </a:p>
          <a:p>
            <a:pPr marL="342900" indent="-342900">
              <a:spcAft>
                <a:spcPts val="600"/>
              </a:spcAft>
              <a:buSzPct val="100000"/>
              <a:buChar char="•"/>
            </a:pPr>
            <a:r>
              <a:rPr lang="en-US" sz="1100" dirty="0">
                <a:solidFill>
                  <a:srgbClr val="5A6070"/>
                </a:solidFill>
                <a:latin typeface="Arial" pitchFamily="34" charset="0"/>
                <a:ea typeface="Arial" pitchFamily="34" charset="-122"/>
                <a:cs typeface="Arial" pitchFamily="34" charset="-120"/>
              </a:rPr>
              <a:t>Branding, legal footer and every customer-name string resolve from configuration - the Airpay private-and-confidential notice is one such string</a:t>
            </a:r>
            <a:endParaRPr lang="en-US" sz="1100" dirty="0"/>
          </a:p>
          <a:p>
            <a:pPr marL="342900" indent="-342900">
              <a:spcAft>
                <a:spcPts val="600"/>
              </a:spcAft>
              <a:buSzPct val="100000"/>
              <a:buChar char="•"/>
            </a:pPr>
            <a:r>
              <a:rPr lang="en-US" sz="1100" dirty="0">
                <a:solidFill>
                  <a:srgbClr val="5A6070"/>
                </a:solidFill>
                <a:latin typeface="Arial" pitchFamily="34" charset="0"/>
                <a:ea typeface="Arial" pitchFamily="34" charset="-122"/>
                <a:cs typeface="Arial" pitchFamily="34" charset="-120"/>
              </a:rPr>
              <a:t>Honest caveat: the multi-customer layer is early-stage - production keeps customer #1 hard-wired until a second customer is signed; the isolation that matters today is tenant-level, and that is verified</a:t>
            </a:r>
            <a:endParaRPr lang="en-US" sz="1100" dirty="0"/>
          </a:p>
        </p:txBody>
      </p:sp>
      <p:sp>
        <p:nvSpPr>
          <p:cNvPr id="21" name="Text 18"/>
          <p:cNvSpPr/>
          <p:nvPr/>
        </p:nvSpPr>
        <p:spPr>
          <a:xfrm>
            <a:off x="548640" y="5989320"/>
            <a:ext cx="11064240" cy="411480"/>
          </a:xfrm>
          <a:prstGeom prst="rect">
            <a:avLst/>
          </a:prstGeom>
          <a:noFill/>
          <a:ln/>
        </p:spPr>
        <p:txBody>
          <a:bodyPr wrap="square" lIns="0" tIns="0" rIns="0" bIns="0" rtlCol="0" anchor="ctr"/>
          <a:lstStyle/>
          <a:p>
            <a:pPr indent="0" marL="0">
              <a:buNone/>
            </a:pPr>
            <a:r>
              <a:rPr lang="en-US" sz="1200" i="1" dirty="0">
                <a:solidFill>
                  <a:srgbClr val="0066A7"/>
                </a:solidFill>
                <a:latin typeface="Arial" pitchFamily="34" charset="0"/>
                <a:ea typeface="Arial" pitchFamily="34" charset="-122"/>
                <a:cs typeface="Arial" pitchFamily="34" charset="-120"/>
              </a:rPr>
              <a:t>This is the growth option: the same build that serves Airpay can be offered to other enterprises as a hosted, managed platform.</a:t>
            </a:r>
            <a:endParaRPr lang="en-US" sz="1200" dirty="0"/>
          </a:p>
        </p:txBody>
      </p:sp>
      <p:sp>
        <p:nvSpPr>
          <p:cNvPr id="22" name="Text 19"/>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23" name="Text 20"/>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ROADMAP (ADR-028, SIGNED 4 AUG)</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Two tracks in parallel; cutover is its own gated path</a:t>
            </a:r>
            <a:endParaRPr lang="en-US" sz="2800" dirty="0"/>
          </a:p>
        </p:txBody>
      </p:sp>
      <p:sp>
        <p:nvSpPr>
          <p:cNvPr id="4" name="Shape 2"/>
          <p:cNvSpPr/>
          <p:nvPr/>
        </p:nvSpPr>
        <p:spPr>
          <a:xfrm>
            <a:off x="548640" y="1463040"/>
            <a:ext cx="3520440" cy="457200"/>
          </a:xfrm>
          <a:prstGeom prst="roundRect">
            <a:avLst>
              <a:gd name="adj" fmla="val 12000"/>
            </a:avLst>
          </a:prstGeom>
          <a:solidFill>
            <a:srgbClr val="ED692B"/>
          </a:solidFill>
          <a:ln/>
        </p:spPr>
      </p:sp>
      <p:sp>
        <p:nvSpPr>
          <p:cNvPr id="5" name="Text 3"/>
          <p:cNvSpPr/>
          <p:nvPr/>
        </p:nvSpPr>
        <p:spPr>
          <a:xfrm>
            <a:off x="548640" y="1463040"/>
            <a:ext cx="3520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TRUST TRACK</a:t>
            </a:r>
            <a:endParaRPr lang="en-US" sz="1250" dirty="0"/>
          </a:p>
        </p:txBody>
      </p:sp>
      <p:sp>
        <p:nvSpPr>
          <p:cNvPr id="6" name="Shape 4"/>
          <p:cNvSpPr/>
          <p:nvPr/>
        </p:nvSpPr>
        <p:spPr>
          <a:xfrm>
            <a:off x="548640" y="2057400"/>
            <a:ext cx="3520440" cy="3794760"/>
          </a:xfrm>
          <a:prstGeom prst="roundRect">
            <a:avLst>
              <a:gd name="adj" fmla="val 181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7" name="Text 5"/>
          <p:cNvSpPr/>
          <p:nvPr/>
        </p:nvSpPr>
        <p:spPr>
          <a:xfrm>
            <a:off x="713232" y="2194560"/>
            <a:ext cx="3200400" cy="356616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Identity pack: Entra SSO + MFA configuration ready - execute when IT registers the app</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CERT-In empanelled penetration test, then ISO 27001 gap closure and Stage 1</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SOC 2 Type II observation window for global buyers</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25k-user load test tiers - published scale proof</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Status: funded in principle (envelope ₹80-120 lakh; spend annex ₹52-109 lakh) - approval pending</a:t>
            </a:r>
            <a:endParaRPr lang="en-US" sz="1150" dirty="0"/>
          </a:p>
        </p:txBody>
      </p:sp>
      <p:sp>
        <p:nvSpPr>
          <p:cNvPr id="8" name="Shape 6"/>
          <p:cNvSpPr/>
          <p:nvPr/>
        </p:nvSpPr>
        <p:spPr>
          <a:xfrm>
            <a:off x="4297680" y="1463040"/>
            <a:ext cx="3520440" cy="457200"/>
          </a:xfrm>
          <a:prstGeom prst="roundRect">
            <a:avLst>
              <a:gd name="adj" fmla="val 12000"/>
            </a:avLst>
          </a:prstGeom>
          <a:solidFill>
            <a:srgbClr val="0066A7"/>
          </a:solidFill>
          <a:ln/>
        </p:spPr>
      </p:sp>
      <p:sp>
        <p:nvSpPr>
          <p:cNvPr id="9" name="Text 7"/>
          <p:cNvSpPr/>
          <p:nvPr/>
        </p:nvSpPr>
        <p:spPr>
          <a:xfrm>
            <a:off x="4297680" y="1463040"/>
            <a:ext cx="3520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PRODUCT TRACK</a:t>
            </a:r>
            <a:endParaRPr lang="en-US" sz="1250" dirty="0"/>
          </a:p>
        </p:txBody>
      </p:sp>
      <p:sp>
        <p:nvSpPr>
          <p:cNvPr id="10" name="Shape 8"/>
          <p:cNvSpPr/>
          <p:nvPr/>
        </p:nvSpPr>
        <p:spPr>
          <a:xfrm>
            <a:off x="4297680" y="2057400"/>
            <a:ext cx="3520440" cy="3794760"/>
          </a:xfrm>
          <a:prstGeom prst="roundRect">
            <a:avLst>
              <a:gd name="adj" fmla="val 181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1" name="Text 9"/>
          <p:cNvSpPr/>
          <p:nvPr/>
        </p:nvSpPr>
        <p:spPr>
          <a:xfrm>
            <a:off x="4462272" y="2194560"/>
            <a:ext cx="3200400" cy="356616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Done: customer registry (2.1), skills-first home (2.2), SCIM 2.0 + webhooks (2.4), KeKa hardening</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Blocked: live AI (2.3) - six features run in mock mode until the monthly cap and API key exist</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Next: engagement loop (2.5), marketplace connectors Go1 + Coursera (2.6), Indic text-to-speech evaluation (2.7)</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Funded: native mobile app (Capacitor) on the REST v1 surface; PWA hardened meanwhile</a:t>
            </a:r>
            <a:endParaRPr lang="en-US" sz="1150" dirty="0"/>
          </a:p>
        </p:txBody>
      </p:sp>
      <p:sp>
        <p:nvSpPr>
          <p:cNvPr id="12" name="Shape 10"/>
          <p:cNvSpPr/>
          <p:nvPr/>
        </p:nvSpPr>
        <p:spPr>
          <a:xfrm>
            <a:off x="8046720" y="1463040"/>
            <a:ext cx="3520440" cy="457200"/>
          </a:xfrm>
          <a:prstGeom prst="roundRect">
            <a:avLst>
              <a:gd name="adj" fmla="val 12000"/>
            </a:avLst>
          </a:prstGeom>
          <a:solidFill>
            <a:srgbClr val="0A4D80"/>
          </a:solidFill>
          <a:ln/>
        </p:spPr>
      </p:sp>
      <p:sp>
        <p:nvSpPr>
          <p:cNvPr id="13" name="Text 11"/>
          <p:cNvSpPr/>
          <p:nvPr/>
        </p:nvSpPr>
        <p:spPr>
          <a:xfrm>
            <a:off x="8046720" y="1463040"/>
            <a:ext cx="3520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CUTOVER PATH</a:t>
            </a:r>
            <a:endParaRPr lang="en-US" sz="1250" dirty="0"/>
          </a:p>
        </p:txBody>
      </p:sp>
      <p:sp>
        <p:nvSpPr>
          <p:cNvPr id="14" name="Shape 12"/>
          <p:cNvSpPr/>
          <p:nvPr/>
        </p:nvSpPr>
        <p:spPr>
          <a:xfrm>
            <a:off x="8046720" y="2057400"/>
            <a:ext cx="3520440" cy="3794760"/>
          </a:xfrm>
          <a:prstGeom prst="roundRect">
            <a:avLst>
              <a:gd name="adj" fmla="val 181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5" name="Text 13"/>
          <p:cNvSpPr/>
          <p:nvPr/>
        </p:nvSpPr>
        <p:spPr>
          <a:xfrm>
            <a:off x="8211312" y="2194560"/>
            <a:ext cx="3200400" cy="3566160"/>
          </a:xfrm>
          <a:prstGeom prst="rect">
            <a:avLst/>
          </a:prstGeom>
          <a:noFill/>
          <a:ln/>
        </p:spPr>
        <p:txBody>
          <a:bodyPr wrap="square" lIns="0" tIns="0" rIns="0" bIns="0" rtlCol="0" anchor="t"/>
          <a:lstStyle/>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UAT Phase 1: tester cohort, findings triaged daily (now)</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Phase 3: integrations as IT delivers keys (SSO, reCAPTCHA, SMTP via OAuth2)</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Stage B: live-backup rehearsal on UAT with the 100 % parity gate - needs UAT resize + office-IP allowlist</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Production prerequisites: RDS to MySQL 8.4 and PHP 8.3 (IT change requests - committed dates requested)</a:t>
            </a:r>
            <a:endParaRPr lang="en-US" sz="1150" dirty="0"/>
          </a:p>
          <a:p>
            <a:pPr marL="342900" indent="-342900">
              <a:spcAft>
                <a:spcPts val="1200"/>
              </a:spcAft>
              <a:buSzPct val="100000"/>
              <a:buChar char="•"/>
            </a:pPr>
            <a:r>
              <a:rPr lang="en-US" sz="1150" dirty="0">
                <a:solidFill>
                  <a:srgbClr val="5A6070"/>
                </a:solidFill>
                <a:latin typeface="Arial" pitchFamily="34" charset="0"/>
                <a:ea typeface="Arial" pitchFamily="34" charset="-122"/>
                <a:cs typeface="Arial" pitchFamily="34" charset="-120"/>
              </a:rPr>
              <a:t>Cutover: same domain, history intact, multi-hour maintenance window sized from the rehearsal</a:t>
            </a:r>
            <a:endParaRPr lang="en-US" sz="1150" dirty="0"/>
          </a:p>
        </p:txBody>
      </p:sp>
      <p:sp>
        <p:nvSpPr>
          <p:cNvPr id="16" name="Text 14"/>
          <p:cNvSpPr/>
          <p:nvPr/>
        </p:nvSpPr>
        <p:spPr>
          <a:xfrm>
            <a:off x="548640" y="5989320"/>
            <a:ext cx="11064240" cy="411480"/>
          </a:xfrm>
          <a:prstGeom prst="rect">
            <a:avLst/>
          </a:prstGeom>
          <a:noFill/>
          <a:ln/>
        </p:spPr>
        <p:txBody>
          <a:bodyPr wrap="square" lIns="0" tIns="0" rIns="0" bIns="0" rtlCol="0" anchor="ctr"/>
          <a:lstStyle/>
          <a:p>
            <a:pPr indent="0" marL="0">
              <a:buNone/>
            </a:pPr>
            <a:r>
              <a:rPr lang="en-US" sz="1200" i="1" dirty="0">
                <a:solidFill>
                  <a:srgbClr val="0066A7"/>
                </a:solidFill>
                <a:latin typeface="Arial" pitchFamily="34" charset="0"/>
                <a:ea typeface="Arial" pitchFamily="34" charset="-122"/>
                <a:cs typeface="Arial" pitchFamily="34" charset="-120"/>
              </a:rPr>
              <a:t>Working targets, not commitments to risk: the production cutover follows a passed rehearsal and IT's platform upgrades, whatever the calendar says.</a:t>
            </a:r>
            <a:endParaRPr lang="en-US" sz="1200" dirty="0"/>
          </a:p>
        </p:txBody>
      </p:sp>
      <p:sp>
        <p:nvSpPr>
          <p:cNvPr id="17" name="Text 15"/>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18" name="Text 16"/>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EYES OPEN</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What is not yet true, and how each is handled</a:t>
            </a:r>
            <a:endParaRPr lang="en-US" sz="2800" dirty="0"/>
          </a:p>
        </p:txBody>
      </p:sp>
      <p:sp>
        <p:nvSpPr>
          <p:cNvPr id="4" name="Shape 2"/>
          <p:cNvSpPr/>
          <p:nvPr/>
        </p:nvSpPr>
        <p:spPr>
          <a:xfrm>
            <a:off x="548640" y="1463040"/>
            <a:ext cx="5376672" cy="1325880"/>
          </a:xfrm>
          <a:prstGeom prst="roundRect">
            <a:avLst>
              <a:gd name="adj" fmla="val 482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5" name="Text 3"/>
          <p:cNvSpPr/>
          <p:nvPr/>
        </p:nvSpPr>
        <p:spPr>
          <a:xfrm>
            <a:off x="713232" y="1536192"/>
            <a:ext cx="5029200" cy="292608"/>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Not live yet</a:t>
            </a:r>
            <a:endParaRPr lang="en-US" sz="1200" dirty="0"/>
          </a:p>
        </p:txBody>
      </p:sp>
      <p:sp>
        <p:nvSpPr>
          <p:cNvPr id="6" name="Text 4"/>
          <p:cNvSpPr/>
          <p:nvPr/>
        </p:nvSpPr>
        <p:spPr>
          <a:xfrm>
            <a:off x="713232" y="1847088"/>
            <a:ext cx="5074920" cy="896112"/>
          </a:xfrm>
          <a:prstGeom prst="rect">
            <a:avLst/>
          </a:prstGeom>
          <a:noFill/>
          <a:ln/>
        </p:spPr>
        <p:txBody>
          <a:bodyPr wrap="square" lIns="0" tIns="0" rIns="0" bIns="0" rtlCol="0" anchor="t"/>
          <a:lstStyle/>
          <a:p>
            <a:pPr indent="0" marL="0">
              <a:buNone/>
            </a:pPr>
            <a:r>
              <a:rPr lang="en-US" sz="1000" i="1" dirty="0">
                <a:solidFill>
                  <a:srgbClr val="5A6070"/>
                </a:solidFill>
                <a:latin typeface="Arial" pitchFamily="34" charset="0"/>
                <a:ea typeface="Arial" pitchFamily="34" charset="-122"/>
                <a:cs typeface="Arial" pitchFamily="34" charset="-120"/>
              </a:rPr>
              <a:t>Sentientia has never served a real user; all figures are from test data.  </a:t>
            </a:r>
            <a:pPr indent="0" marL="0">
              <a:buNone/>
            </a:pPr>
            <a:r>
              <a:rPr lang="en-US" sz="1000" dirty="0">
                <a:solidFill>
                  <a:srgbClr val="1A1A2E"/>
                </a:solidFill>
                <a:latin typeface="Arial" pitchFamily="34" charset="0"/>
                <a:ea typeface="Arial" pitchFamily="34" charset="-122"/>
                <a:cs typeface="Arial" pitchFamily="34" charset="-120"/>
              </a:rPr>
              <a:t>UAT tester cohort → Stage B rehearsal → gated cutover. The live platform keeps running untouched meanwhile.</a:t>
            </a:r>
            <a:endParaRPr lang="en-US" sz="1000" dirty="0"/>
          </a:p>
        </p:txBody>
      </p:sp>
      <p:sp>
        <p:nvSpPr>
          <p:cNvPr id="7" name="Shape 5"/>
          <p:cNvSpPr/>
          <p:nvPr/>
        </p:nvSpPr>
        <p:spPr>
          <a:xfrm>
            <a:off x="6263640" y="1463040"/>
            <a:ext cx="5376672" cy="1325880"/>
          </a:xfrm>
          <a:prstGeom prst="roundRect">
            <a:avLst>
              <a:gd name="adj" fmla="val 482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8" name="Text 6"/>
          <p:cNvSpPr/>
          <p:nvPr/>
        </p:nvSpPr>
        <p:spPr>
          <a:xfrm>
            <a:off x="6428232" y="1536192"/>
            <a:ext cx="5029200" cy="292608"/>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Payments stay dark at go-live</a:t>
            </a:r>
            <a:endParaRPr lang="en-US" sz="1200" dirty="0"/>
          </a:p>
        </p:txBody>
      </p:sp>
      <p:sp>
        <p:nvSpPr>
          <p:cNvPr id="9" name="Text 7"/>
          <p:cNvSpPr/>
          <p:nvPr/>
        </p:nvSpPr>
        <p:spPr>
          <a:xfrm>
            <a:off x="6428232" y="1847088"/>
            <a:ext cx="5074920" cy="896112"/>
          </a:xfrm>
          <a:prstGeom prst="rect">
            <a:avLst/>
          </a:prstGeom>
          <a:noFill/>
          <a:ln/>
        </p:spPr>
        <p:txBody>
          <a:bodyPr wrap="square" lIns="0" tIns="0" rIns="0" bIns="0" rtlCol="0" anchor="t"/>
          <a:lstStyle/>
          <a:p>
            <a:pPr indent="0" marL="0">
              <a:buNone/>
            </a:pPr>
            <a:r>
              <a:rPr lang="en-US" sz="1000" i="1" dirty="0">
                <a:solidFill>
                  <a:srgbClr val="5A6070"/>
                </a:solidFill>
                <a:latin typeface="Arial" pitchFamily="34" charset="0"/>
                <a:ea typeface="Arial" pitchFamily="34" charset="-122"/>
                <a:cs typeface="Arial" pitchFamily="34" charset="-120"/>
              </a:rPr>
              <a:t>The gateway fix is unmerged and the Verify-API step unproven against the sandbox.  </a:t>
            </a:r>
            <a:pPr indent="0" marL="0">
              <a:buNone/>
            </a:pPr>
            <a:r>
              <a:rPr lang="en-US" sz="1000" dirty="0">
                <a:solidFill>
                  <a:srgbClr val="1A1A2E"/>
                </a:solidFill>
                <a:latin typeface="Arial" pitchFamily="34" charset="0"/>
                <a:ea typeface="Arial" pitchFamily="34" charset="-122"/>
                <a:cs typeface="Arial" pitchFamily="34" charset="-120"/>
              </a:rPr>
              <a:t>Commerce is disabled and verified disabled at cutover; enablement is a separate, later decision after C1 closes.</a:t>
            </a:r>
            <a:endParaRPr lang="en-US" sz="1000" dirty="0"/>
          </a:p>
        </p:txBody>
      </p:sp>
      <p:sp>
        <p:nvSpPr>
          <p:cNvPr id="10" name="Shape 8"/>
          <p:cNvSpPr/>
          <p:nvPr/>
        </p:nvSpPr>
        <p:spPr>
          <a:xfrm>
            <a:off x="548640" y="2944368"/>
            <a:ext cx="5376672" cy="1325880"/>
          </a:xfrm>
          <a:prstGeom prst="roundRect">
            <a:avLst>
              <a:gd name="adj" fmla="val 482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1" name="Text 9"/>
          <p:cNvSpPr/>
          <p:nvPr/>
        </p:nvSpPr>
        <p:spPr>
          <a:xfrm>
            <a:off x="713232" y="3017520"/>
            <a:ext cx="5029200" cy="292608"/>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AI is mock-mode</a:t>
            </a:r>
            <a:endParaRPr lang="en-US" sz="1200" dirty="0"/>
          </a:p>
        </p:txBody>
      </p:sp>
      <p:sp>
        <p:nvSpPr>
          <p:cNvPr id="12" name="Text 10"/>
          <p:cNvSpPr/>
          <p:nvPr/>
        </p:nvSpPr>
        <p:spPr>
          <a:xfrm>
            <a:off x="713232" y="3328416"/>
            <a:ext cx="5074920" cy="896112"/>
          </a:xfrm>
          <a:prstGeom prst="rect">
            <a:avLst/>
          </a:prstGeom>
          <a:noFill/>
          <a:ln/>
        </p:spPr>
        <p:txBody>
          <a:bodyPr wrap="square" lIns="0" tIns="0" rIns="0" bIns="0" rtlCol="0" anchor="t"/>
          <a:lstStyle/>
          <a:p>
            <a:pPr indent="0" marL="0">
              <a:buNone/>
            </a:pPr>
            <a:r>
              <a:rPr lang="en-US" sz="1000" i="1" dirty="0">
                <a:solidFill>
                  <a:srgbClr val="5A6070"/>
                </a:solidFill>
                <a:latin typeface="Arial" pitchFamily="34" charset="0"/>
                <a:ea typeface="Arial" pitchFamily="34" charset="-122"/>
                <a:cs typeface="Arial" pitchFamily="34" charset="-120"/>
              </a:rPr>
              <a:t>No live model call has ever been made; six features wait on a budget cap and an API key.  </a:t>
            </a:r>
            <a:pPr indent="0" marL="0">
              <a:buNone/>
            </a:pPr>
            <a:r>
              <a:rPr lang="en-US" sz="1000" dirty="0">
                <a:solidFill>
                  <a:srgbClr val="1A1A2E"/>
                </a:solidFill>
                <a:latin typeface="Arial" pitchFamily="34" charset="0"/>
                <a:ea typeface="Arial" pitchFamily="34" charset="-122"/>
                <a:cs typeface="Arial" pitchFamily="34" charset="-120"/>
              </a:rPr>
              <a:t>Off by default at two independent levels. The central spend ledger and monthly cap live in the gateway, and code now refuses a live call unless gateway metering is routing - so spend cannot escape the meter by configuration mistake.</a:t>
            </a:r>
            <a:endParaRPr lang="en-US" sz="1000" dirty="0"/>
          </a:p>
        </p:txBody>
      </p:sp>
      <p:sp>
        <p:nvSpPr>
          <p:cNvPr id="13" name="Shape 11"/>
          <p:cNvSpPr/>
          <p:nvPr/>
        </p:nvSpPr>
        <p:spPr>
          <a:xfrm>
            <a:off x="6263640" y="2944368"/>
            <a:ext cx="5376672" cy="1325880"/>
          </a:xfrm>
          <a:prstGeom prst="roundRect">
            <a:avLst>
              <a:gd name="adj" fmla="val 482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4" name="Text 12"/>
          <p:cNvSpPr/>
          <p:nvPr/>
        </p:nvSpPr>
        <p:spPr>
          <a:xfrm>
            <a:off x="6428232" y="3017520"/>
            <a:ext cx="5029200" cy="292608"/>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No certifications, no pen-test yet</a:t>
            </a:r>
            <a:endParaRPr lang="en-US" sz="1200" dirty="0"/>
          </a:p>
        </p:txBody>
      </p:sp>
      <p:sp>
        <p:nvSpPr>
          <p:cNvPr id="15" name="Text 13"/>
          <p:cNvSpPr/>
          <p:nvPr/>
        </p:nvSpPr>
        <p:spPr>
          <a:xfrm>
            <a:off x="6428232" y="3328416"/>
            <a:ext cx="5074920" cy="896112"/>
          </a:xfrm>
          <a:prstGeom prst="rect">
            <a:avLst/>
          </a:prstGeom>
          <a:noFill/>
          <a:ln/>
        </p:spPr>
        <p:txBody>
          <a:bodyPr wrap="square" lIns="0" tIns="0" rIns="0" bIns="0" rtlCol="0" anchor="t"/>
          <a:lstStyle/>
          <a:p>
            <a:pPr indent="0" marL="0">
              <a:buNone/>
            </a:pPr>
            <a:r>
              <a:rPr lang="en-US" sz="1000" i="1" dirty="0">
                <a:solidFill>
                  <a:srgbClr val="5A6070"/>
                </a:solidFill>
                <a:latin typeface="Arial" pitchFamily="34" charset="0"/>
                <a:ea typeface="Arial" pitchFamily="34" charset="-122"/>
                <a:cs typeface="Arial" pitchFamily="34" charset="-120"/>
              </a:rPr>
              <a:t>Buyers and auditors will ask early.  </a:t>
            </a:r>
            <a:pPr indent="0" marL="0">
              <a:buNone/>
            </a:pPr>
            <a:r>
              <a:rPr lang="en-US" sz="1000" dirty="0">
                <a:solidFill>
                  <a:srgbClr val="1A1A2E"/>
                </a:solidFill>
                <a:latin typeface="Arial" pitchFamily="34" charset="0"/>
                <a:ea typeface="Arial" pitchFamily="34" charset="-122"/>
                <a:cs typeface="Arial" pitchFamily="34" charset="-120"/>
              </a:rPr>
              <a:t>Trust track funded in principle; VAPT first, then ISO 27001 and SOC 2 - the spend annex is ready for sign-off.</a:t>
            </a:r>
            <a:endParaRPr lang="en-US" sz="1000" dirty="0"/>
          </a:p>
        </p:txBody>
      </p:sp>
      <p:sp>
        <p:nvSpPr>
          <p:cNvPr id="16" name="Shape 14"/>
          <p:cNvSpPr/>
          <p:nvPr/>
        </p:nvSpPr>
        <p:spPr>
          <a:xfrm>
            <a:off x="548640" y="4425696"/>
            <a:ext cx="5376672" cy="1325880"/>
          </a:xfrm>
          <a:prstGeom prst="roundRect">
            <a:avLst>
              <a:gd name="adj" fmla="val 482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17" name="Text 15"/>
          <p:cNvSpPr/>
          <p:nvPr/>
        </p:nvSpPr>
        <p:spPr>
          <a:xfrm>
            <a:off x="713232" y="4498848"/>
            <a:ext cx="5029200" cy="292608"/>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UAT sizing is smoke-only</a:t>
            </a:r>
            <a:endParaRPr lang="en-US" sz="1200" dirty="0"/>
          </a:p>
        </p:txBody>
      </p:sp>
      <p:sp>
        <p:nvSpPr>
          <p:cNvPr id="18" name="Text 16"/>
          <p:cNvSpPr/>
          <p:nvPr/>
        </p:nvSpPr>
        <p:spPr>
          <a:xfrm>
            <a:off x="713232" y="4809744"/>
            <a:ext cx="5074920" cy="896112"/>
          </a:xfrm>
          <a:prstGeom prst="rect">
            <a:avLst/>
          </a:prstGeom>
          <a:noFill/>
          <a:ln/>
        </p:spPr>
        <p:txBody>
          <a:bodyPr wrap="square" lIns="0" tIns="0" rIns="0" bIns="0" rtlCol="0" anchor="t"/>
          <a:lstStyle/>
          <a:p>
            <a:pPr indent="0" marL="0">
              <a:buNone/>
            </a:pPr>
            <a:r>
              <a:rPr lang="en-US" sz="1000" i="1" dirty="0">
                <a:solidFill>
                  <a:srgbClr val="5A6070"/>
                </a:solidFill>
                <a:latin typeface="Arial" pitchFamily="34" charset="0"/>
                <a:ea typeface="Arial" pitchFamily="34" charset="-122"/>
                <a:cs typeface="Arial" pitchFamily="34" charset="-120"/>
              </a:rPr>
              <a:t>t3a.small / db.t3.small (2 GB each) cannot host a live-backup rehearsal.  </a:t>
            </a:r>
            <a:pPr indent="0" marL="0">
              <a:buNone/>
            </a:pPr>
            <a:r>
              <a:rPr lang="en-US" sz="1000" dirty="0">
                <a:solidFill>
                  <a:srgbClr val="1A1A2E"/>
                </a:solidFill>
                <a:latin typeface="Arial" pitchFamily="34" charset="0"/>
                <a:ea typeface="Arial" pitchFamily="34" charset="-122"/>
                <a:cs typeface="Arial" pitchFamily="34" charset="-120"/>
              </a:rPr>
              <a:t>Resize to medium class before Stage B; a same-day cloud operation already flagged with DevOps.</a:t>
            </a:r>
            <a:endParaRPr lang="en-US" sz="1000" dirty="0"/>
          </a:p>
        </p:txBody>
      </p:sp>
      <p:sp>
        <p:nvSpPr>
          <p:cNvPr id="19" name="Shape 17"/>
          <p:cNvSpPr/>
          <p:nvPr/>
        </p:nvSpPr>
        <p:spPr>
          <a:xfrm>
            <a:off x="6263640" y="4425696"/>
            <a:ext cx="5376672" cy="1325880"/>
          </a:xfrm>
          <a:prstGeom prst="roundRect">
            <a:avLst>
              <a:gd name="adj" fmla="val 4828"/>
            </a:avLst>
          </a:prstGeom>
          <a:solidFill>
            <a:srgbClr val="FFFFFF"/>
          </a:solidFill>
          <a:ln w="9525">
            <a:solidFill>
              <a:srgbClr val="E2E6EF"/>
            </a:solidFill>
            <a:prstDash val="solid"/>
          </a:ln>
          <a:effectLst>
            <a:outerShdw sx="100000" sy="100000" kx="0" ky="0" algn="bl" rotWithShape="0" blurRad="76200" dist="12700" dir="5400000">
              <a:srgbClr val="9AA6B5">
                <a:alpha val="28000"/>
              </a:srgbClr>
            </a:outerShdw>
          </a:effectLst>
        </p:spPr>
      </p:sp>
      <p:sp>
        <p:nvSpPr>
          <p:cNvPr id="20" name="Text 18"/>
          <p:cNvSpPr/>
          <p:nvPr/>
        </p:nvSpPr>
        <p:spPr>
          <a:xfrm>
            <a:off x="6428232" y="4498848"/>
            <a:ext cx="5029200" cy="292608"/>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Small team, big surface</a:t>
            </a:r>
            <a:endParaRPr lang="en-US" sz="1200" dirty="0"/>
          </a:p>
        </p:txBody>
      </p:sp>
      <p:sp>
        <p:nvSpPr>
          <p:cNvPr id="21" name="Text 19"/>
          <p:cNvSpPr/>
          <p:nvPr/>
        </p:nvSpPr>
        <p:spPr>
          <a:xfrm>
            <a:off x="6428232" y="4809744"/>
            <a:ext cx="5074920" cy="896112"/>
          </a:xfrm>
          <a:prstGeom prst="rect">
            <a:avLst/>
          </a:prstGeom>
          <a:noFill/>
          <a:ln/>
        </p:spPr>
        <p:txBody>
          <a:bodyPr wrap="square" lIns="0" tIns="0" rIns="0" bIns="0" rtlCol="0" anchor="t"/>
          <a:lstStyle/>
          <a:p>
            <a:pPr indent="0" marL="0">
              <a:buNone/>
            </a:pPr>
            <a:r>
              <a:rPr lang="en-US" sz="1000" i="1" dirty="0">
                <a:solidFill>
                  <a:srgbClr val="5A6070"/>
                </a:solidFill>
                <a:latin typeface="Arial" pitchFamily="34" charset="0"/>
                <a:ea typeface="Arial" pitchFamily="34" charset="-122"/>
                <a:cs typeface="Arial" pitchFamily="34" charset="-120"/>
              </a:rPr>
              <a:t>The platform was built by a very small team with AI-assisted engineering.  </a:t>
            </a:r>
            <a:pPr indent="0" marL="0">
              <a:buNone/>
            </a:pPr>
            <a:r>
              <a:rPr lang="en-US" sz="1000" dirty="0">
                <a:solidFill>
                  <a:srgbClr val="1A1A2E"/>
                </a:solidFill>
                <a:latin typeface="Arial" pitchFamily="34" charset="0"/>
                <a:ea typeface="Arial" pitchFamily="34" charset="-122"/>
                <a:cs typeface="Arial" pitchFamily="34" charset="-120"/>
              </a:rPr>
              <a:t>30 decision records, runbooks and state cards make it reconstructible; a support-engineer hire and the vendor AMC option spread the load.</a:t>
            </a:r>
            <a:endParaRPr lang="en-US" sz="1000" dirty="0"/>
          </a:p>
        </p:txBody>
      </p:sp>
      <p:sp>
        <p:nvSpPr>
          <p:cNvPr id="22" name="Text 20"/>
          <p:cNvSpPr/>
          <p:nvPr/>
        </p:nvSpPr>
        <p:spPr>
          <a:xfrm>
            <a:off x="548640" y="5989320"/>
            <a:ext cx="11064240" cy="411480"/>
          </a:xfrm>
          <a:prstGeom prst="rect">
            <a:avLst/>
          </a:prstGeom>
          <a:noFill/>
          <a:ln/>
        </p:spPr>
        <p:txBody>
          <a:bodyPr wrap="square" lIns="0" tIns="0" rIns="0" bIns="0" rtlCol="0" anchor="ctr"/>
          <a:lstStyle/>
          <a:p>
            <a:pPr indent="0" marL="0">
              <a:buNone/>
            </a:pPr>
            <a:r>
              <a:rPr lang="en-US" sz="1200" i="1" dirty="0">
                <a:solidFill>
                  <a:srgbClr val="0066A7"/>
                </a:solidFill>
                <a:latin typeface="Arial" pitchFamily="34" charset="0"/>
                <a:ea typeface="Arial" pitchFamily="34" charset="-122"/>
                <a:cs typeface="Arial" pitchFamily="34" charset="-120"/>
              </a:rPr>
              <a:t>Presenting these ourselves is the point: every item has an owner and a mitigation, and none of them is a surprise.</a:t>
            </a:r>
            <a:endParaRPr lang="en-US" sz="1200" dirty="0"/>
          </a:p>
        </p:txBody>
      </p:sp>
      <p:sp>
        <p:nvSpPr>
          <p:cNvPr id="23" name="Text 21"/>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24" name="Text 22"/>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355C"/>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A9CDE8"/>
                </a:solidFill>
                <a:latin typeface="Arial" pitchFamily="34" charset="0"/>
                <a:ea typeface="Arial" pitchFamily="34" charset="-122"/>
                <a:cs typeface="Arial" pitchFamily="34" charset="-120"/>
              </a:rPr>
              <a:t>TO CLOSE TODAY</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Decisions requested from this room</a:t>
            </a:r>
            <a:endParaRPr lang="en-US" sz="2800" dirty="0"/>
          </a:p>
        </p:txBody>
      </p:sp>
      <p:sp>
        <p:nvSpPr>
          <p:cNvPr id="4" name="Shape 2"/>
          <p:cNvSpPr/>
          <p:nvPr/>
        </p:nvSpPr>
        <p:spPr>
          <a:xfrm>
            <a:off x="548640" y="1554480"/>
            <a:ext cx="11091672" cy="749808"/>
          </a:xfrm>
          <a:prstGeom prst="roundRect">
            <a:avLst>
              <a:gd name="adj" fmla="val 7317"/>
            </a:avLst>
          </a:prstGeom>
          <a:solidFill>
            <a:srgbClr val="0A4D80"/>
          </a:solidFill>
          <a:ln w="9525">
            <a:solidFill>
              <a:srgbClr val="1C6EA8"/>
            </a:solidFill>
            <a:prstDash val="solid"/>
          </a:ln>
        </p:spPr>
      </p:sp>
      <p:sp>
        <p:nvSpPr>
          <p:cNvPr id="5" name="Shape 3"/>
          <p:cNvSpPr/>
          <p:nvPr/>
        </p:nvSpPr>
        <p:spPr>
          <a:xfrm>
            <a:off x="749808" y="1737360"/>
            <a:ext cx="1600200" cy="384048"/>
          </a:xfrm>
          <a:prstGeom prst="roundRect">
            <a:avLst>
              <a:gd name="adj" fmla="val 11905"/>
            </a:avLst>
          </a:prstGeom>
          <a:solidFill>
            <a:srgbClr val="ED692B"/>
          </a:solidFill>
          <a:ln/>
        </p:spPr>
      </p:sp>
      <p:sp>
        <p:nvSpPr>
          <p:cNvPr id="6" name="Text 4"/>
          <p:cNvSpPr/>
          <p:nvPr/>
        </p:nvSpPr>
        <p:spPr>
          <a:xfrm>
            <a:off x="749808" y="1737360"/>
            <a:ext cx="1600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CHRO</a:t>
            </a:r>
            <a:endParaRPr lang="en-US" sz="1100" dirty="0"/>
          </a:p>
        </p:txBody>
      </p:sp>
      <p:sp>
        <p:nvSpPr>
          <p:cNvPr id="7" name="Text 5"/>
          <p:cNvSpPr/>
          <p:nvPr/>
        </p:nvSpPr>
        <p:spPr>
          <a:xfrm>
            <a:off x="2560320" y="1609344"/>
            <a:ext cx="8961120" cy="6400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Green-light the tester cohort and two-week UAT window; nominate the 13 persona testers and a daily triage owner</a:t>
            </a:r>
            <a:endParaRPr lang="en-US" sz="1250" dirty="0"/>
          </a:p>
        </p:txBody>
      </p:sp>
      <p:sp>
        <p:nvSpPr>
          <p:cNvPr id="8" name="Shape 6"/>
          <p:cNvSpPr/>
          <p:nvPr/>
        </p:nvSpPr>
        <p:spPr>
          <a:xfrm>
            <a:off x="548640" y="2423160"/>
            <a:ext cx="11091672" cy="749808"/>
          </a:xfrm>
          <a:prstGeom prst="roundRect">
            <a:avLst>
              <a:gd name="adj" fmla="val 7317"/>
            </a:avLst>
          </a:prstGeom>
          <a:solidFill>
            <a:srgbClr val="0A4D80"/>
          </a:solidFill>
          <a:ln w="9525">
            <a:solidFill>
              <a:srgbClr val="1C6EA8"/>
            </a:solidFill>
            <a:prstDash val="solid"/>
          </a:ln>
        </p:spPr>
      </p:sp>
      <p:sp>
        <p:nvSpPr>
          <p:cNvPr id="9" name="Shape 7"/>
          <p:cNvSpPr/>
          <p:nvPr/>
        </p:nvSpPr>
        <p:spPr>
          <a:xfrm>
            <a:off x="749808" y="2606040"/>
            <a:ext cx="1600200" cy="384048"/>
          </a:xfrm>
          <a:prstGeom prst="roundRect">
            <a:avLst>
              <a:gd name="adj" fmla="val 11905"/>
            </a:avLst>
          </a:prstGeom>
          <a:solidFill>
            <a:srgbClr val="ED692B"/>
          </a:solidFill>
          <a:ln/>
        </p:spPr>
      </p:sp>
      <p:sp>
        <p:nvSpPr>
          <p:cNvPr id="10" name="Text 8"/>
          <p:cNvSpPr/>
          <p:nvPr/>
        </p:nvSpPr>
        <p:spPr>
          <a:xfrm>
            <a:off x="749808" y="2606040"/>
            <a:ext cx="1600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CTO / IT</a:t>
            </a:r>
            <a:endParaRPr lang="en-US" sz="1100" dirty="0"/>
          </a:p>
        </p:txBody>
      </p:sp>
      <p:sp>
        <p:nvSpPr>
          <p:cNvPr id="11" name="Text 9"/>
          <p:cNvSpPr/>
          <p:nvPr/>
        </p:nvSpPr>
        <p:spPr>
          <a:xfrm>
            <a:off x="2560320" y="2478024"/>
            <a:ext cx="8961120" cy="6400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Commit dates for: production reCAPTCHA keys, Entra SSO app registration, office-IP allowlist on the UAT load balancer, UAT resize, production RDS → MySQL 8.4 and PHP 8.3</a:t>
            </a:r>
            <a:endParaRPr lang="en-US" sz="1250" dirty="0"/>
          </a:p>
        </p:txBody>
      </p:sp>
      <p:sp>
        <p:nvSpPr>
          <p:cNvPr id="12" name="Shape 10"/>
          <p:cNvSpPr/>
          <p:nvPr/>
        </p:nvSpPr>
        <p:spPr>
          <a:xfrm>
            <a:off x="548640" y="3291840"/>
            <a:ext cx="11091672" cy="749808"/>
          </a:xfrm>
          <a:prstGeom prst="roundRect">
            <a:avLst>
              <a:gd name="adj" fmla="val 7317"/>
            </a:avLst>
          </a:prstGeom>
          <a:solidFill>
            <a:srgbClr val="0A4D80"/>
          </a:solidFill>
          <a:ln w="9525">
            <a:solidFill>
              <a:srgbClr val="1C6EA8"/>
            </a:solidFill>
            <a:prstDash val="solid"/>
          </a:ln>
        </p:spPr>
      </p:sp>
      <p:sp>
        <p:nvSpPr>
          <p:cNvPr id="13" name="Shape 11"/>
          <p:cNvSpPr/>
          <p:nvPr/>
        </p:nvSpPr>
        <p:spPr>
          <a:xfrm>
            <a:off x="749808" y="3474720"/>
            <a:ext cx="1600200" cy="384048"/>
          </a:xfrm>
          <a:prstGeom prst="roundRect">
            <a:avLst>
              <a:gd name="adj" fmla="val 11905"/>
            </a:avLst>
          </a:prstGeom>
          <a:solidFill>
            <a:srgbClr val="ED692B"/>
          </a:solidFill>
          <a:ln/>
        </p:spPr>
      </p:sp>
      <p:sp>
        <p:nvSpPr>
          <p:cNvPr id="14" name="Text 12"/>
          <p:cNvSpPr/>
          <p:nvPr/>
        </p:nvSpPr>
        <p:spPr>
          <a:xfrm>
            <a:off x="749808" y="3474720"/>
            <a:ext cx="1600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MD &amp; Founder</a:t>
            </a:r>
            <a:endParaRPr lang="en-US" sz="1100" dirty="0"/>
          </a:p>
        </p:txBody>
      </p:sp>
      <p:sp>
        <p:nvSpPr>
          <p:cNvPr id="15" name="Text 13"/>
          <p:cNvSpPr/>
          <p:nvPr/>
        </p:nvSpPr>
        <p:spPr>
          <a:xfrm>
            <a:off x="2560320" y="3346704"/>
            <a:ext cx="8961120" cy="6400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Approve direction on the security &amp; certification programme (₹80-120 lakh envelope; annex ₹52-109 lakh) and the AI operating budget (monthly cap + API key)</a:t>
            </a:r>
            <a:endParaRPr lang="en-US" sz="1250" dirty="0"/>
          </a:p>
        </p:txBody>
      </p:sp>
      <p:sp>
        <p:nvSpPr>
          <p:cNvPr id="16" name="Shape 14"/>
          <p:cNvSpPr/>
          <p:nvPr/>
        </p:nvSpPr>
        <p:spPr>
          <a:xfrm>
            <a:off x="548640" y="4160520"/>
            <a:ext cx="11091672" cy="749808"/>
          </a:xfrm>
          <a:prstGeom prst="roundRect">
            <a:avLst>
              <a:gd name="adj" fmla="val 7317"/>
            </a:avLst>
          </a:prstGeom>
          <a:solidFill>
            <a:srgbClr val="0A4D80"/>
          </a:solidFill>
          <a:ln w="9525">
            <a:solidFill>
              <a:srgbClr val="1C6EA8"/>
            </a:solidFill>
            <a:prstDash val="solid"/>
          </a:ln>
        </p:spPr>
      </p:sp>
      <p:sp>
        <p:nvSpPr>
          <p:cNvPr id="17" name="Shape 15"/>
          <p:cNvSpPr/>
          <p:nvPr/>
        </p:nvSpPr>
        <p:spPr>
          <a:xfrm>
            <a:off x="749808" y="4343400"/>
            <a:ext cx="1600200" cy="384048"/>
          </a:xfrm>
          <a:prstGeom prst="roundRect">
            <a:avLst>
              <a:gd name="adj" fmla="val 11905"/>
            </a:avLst>
          </a:prstGeom>
          <a:solidFill>
            <a:srgbClr val="ED692B"/>
          </a:solidFill>
          <a:ln/>
        </p:spPr>
      </p:sp>
      <p:sp>
        <p:nvSpPr>
          <p:cNvPr id="18" name="Text 16"/>
          <p:cNvSpPr/>
          <p:nvPr/>
        </p:nvSpPr>
        <p:spPr>
          <a:xfrm>
            <a:off x="749808" y="4343400"/>
            <a:ext cx="1600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Product owner</a:t>
            </a:r>
            <a:endParaRPr lang="en-US" sz="1100" dirty="0"/>
          </a:p>
        </p:txBody>
      </p:sp>
      <p:sp>
        <p:nvSpPr>
          <p:cNvPr id="19" name="Text 17"/>
          <p:cNvSpPr/>
          <p:nvPr/>
        </p:nvSpPr>
        <p:spPr>
          <a:xfrm>
            <a:off x="2560320" y="4215384"/>
            <a:ext cx="8961120" cy="6400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Merge the payment-hash fix after one gateway sandbox round-trip (closes C1 and M5)</a:t>
            </a:r>
            <a:endParaRPr lang="en-US" sz="1250" dirty="0"/>
          </a:p>
        </p:txBody>
      </p:sp>
      <p:sp>
        <p:nvSpPr>
          <p:cNvPr id="20" name="Shape 18"/>
          <p:cNvSpPr/>
          <p:nvPr/>
        </p:nvSpPr>
        <p:spPr>
          <a:xfrm>
            <a:off x="548640" y="5029200"/>
            <a:ext cx="11091672" cy="749808"/>
          </a:xfrm>
          <a:prstGeom prst="roundRect">
            <a:avLst>
              <a:gd name="adj" fmla="val 7317"/>
            </a:avLst>
          </a:prstGeom>
          <a:solidFill>
            <a:srgbClr val="0A4D80"/>
          </a:solidFill>
          <a:ln w="9525">
            <a:solidFill>
              <a:srgbClr val="1C6EA8"/>
            </a:solidFill>
            <a:prstDash val="solid"/>
          </a:ln>
        </p:spPr>
      </p:sp>
      <p:sp>
        <p:nvSpPr>
          <p:cNvPr id="21" name="Shape 19"/>
          <p:cNvSpPr/>
          <p:nvPr/>
        </p:nvSpPr>
        <p:spPr>
          <a:xfrm>
            <a:off x="749808" y="5212080"/>
            <a:ext cx="1600200" cy="384048"/>
          </a:xfrm>
          <a:prstGeom prst="roundRect">
            <a:avLst>
              <a:gd name="adj" fmla="val 11905"/>
            </a:avLst>
          </a:prstGeom>
          <a:solidFill>
            <a:srgbClr val="1985DD"/>
          </a:solidFill>
          <a:ln/>
        </p:spPr>
      </p:sp>
      <p:sp>
        <p:nvSpPr>
          <p:cNvPr id="22" name="Text 20"/>
          <p:cNvSpPr/>
          <p:nvPr/>
        </p:nvSpPr>
        <p:spPr>
          <a:xfrm>
            <a:off x="749808" y="5212080"/>
            <a:ext cx="1600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All</a:t>
            </a:r>
            <a:endParaRPr lang="en-US" sz="1100" dirty="0"/>
          </a:p>
        </p:txBody>
      </p:sp>
      <p:sp>
        <p:nvSpPr>
          <p:cNvPr id="23" name="Text 21"/>
          <p:cNvSpPr/>
          <p:nvPr/>
        </p:nvSpPr>
        <p:spPr>
          <a:xfrm>
            <a:off x="2560320" y="5084064"/>
            <a:ext cx="8961120" cy="6400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Note the go-live gate: a passed live-backup rehearsal with 100 % data parity - not a calendar date</a:t>
            </a:r>
            <a:endParaRPr lang="en-US" sz="1250" dirty="0"/>
          </a:p>
        </p:txBody>
      </p:sp>
      <p:sp>
        <p:nvSpPr>
          <p:cNvPr id="24" name="Text 22"/>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7FA8C9"/>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25" name="Text 23"/>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7FA8C9"/>
                </a:solidFill>
                <a:latin typeface="Arial" pitchFamily="34" charset="0"/>
                <a:ea typeface="Arial" pitchFamily="34" charset="-122"/>
                <a:cs typeface="Arial"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THE LIVE DEMO</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Twenty minutes, seven stops, one environment</a:t>
            </a:r>
            <a:endParaRPr lang="en-US" sz="2800" dirty="0"/>
          </a:p>
        </p:txBody>
      </p:sp>
      <p:sp>
        <p:nvSpPr>
          <p:cNvPr id="4" name="Shape 2"/>
          <p:cNvSpPr/>
          <p:nvPr/>
        </p:nvSpPr>
        <p:spPr>
          <a:xfrm>
            <a:off x="548640" y="1463040"/>
            <a:ext cx="11091672" cy="566928"/>
          </a:xfrm>
          <a:prstGeom prst="roundRect">
            <a:avLst>
              <a:gd name="adj" fmla="val 8065"/>
            </a:avLst>
          </a:prstGeom>
          <a:solidFill>
            <a:srgbClr val="FFFFFF"/>
          </a:solidFill>
          <a:ln w="9525">
            <a:solidFill>
              <a:srgbClr val="E2E6EF"/>
            </a:solidFill>
            <a:prstDash val="solid"/>
          </a:ln>
        </p:spPr>
      </p:sp>
      <p:sp>
        <p:nvSpPr>
          <p:cNvPr id="5" name="Shape 3"/>
          <p:cNvSpPr/>
          <p:nvPr/>
        </p:nvSpPr>
        <p:spPr>
          <a:xfrm>
            <a:off x="713232" y="1563624"/>
            <a:ext cx="365760" cy="365760"/>
          </a:xfrm>
          <a:prstGeom prst="ellipse">
            <a:avLst/>
          </a:prstGeom>
          <a:solidFill>
            <a:srgbClr val="0066A7"/>
          </a:solidFill>
          <a:ln/>
        </p:spPr>
      </p:sp>
      <p:sp>
        <p:nvSpPr>
          <p:cNvPr id="6" name="Text 4"/>
          <p:cNvSpPr/>
          <p:nvPr/>
        </p:nvSpPr>
        <p:spPr>
          <a:xfrm>
            <a:off x="713232" y="15636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280160" y="1463040"/>
            <a:ext cx="2286000" cy="566928"/>
          </a:xfrm>
          <a:prstGeom prst="rect">
            <a:avLst/>
          </a:prstGeom>
          <a:noFill/>
          <a:ln/>
        </p:spPr>
        <p:txBody>
          <a:bodyPr wrap="square" lIns="0" tIns="0" rIns="0" bIns="0" rtlCol="0" anchor="ctr"/>
          <a:lstStyle/>
          <a:p>
            <a:pPr indent="0" marL="0">
              <a:buNone/>
            </a:pPr>
            <a:r>
              <a:rPr lang="en-US" sz="1200" b="1" dirty="0">
                <a:solidFill>
                  <a:srgbClr val="1A1A2E"/>
                </a:solidFill>
                <a:latin typeface="Arial" pitchFamily="34" charset="0"/>
                <a:ea typeface="Arial" pitchFamily="34" charset="-122"/>
                <a:cs typeface="Arial" pitchFamily="34" charset="-120"/>
              </a:rPr>
              <a:t>Guest</a:t>
            </a:r>
            <a:endParaRPr lang="en-US" sz="1200" dirty="0"/>
          </a:p>
        </p:txBody>
      </p:sp>
      <p:sp>
        <p:nvSpPr>
          <p:cNvPr id="8" name="Text 6"/>
          <p:cNvSpPr/>
          <p:nvPr/>
        </p:nvSpPr>
        <p:spPr>
          <a:xfrm>
            <a:off x="3657600" y="1463040"/>
            <a:ext cx="6949440" cy="566928"/>
          </a:xfrm>
          <a:prstGeom prst="rect">
            <a:avLst/>
          </a:prstGeom>
          <a:noFill/>
          <a:ln/>
        </p:spPr>
        <p:txBody>
          <a:bodyPr wrap="square" lIns="0" tIns="0" rIns="0" bIns="0" rtlCol="0" anchor="ctr"/>
          <a:lstStyle/>
          <a:p>
            <a:pPr indent="0" marL="0">
              <a:buNone/>
            </a:pPr>
            <a:r>
              <a:rPr lang="en-US" sz="1100" dirty="0">
                <a:solidFill>
                  <a:srgbClr val="5A6070"/>
                </a:solidFill>
                <a:latin typeface="Arial" pitchFamily="34" charset="0"/>
                <a:ea typeface="Arial" pitchFamily="34" charset="-122"/>
                <a:cs typeface="Arial" pitchFamily="34" charset="-120"/>
              </a:rPr>
              <a:t>Landing page → public catalogue: the storefront story</a:t>
            </a:r>
            <a:endParaRPr lang="en-US" sz="1100" dirty="0"/>
          </a:p>
        </p:txBody>
      </p:sp>
      <p:sp>
        <p:nvSpPr>
          <p:cNvPr id="9" name="Text 7"/>
          <p:cNvSpPr/>
          <p:nvPr/>
        </p:nvSpPr>
        <p:spPr>
          <a:xfrm>
            <a:off x="10607040" y="1463040"/>
            <a:ext cx="914400" cy="566928"/>
          </a:xfrm>
          <a:prstGeom prst="rect">
            <a:avLst/>
          </a:prstGeom>
          <a:noFill/>
          <a:ln/>
        </p:spPr>
        <p:txBody>
          <a:bodyPr wrap="square" lIns="0" tIns="0" rIns="0" bIns="0" rtlCol="0" anchor="ctr"/>
          <a:lstStyle/>
          <a:p>
            <a:pPr algn="r" indent="0" marL="0">
              <a:buNone/>
            </a:pPr>
            <a:r>
              <a:rPr lang="en-US" sz="1100" b="1" dirty="0">
                <a:solidFill>
                  <a:srgbClr val="0066A7"/>
                </a:solidFill>
                <a:latin typeface="Arial" pitchFamily="34" charset="0"/>
                <a:ea typeface="Arial" pitchFamily="34" charset="-122"/>
                <a:cs typeface="Arial" pitchFamily="34" charset="-120"/>
              </a:rPr>
              <a:t>3 min</a:t>
            </a:r>
            <a:endParaRPr lang="en-US" sz="1100" dirty="0"/>
          </a:p>
        </p:txBody>
      </p:sp>
      <p:sp>
        <p:nvSpPr>
          <p:cNvPr id="10" name="Shape 8"/>
          <p:cNvSpPr/>
          <p:nvPr/>
        </p:nvSpPr>
        <p:spPr>
          <a:xfrm>
            <a:off x="548640" y="2103120"/>
            <a:ext cx="11091672" cy="566928"/>
          </a:xfrm>
          <a:prstGeom prst="roundRect">
            <a:avLst>
              <a:gd name="adj" fmla="val 8065"/>
            </a:avLst>
          </a:prstGeom>
          <a:solidFill>
            <a:srgbClr val="FFFFFF"/>
          </a:solidFill>
          <a:ln w="9525">
            <a:solidFill>
              <a:srgbClr val="E2E6EF"/>
            </a:solidFill>
            <a:prstDash val="solid"/>
          </a:ln>
        </p:spPr>
      </p:sp>
      <p:sp>
        <p:nvSpPr>
          <p:cNvPr id="11" name="Shape 9"/>
          <p:cNvSpPr/>
          <p:nvPr/>
        </p:nvSpPr>
        <p:spPr>
          <a:xfrm>
            <a:off x="713232" y="2203704"/>
            <a:ext cx="365760" cy="365760"/>
          </a:xfrm>
          <a:prstGeom prst="ellipse">
            <a:avLst/>
          </a:prstGeom>
          <a:solidFill>
            <a:srgbClr val="0066A7"/>
          </a:solidFill>
          <a:ln/>
        </p:spPr>
      </p:sp>
      <p:sp>
        <p:nvSpPr>
          <p:cNvPr id="12" name="Text 10"/>
          <p:cNvSpPr/>
          <p:nvPr/>
        </p:nvSpPr>
        <p:spPr>
          <a:xfrm>
            <a:off x="713232" y="22037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1280160" y="2103120"/>
            <a:ext cx="2286000" cy="566928"/>
          </a:xfrm>
          <a:prstGeom prst="rect">
            <a:avLst/>
          </a:prstGeom>
          <a:noFill/>
          <a:ln/>
        </p:spPr>
        <p:txBody>
          <a:bodyPr wrap="square" lIns="0" tIns="0" rIns="0" bIns="0" rtlCol="0" anchor="ctr"/>
          <a:lstStyle/>
          <a:p>
            <a:pPr indent="0" marL="0">
              <a:buNone/>
            </a:pPr>
            <a:r>
              <a:rPr lang="en-US" sz="1200" b="1" dirty="0">
                <a:solidFill>
                  <a:srgbClr val="1A1A2E"/>
                </a:solidFill>
                <a:latin typeface="Arial" pitchFamily="34" charset="0"/>
                <a:ea typeface="Arial" pitchFamily="34" charset="-122"/>
                <a:cs typeface="Arial" pitchFamily="34" charset="-120"/>
              </a:rPr>
              <a:t>Learner (Priya)</a:t>
            </a:r>
            <a:endParaRPr lang="en-US" sz="1200" dirty="0"/>
          </a:p>
        </p:txBody>
      </p:sp>
      <p:sp>
        <p:nvSpPr>
          <p:cNvPr id="14" name="Text 12"/>
          <p:cNvSpPr/>
          <p:nvPr/>
        </p:nvSpPr>
        <p:spPr>
          <a:xfrm>
            <a:off x="3657600" y="2103120"/>
            <a:ext cx="6949440" cy="566928"/>
          </a:xfrm>
          <a:prstGeom prst="rect">
            <a:avLst/>
          </a:prstGeom>
          <a:noFill/>
          <a:ln/>
        </p:spPr>
        <p:txBody>
          <a:bodyPr wrap="square" lIns="0" tIns="0" rIns="0" bIns="0" rtlCol="0" anchor="ctr"/>
          <a:lstStyle/>
          <a:p>
            <a:pPr indent="0" marL="0">
              <a:buNone/>
            </a:pPr>
            <a:r>
              <a:rPr lang="en-US" sz="1100" dirty="0">
                <a:solidFill>
                  <a:srgbClr val="5A6070"/>
                </a:solidFill>
                <a:latin typeface="Arial" pitchFamily="34" charset="0"/>
                <a:ea typeface="Arial" pitchFamily="34" charset="-122"/>
                <a:cs typeface="Arial" pitchFamily="34" charset="-120"/>
              </a:rPr>
              <a:t>Dashboard with progress and badge, open a course, SCORM walkthrough, certificates</a:t>
            </a:r>
            <a:endParaRPr lang="en-US" sz="1100" dirty="0"/>
          </a:p>
        </p:txBody>
      </p:sp>
      <p:sp>
        <p:nvSpPr>
          <p:cNvPr id="15" name="Text 13"/>
          <p:cNvSpPr/>
          <p:nvPr/>
        </p:nvSpPr>
        <p:spPr>
          <a:xfrm>
            <a:off x="10607040" y="2103120"/>
            <a:ext cx="914400" cy="566928"/>
          </a:xfrm>
          <a:prstGeom prst="rect">
            <a:avLst/>
          </a:prstGeom>
          <a:noFill/>
          <a:ln/>
        </p:spPr>
        <p:txBody>
          <a:bodyPr wrap="square" lIns="0" tIns="0" rIns="0" bIns="0" rtlCol="0" anchor="ctr"/>
          <a:lstStyle/>
          <a:p>
            <a:pPr algn="r" indent="0" marL="0">
              <a:buNone/>
            </a:pPr>
            <a:r>
              <a:rPr lang="en-US" sz="1100" b="1" dirty="0">
                <a:solidFill>
                  <a:srgbClr val="0066A7"/>
                </a:solidFill>
                <a:latin typeface="Arial" pitchFamily="34" charset="0"/>
                <a:ea typeface="Arial" pitchFamily="34" charset="-122"/>
                <a:cs typeface="Arial" pitchFamily="34" charset="-120"/>
              </a:rPr>
              <a:t>4 min</a:t>
            </a:r>
            <a:endParaRPr lang="en-US" sz="1100" dirty="0"/>
          </a:p>
        </p:txBody>
      </p:sp>
      <p:sp>
        <p:nvSpPr>
          <p:cNvPr id="16" name="Shape 14"/>
          <p:cNvSpPr/>
          <p:nvPr/>
        </p:nvSpPr>
        <p:spPr>
          <a:xfrm>
            <a:off x="548640" y="2743200"/>
            <a:ext cx="11091672" cy="566928"/>
          </a:xfrm>
          <a:prstGeom prst="roundRect">
            <a:avLst>
              <a:gd name="adj" fmla="val 8065"/>
            </a:avLst>
          </a:prstGeom>
          <a:solidFill>
            <a:srgbClr val="FFFFFF"/>
          </a:solidFill>
          <a:ln w="9525">
            <a:solidFill>
              <a:srgbClr val="E2E6EF"/>
            </a:solidFill>
            <a:prstDash val="solid"/>
          </a:ln>
        </p:spPr>
      </p:sp>
      <p:sp>
        <p:nvSpPr>
          <p:cNvPr id="17" name="Shape 15"/>
          <p:cNvSpPr/>
          <p:nvPr/>
        </p:nvSpPr>
        <p:spPr>
          <a:xfrm>
            <a:off x="713232" y="2843784"/>
            <a:ext cx="365760" cy="365760"/>
          </a:xfrm>
          <a:prstGeom prst="ellipse">
            <a:avLst/>
          </a:prstGeom>
          <a:solidFill>
            <a:srgbClr val="0066A7"/>
          </a:solidFill>
          <a:ln/>
        </p:spPr>
      </p:sp>
      <p:sp>
        <p:nvSpPr>
          <p:cNvPr id="18" name="Text 16"/>
          <p:cNvSpPr/>
          <p:nvPr/>
        </p:nvSpPr>
        <p:spPr>
          <a:xfrm>
            <a:off x="713232" y="28437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7"/>
          <p:cNvSpPr/>
          <p:nvPr/>
        </p:nvSpPr>
        <p:spPr>
          <a:xfrm>
            <a:off x="1280160" y="2743200"/>
            <a:ext cx="2286000" cy="566928"/>
          </a:xfrm>
          <a:prstGeom prst="rect">
            <a:avLst/>
          </a:prstGeom>
          <a:noFill/>
          <a:ln/>
        </p:spPr>
        <p:txBody>
          <a:bodyPr wrap="square" lIns="0" tIns="0" rIns="0" bIns="0" rtlCol="0" anchor="ctr"/>
          <a:lstStyle/>
          <a:p>
            <a:pPr indent="0" marL="0">
              <a:buNone/>
            </a:pPr>
            <a:r>
              <a:rPr lang="en-US" sz="1200" b="1" dirty="0">
                <a:solidFill>
                  <a:srgbClr val="1A1A2E"/>
                </a:solidFill>
                <a:latin typeface="Arial" pitchFamily="34" charset="0"/>
                <a:ea typeface="Arial" pitchFamily="34" charset="-122"/>
                <a:cs typeface="Arial" pitchFamily="34" charset="-120"/>
              </a:rPr>
              <a:t>Manager (Vikram)</a:t>
            </a:r>
            <a:endParaRPr lang="en-US" sz="1200" dirty="0"/>
          </a:p>
        </p:txBody>
      </p:sp>
      <p:sp>
        <p:nvSpPr>
          <p:cNvPr id="20" name="Text 18"/>
          <p:cNvSpPr/>
          <p:nvPr/>
        </p:nvSpPr>
        <p:spPr>
          <a:xfrm>
            <a:off x="3657600" y="2743200"/>
            <a:ext cx="6949440" cy="566928"/>
          </a:xfrm>
          <a:prstGeom prst="rect">
            <a:avLst/>
          </a:prstGeom>
          <a:noFill/>
          <a:ln/>
        </p:spPr>
        <p:txBody>
          <a:bodyPr wrap="square" lIns="0" tIns="0" rIns="0" bIns="0" rtlCol="0" anchor="ctr"/>
          <a:lstStyle/>
          <a:p>
            <a:pPr indent="0" marL="0">
              <a:buNone/>
            </a:pPr>
            <a:r>
              <a:rPr lang="en-US" sz="1100" dirty="0">
                <a:solidFill>
                  <a:srgbClr val="5A6070"/>
                </a:solidFill>
                <a:latin typeface="Arial" pitchFamily="34" charset="0"/>
                <a:ea typeface="Arial" pitchFamily="34" charset="-122"/>
                <a:cs typeface="Arial" pitchFamily="34" charset="-120"/>
              </a:rPr>
              <a:t>Team dashboard, a report's progress, compliance RAG with an overdue flag, approve a request</a:t>
            </a:r>
            <a:endParaRPr lang="en-US" sz="1100" dirty="0"/>
          </a:p>
        </p:txBody>
      </p:sp>
      <p:sp>
        <p:nvSpPr>
          <p:cNvPr id="21" name="Text 19"/>
          <p:cNvSpPr/>
          <p:nvPr/>
        </p:nvSpPr>
        <p:spPr>
          <a:xfrm>
            <a:off x="10607040" y="2743200"/>
            <a:ext cx="914400" cy="566928"/>
          </a:xfrm>
          <a:prstGeom prst="rect">
            <a:avLst/>
          </a:prstGeom>
          <a:noFill/>
          <a:ln/>
        </p:spPr>
        <p:txBody>
          <a:bodyPr wrap="square" lIns="0" tIns="0" rIns="0" bIns="0" rtlCol="0" anchor="ctr"/>
          <a:lstStyle/>
          <a:p>
            <a:pPr algn="r" indent="0" marL="0">
              <a:buNone/>
            </a:pPr>
            <a:r>
              <a:rPr lang="en-US" sz="1100" b="1" dirty="0">
                <a:solidFill>
                  <a:srgbClr val="0066A7"/>
                </a:solidFill>
                <a:latin typeface="Arial" pitchFamily="34" charset="0"/>
                <a:ea typeface="Arial" pitchFamily="34" charset="-122"/>
                <a:cs typeface="Arial" pitchFamily="34" charset="-120"/>
              </a:rPr>
              <a:t>3 min</a:t>
            </a:r>
            <a:endParaRPr lang="en-US" sz="1100" dirty="0"/>
          </a:p>
        </p:txBody>
      </p:sp>
      <p:sp>
        <p:nvSpPr>
          <p:cNvPr id="22" name="Shape 20"/>
          <p:cNvSpPr/>
          <p:nvPr/>
        </p:nvSpPr>
        <p:spPr>
          <a:xfrm>
            <a:off x="548640" y="3383280"/>
            <a:ext cx="11091672" cy="566928"/>
          </a:xfrm>
          <a:prstGeom prst="roundRect">
            <a:avLst>
              <a:gd name="adj" fmla="val 8065"/>
            </a:avLst>
          </a:prstGeom>
          <a:solidFill>
            <a:srgbClr val="FFFFFF"/>
          </a:solidFill>
          <a:ln w="9525">
            <a:solidFill>
              <a:srgbClr val="E2E6EF"/>
            </a:solidFill>
            <a:prstDash val="solid"/>
          </a:ln>
        </p:spPr>
      </p:sp>
      <p:sp>
        <p:nvSpPr>
          <p:cNvPr id="23" name="Shape 21"/>
          <p:cNvSpPr/>
          <p:nvPr/>
        </p:nvSpPr>
        <p:spPr>
          <a:xfrm>
            <a:off x="713232" y="3483864"/>
            <a:ext cx="365760" cy="365760"/>
          </a:xfrm>
          <a:prstGeom prst="ellipse">
            <a:avLst/>
          </a:prstGeom>
          <a:solidFill>
            <a:srgbClr val="0066A7"/>
          </a:solidFill>
          <a:ln/>
        </p:spPr>
      </p:sp>
      <p:sp>
        <p:nvSpPr>
          <p:cNvPr id="24" name="Text 22"/>
          <p:cNvSpPr/>
          <p:nvPr/>
        </p:nvSpPr>
        <p:spPr>
          <a:xfrm>
            <a:off x="713232" y="34838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5" name="Text 23"/>
          <p:cNvSpPr/>
          <p:nvPr/>
        </p:nvSpPr>
        <p:spPr>
          <a:xfrm>
            <a:off x="1280160" y="3383280"/>
            <a:ext cx="2286000" cy="566928"/>
          </a:xfrm>
          <a:prstGeom prst="rect">
            <a:avLst/>
          </a:prstGeom>
          <a:noFill/>
          <a:ln/>
        </p:spPr>
        <p:txBody>
          <a:bodyPr wrap="square" lIns="0" tIns="0" rIns="0" bIns="0" rtlCol="0" anchor="ctr"/>
          <a:lstStyle/>
          <a:p>
            <a:pPr indent="0" marL="0">
              <a:buNone/>
            </a:pPr>
            <a:r>
              <a:rPr lang="en-US" sz="1200" b="1" dirty="0">
                <a:solidFill>
                  <a:srgbClr val="1A1A2E"/>
                </a:solidFill>
                <a:latin typeface="Arial" pitchFamily="34" charset="0"/>
                <a:ea typeface="Arial" pitchFamily="34" charset="-122"/>
                <a:cs typeface="Arial" pitchFamily="34" charset="-120"/>
              </a:rPr>
              <a:t>Trainer (Arjun)</a:t>
            </a:r>
            <a:endParaRPr lang="en-US" sz="1200" dirty="0"/>
          </a:p>
        </p:txBody>
      </p:sp>
      <p:sp>
        <p:nvSpPr>
          <p:cNvPr id="26" name="Text 24"/>
          <p:cNvSpPr/>
          <p:nvPr/>
        </p:nvSpPr>
        <p:spPr>
          <a:xfrm>
            <a:off x="3657600" y="3383280"/>
            <a:ext cx="6949440" cy="566928"/>
          </a:xfrm>
          <a:prstGeom prst="rect">
            <a:avLst/>
          </a:prstGeom>
          <a:noFill/>
          <a:ln/>
        </p:spPr>
        <p:txBody>
          <a:bodyPr wrap="square" lIns="0" tIns="0" rIns="0" bIns="0" rtlCol="0" anchor="ctr"/>
          <a:lstStyle/>
          <a:p>
            <a:pPr indent="0" marL="0">
              <a:buNone/>
            </a:pPr>
            <a:r>
              <a:rPr lang="en-US" sz="1100" dirty="0">
                <a:solidFill>
                  <a:srgbClr val="5A6070"/>
                </a:solidFill>
                <a:latin typeface="Arial" pitchFamily="34" charset="0"/>
                <a:ea typeface="Arial" pitchFamily="34" charset="-122"/>
                <a:cs typeface="Arial" pitchFamily="34" charset="-120"/>
              </a:rPr>
              <a:t>Run the live poll - the audience answers from their phones</a:t>
            </a:r>
            <a:endParaRPr lang="en-US" sz="1100" dirty="0"/>
          </a:p>
        </p:txBody>
      </p:sp>
      <p:sp>
        <p:nvSpPr>
          <p:cNvPr id="27" name="Text 25"/>
          <p:cNvSpPr/>
          <p:nvPr/>
        </p:nvSpPr>
        <p:spPr>
          <a:xfrm>
            <a:off x="10607040" y="3383280"/>
            <a:ext cx="914400" cy="566928"/>
          </a:xfrm>
          <a:prstGeom prst="rect">
            <a:avLst/>
          </a:prstGeom>
          <a:noFill/>
          <a:ln/>
        </p:spPr>
        <p:txBody>
          <a:bodyPr wrap="square" lIns="0" tIns="0" rIns="0" bIns="0" rtlCol="0" anchor="ctr"/>
          <a:lstStyle/>
          <a:p>
            <a:pPr algn="r" indent="0" marL="0">
              <a:buNone/>
            </a:pPr>
            <a:r>
              <a:rPr lang="en-US" sz="1100" b="1" dirty="0">
                <a:solidFill>
                  <a:srgbClr val="0066A7"/>
                </a:solidFill>
                <a:latin typeface="Arial" pitchFamily="34" charset="0"/>
                <a:ea typeface="Arial" pitchFamily="34" charset="-122"/>
                <a:cs typeface="Arial" pitchFamily="34" charset="-120"/>
              </a:rPr>
              <a:t>3 min</a:t>
            </a:r>
            <a:endParaRPr lang="en-US" sz="1100" dirty="0"/>
          </a:p>
        </p:txBody>
      </p:sp>
      <p:sp>
        <p:nvSpPr>
          <p:cNvPr id="28" name="Shape 26"/>
          <p:cNvSpPr/>
          <p:nvPr/>
        </p:nvSpPr>
        <p:spPr>
          <a:xfrm>
            <a:off x="548640" y="4023360"/>
            <a:ext cx="11091672" cy="566928"/>
          </a:xfrm>
          <a:prstGeom prst="roundRect">
            <a:avLst>
              <a:gd name="adj" fmla="val 8065"/>
            </a:avLst>
          </a:prstGeom>
          <a:solidFill>
            <a:srgbClr val="FFFFFF"/>
          </a:solidFill>
          <a:ln w="9525">
            <a:solidFill>
              <a:srgbClr val="E2E6EF"/>
            </a:solidFill>
            <a:prstDash val="solid"/>
          </a:ln>
        </p:spPr>
      </p:sp>
      <p:sp>
        <p:nvSpPr>
          <p:cNvPr id="29" name="Shape 27"/>
          <p:cNvSpPr/>
          <p:nvPr/>
        </p:nvSpPr>
        <p:spPr>
          <a:xfrm>
            <a:off x="713232" y="4123944"/>
            <a:ext cx="365760" cy="365760"/>
          </a:xfrm>
          <a:prstGeom prst="ellipse">
            <a:avLst/>
          </a:prstGeom>
          <a:solidFill>
            <a:srgbClr val="0066A7"/>
          </a:solidFill>
          <a:ln/>
        </p:spPr>
      </p:sp>
      <p:sp>
        <p:nvSpPr>
          <p:cNvPr id="30" name="Text 28"/>
          <p:cNvSpPr/>
          <p:nvPr/>
        </p:nvSpPr>
        <p:spPr>
          <a:xfrm>
            <a:off x="713232" y="41239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1" name="Text 29"/>
          <p:cNvSpPr/>
          <p:nvPr/>
        </p:nvSpPr>
        <p:spPr>
          <a:xfrm>
            <a:off x="1280160" y="4023360"/>
            <a:ext cx="2286000" cy="566928"/>
          </a:xfrm>
          <a:prstGeom prst="rect">
            <a:avLst/>
          </a:prstGeom>
          <a:noFill/>
          <a:ln/>
        </p:spPr>
        <p:txBody>
          <a:bodyPr wrap="square" lIns="0" tIns="0" rIns="0" bIns="0" rtlCol="0" anchor="ctr"/>
          <a:lstStyle/>
          <a:p>
            <a:pPr indent="0" marL="0">
              <a:buNone/>
            </a:pPr>
            <a:r>
              <a:rPr lang="en-US" sz="1200" b="1" dirty="0">
                <a:solidFill>
                  <a:srgbClr val="1A1A2E"/>
                </a:solidFill>
                <a:latin typeface="Arial" pitchFamily="34" charset="0"/>
                <a:ea typeface="Arial" pitchFamily="34" charset="-122"/>
                <a:cs typeface="Arial" pitchFamily="34" charset="-120"/>
              </a:rPr>
              <a:t>L&amp;D admin (Meera)</a:t>
            </a:r>
            <a:endParaRPr lang="en-US" sz="1200" dirty="0"/>
          </a:p>
        </p:txBody>
      </p:sp>
      <p:sp>
        <p:nvSpPr>
          <p:cNvPr id="32" name="Text 30"/>
          <p:cNvSpPr/>
          <p:nvPr/>
        </p:nvSpPr>
        <p:spPr>
          <a:xfrm>
            <a:off x="3657600" y="4023360"/>
            <a:ext cx="6949440" cy="566928"/>
          </a:xfrm>
          <a:prstGeom prst="rect">
            <a:avLst/>
          </a:prstGeom>
          <a:noFill/>
          <a:ln/>
        </p:spPr>
        <p:txBody>
          <a:bodyPr wrap="square" lIns="0" tIns="0" rIns="0" bIns="0" rtlCol="0" anchor="ctr"/>
          <a:lstStyle/>
          <a:p>
            <a:pPr indent="0" marL="0">
              <a:buNone/>
            </a:pPr>
            <a:r>
              <a:rPr lang="en-US" sz="1100" dirty="0">
                <a:solidFill>
                  <a:srgbClr val="5A6070"/>
                </a:solidFill>
                <a:latin typeface="Arial" pitchFamily="34" charset="0"/>
                <a:ea typeface="Arial" pitchFamily="34" charset="-122"/>
                <a:cs typeface="Arial" pitchFamily="34" charset="-120"/>
              </a:rPr>
              <a:t>Manage Users / Courses, compliance report + Excel export, analytics, the feature Switchboard</a:t>
            </a:r>
            <a:endParaRPr lang="en-US" sz="1100" dirty="0"/>
          </a:p>
        </p:txBody>
      </p:sp>
      <p:sp>
        <p:nvSpPr>
          <p:cNvPr id="33" name="Text 31"/>
          <p:cNvSpPr/>
          <p:nvPr/>
        </p:nvSpPr>
        <p:spPr>
          <a:xfrm>
            <a:off x="10607040" y="4023360"/>
            <a:ext cx="914400" cy="566928"/>
          </a:xfrm>
          <a:prstGeom prst="rect">
            <a:avLst/>
          </a:prstGeom>
          <a:noFill/>
          <a:ln/>
        </p:spPr>
        <p:txBody>
          <a:bodyPr wrap="square" lIns="0" tIns="0" rIns="0" bIns="0" rtlCol="0" anchor="ctr"/>
          <a:lstStyle/>
          <a:p>
            <a:pPr algn="r" indent="0" marL="0">
              <a:buNone/>
            </a:pPr>
            <a:r>
              <a:rPr lang="en-US" sz="1100" b="1" dirty="0">
                <a:solidFill>
                  <a:srgbClr val="0066A7"/>
                </a:solidFill>
                <a:latin typeface="Arial" pitchFamily="34" charset="0"/>
                <a:ea typeface="Arial" pitchFamily="34" charset="-122"/>
                <a:cs typeface="Arial" pitchFamily="34" charset="-120"/>
              </a:rPr>
              <a:t>3 min</a:t>
            </a:r>
            <a:endParaRPr lang="en-US" sz="1100" dirty="0"/>
          </a:p>
        </p:txBody>
      </p:sp>
      <p:sp>
        <p:nvSpPr>
          <p:cNvPr id="34" name="Shape 32"/>
          <p:cNvSpPr/>
          <p:nvPr/>
        </p:nvSpPr>
        <p:spPr>
          <a:xfrm>
            <a:off x="548640" y="4663440"/>
            <a:ext cx="11091672" cy="566928"/>
          </a:xfrm>
          <a:prstGeom prst="roundRect">
            <a:avLst>
              <a:gd name="adj" fmla="val 8065"/>
            </a:avLst>
          </a:prstGeom>
          <a:solidFill>
            <a:srgbClr val="FFFFFF"/>
          </a:solidFill>
          <a:ln w="9525">
            <a:solidFill>
              <a:srgbClr val="E2E6EF"/>
            </a:solidFill>
            <a:prstDash val="solid"/>
          </a:ln>
        </p:spPr>
      </p:sp>
      <p:sp>
        <p:nvSpPr>
          <p:cNvPr id="35" name="Shape 33"/>
          <p:cNvSpPr/>
          <p:nvPr/>
        </p:nvSpPr>
        <p:spPr>
          <a:xfrm>
            <a:off x="713232" y="4764024"/>
            <a:ext cx="365760" cy="365760"/>
          </a:xfrm>
          <a:prstGeom prst="ellipse">
            <a:avLst/>
          </a:prstGeom>
          <a:solidFill>
            <a:srgbClr val="0066A7"/>
          </a:solidFill>
          <a:ln/>
        </p:spPr>
      </p:sp>
      <p:sp>
        <p:nvSpPr>
          <p:cNvPr id="36" name="Text 34"/>
          <p:cNvSpPr/>
          <p:nvPr/>
        </p:nvSpPr>
        <p:spPr>
          <a:xfrm>
            <a:off x="713232" y="47640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7" name="Text 35"/>
          <p:cNvSpPr/>
          <p:nvPr/>
        </p:nvSpPr>
        <p:spPr>
          <a:xfrm>
            <a:off x="1280160" y="4663440"/>
            <a:ext cx="2286000" cy="566928"/>
          </a:xfrm>
          <a:prstGeom prst="rect">
            <a:avLst/>
          </a:prstGeom>
          <a:noFill/>
          <a:ln/>
        </p:spPr>
        <p:txBody>
          <a:bodyPr wrap="square" lIns="0" tIns="0" rIns="0" bIns="0" rtlCol="0" anchor="ctr"/>
          <a:lstStyle/>
          <a:p>
            <a:pPr indent="0" marL="0">
              <a:buNone/>
            </a:pPr>
            <a:r>
              <a:rPr lang="en-US" sz="1200" b="1" dirty="0">
                <a:solidFill>
                  <a:srgbClr val="1A1A2E"/>
                </a:solidFill>
                <a:latin typeface="Arial" pitchFamily="34" charset="0"/>
                <a:ea typeface="Arial" pitchFamily="34" charset="-122"/>
                <a:cs typeface="Arial" pitchFamily="34" charset="-120"/>
              </a:rPr>
              <a:t>Tenant isolation</a:t>
            </a:r>
            <a:endParaRPr lang="en-US" sz="1200" dirty="0"/>
          </a:p>
        </p:txBody>
      </p:sp>
      <p:sp>
        <p:nvSpPr>
          <p:cNvPr id="38" name="Text 36"/>
          <p:cNvSpPr/>
          <p:nvPr/>
        </p:nvSpPr>
        <p:spPr>
          <a:xfrm>
            <a:off x="3657600" y="4663440"/>
            <a:ext cx="6949440" cy="566928"/>
          </a:xfrm>
          <a:prstGeom prst="rect">
            <a:avLst/>
          </a:prstGeom>
          <a:noFill/>
          <a:ln/>
        </p:spPr>
        <p:txBody>
          <a:bodyPr wrap="square" lIns="0" tIns="0" rIns="0" bIns="0" rtlCol="0" anchor="ctr"/>
          <a:lstStyle/>
          <a:p>
            <a:pPr indent="0" marL="0">
              <a:buNone/>
            </a:pPr>
            <a:r>
              <a:rPr lang="en-US" sz="1100" dirty="0">
                <a:solidFill>
                  <a:srgbClr val="5A6070"/>
                </a:solidFill>
                <a:latin typeface="Arial" pitchFamily="34" charset="0"/>
                <a:ea typeface="Arial" pitchFamily="34" charset="-122"/>
                <a:cs typeface="Arial" pitchFamily="34" charset="-120"/>
              </a:rPr>
              <a:t>Log in as the ZEEA admin: only ZEEA data, in its own compliance view</a:t>
            </a:r>
            <a:endParaRPr lang="en-US" sz="1100" dirty="0"/>
          </a:p>
        </p:txBody>
      </p:sp>
      <p:sp>
        <p:nvSpPr>
          <p:cNvPr id="39" name="Text 37"/>
          <p:cNvSpPr/>
          <p:nvPr/>
        </p:nvSpPr>
        <p:spPr>
          <a:xfrm>
            <a:off x="10607040" y="4663440"/>
            <a:ext cx="914400" cy="566928"/>
          </a:xfrm>
          <a:prstGeom prst="rect">
            <a:avLst/>
          </a:prstGeom>
          <a:noFill/>
          <a:ln/>
        </p:spPr>
        <p:txBody>
          <a:bodyPr wrap="square" lIns="0" tIns="0" rIns="0" bIns="0" rtlCol="0" anchor="ctr"/>
          <a:lstStyle/>
          <a:p>
            <a:pPr algn="r" indent="0" marL="0">
              <a:buNone/>
            </a:pPr>
            <a:r>
              <a:rPr lang="en-US" sz="1100" b="1" dirty="0">
                <a:solidFill>
                  <a:srgbClr val="0066A7"/>
                </a:solidFill>
                <a:latin typeface="Arial" pitchFamily="34" charset="0"/>
                <a:ea typeface="Arial" pitchFamily="34" charset="-122"/>
                <a:cs typeface="Arial" pitchFamily="34" charset="-120"/>
              </a:rPr>
              <a:t>2 min</a:t>
            </a:r>
            <a:endParaRPr lang="en-US" sz="1100" dirty="0"/>
          </a:p>
        </p:txBody>
      </p:sp>
      <p:sp>
        <p:nvSpPr>
          <p:cNvPr id="40" name="Shape 38"/>
          <p:cNvSpPr/>
          <p:nvPr/>
        </p:nvSpPr>
        <p:spPr>
          <a:xfrm>
            <a:off x="548640" y="5303520"/>
            <a:ext cx="11091672" cy="566928"/>
          </a:xfrm>
          <a:prstGeom prst="roundRect">
            <a:avLst>
              <a:gd name="adj" fmla="val 8065"/>
            </a:avLst>
          </a:prstGeom>
          <a:solidFill>
            <a:srgbClr val="FFFFFF"/>
          </a:solidFill>
          <a:ln w="9525">
            <a:solidFill>
              <a:srgbClr val="E2E6EF"/>
            </a:solidFill>
            <a:prstDash val="solid"/>
          </a:ln>
        </p:spPr>
      </p:sp>
      <p:sp>
        <p:nvSpPr>
          <p:cNvPr id="41" name="Shape 39"/>
          <p:cNvSpPr/>
          <p:nvPr/>
        </p:nvSpPr>
        <p:spPr>
          <a:xfrm>
            <a:off x="713232" y="5404104"/>
            <a:ext cx="365760" cy="365760"/>
          </a:xfrm>
          <a:prstGeom prst="ellipse">
            <a:avLst/>
          </a:prstGeom>
          <a:solidFill>
            <a:srgbClr val="0066A7"/>
          </a:solidFill>
          <a:ln/>
        </p:spPr>
      </p:sp>
      <p:sp>
        <p:nvSpPr>
          <p:cNvPr id="42" name="Text 40"/>
          <p:cNvSpPr/>
          <p:nvPr/>
        </p:nvSpPr>
        <p:spPr>
          <a:xfrm>
            <a:off x="713232" y="54041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3" name="Text 41"/>
          <p:cNvSpPr/>
          <p:nvPr/>
        </p:nvSpPr>
        <p:spPr>
          <a:xfrm>
            <a:off x="1280160" y="5303520"/>
            <a:ext cx="2286000" cy="566928"/>
          </a:xfrm>
          <a:prstGeom prst="rect">
            <a:avLst/>
          </a:prstGeom>
          <a:noFill/>
          <a:ln/>
        </p:spPr>
        <p:txBody>
          <a:bodyPr wrap="square" lIns="0" tIns="0" rIns="0" bIns="0" rtlCol="0" anchor="ctr"/>
          <a:lstStyle/>
          <a:p>
            <a:pPr indent="0" marL="0">
              <a:buNone/>
            </a:pPr>
            <a:r>
              <a:rPr lang="en-US" sz="1200" b="1" dirty="0">
                <a:solidFill>
                  <a:srgbClr val="1A1A2E"/>
                </a:solidFill>
                <a:latin typeface="Arial" pitchFamily="34" charset="0"/>
                <a:ea typeface="Arial" pitchFamily="34" charset="-122"/>
                <a:cs typeface="Arial" pitchFamily="34" charset="-120"/>
              </a:rPr>
              <a:t>Close</a:t>
            </a:r>
            <a:endParaRPr lang="en-US" sz="1200" dirty="0"/>
          </a:p>
        </p:txBody>
      </p:sp>
      <p:sp>
        <p:nvSpPr>
          <p:cNvPr id="44" name="Text 42"/>
          <p:cNvSpPr/>
          <p:nvPr/>
        </p:nvSpPr>
        <p:spPr>
          <a:xfrm>
            <a:off x="3657600" y="5303520"/>
            <a:ext cx="6949440" cy="566928"/>
          </a:xfrm>
          <a:prstGeom prst="rect">
            <a:avLst/>
          </a:prstGeom>
          <a:noFill/>
          <a:ln/>
        </p:spPr>
        <p:txBody>
          <a:bodyPr wrap="square" lIns="0" tIns="0" rIns="0" bIns="0" rtlCol="0" anchor="ctr"/>
          <a:lstStyle/>
          <a:p>
            <a:pPr indent="0" marL="0">
              <a:buNone/>
            </a:pPr>
            <a:r>
              <a:rPr lang="en-US" sz="1100" dirty="0">
                <a:solidFill>
                  <a:srgbClr val="5A6070"/>
                </a:solidFill>
                <a:latin typeface="Arial" pitchFamily="34" charset="0"/>
                <a:ea typeface="Arial" pitchFamily="34" charset="-122"/>
                <a:cs typeface="Arial" pitchFamily="34" charset="-120"/>
              </a:rPr>
              <a:t>Hindi toggle on a dashboard; the migration story - same domain, full history carried over</a:t>
            </a:r>
            <a:endParaRPr lang="en-US" sz="1100" dirty="0"/>
          </a:p>
        </p:txBody>
      </p:sp>
      <p:sp>
        <p:nvSpPr>
          <p:cNvPr id="45" name="Text 43"/>
          <p:cNvSpPr/>
          <p:nvPr/>
        </p:nvSpPr>
        <p:spPr>
          <a:xfrm>
            <a:off x="10607040" y="5303520"/>
            <a:ext cx="914400" cy="566928"/>
          </a:xfrm>
          <a:prstGeom prst="rect">
            <a:avLst/>
          </a:prstGeom>
          <a:noFill/>
          <a:ln/>
        </p:spPr>
        <p:txBody>
          <a:bodyPr wrap="square" lIns="0" tIns="0" rIns="0" bIns="0" rtlCol="0" anchor="ctr"/>
          <a:lstStyle/>
          <a:p>
            <a:pPr algn="r" indent="0" marL="0">
              <a:buNone/>
            </a:pPr>
            <a:r>
              <a:rPr lang="en-US" sz="1100" b="1" dirty="0">
                <a:solidFill>
                  <a:srgbClr val="0066A7"/>
                </a:solidFill>
                <a:latin typeface="Arial" pitchFamily="34" charset="0"/>
                <a:ea typeface="Arial" pitchFamily="34" charset="-122"/>
                <a:cs typeface="Arial" pitchFamily="34" charset="-120"/>
              </a:rPr>
              <a:t>2 min</a:t>
            </a:r>
            <a:endParaRPr lang="en-US" sz="1100" dirty="0"/>
          </a:p>
        </p:txBody>
      </p:sp>
      <p:sp>
        <p:nvSpPr>
          <p:cNvPr id="46" name="Text 44"/>
          <p:cNvSpPr/>
          <p:nvPr/>
        </p:nvSpPr>
        <p:spPr>
          <a:xfrm>
            <a:off x="548640" y="5989320"/>
            <a:ext cx="11064240" cy="411480"/>
          </a:xfrm>
          <a:prstGeom prst="rect">
            <a:avLst/>
          </a:prstGeom>
          <a:noFill/>
          <a:ln/>
        </p:spPr>
        <p:txBody>
          <a:bodyPr wrap="square" lIns="0" tIns="0" rIns="0" bIns="0" rtlCol="0" anchor="ctr"/>
          <a:lstStyle/>
          <a:p>
            <a:pPr indent="0" marL="0">
              <a:buNone/>
            </a:pPr>
            <a:r>
              <a:rPr lang="en-US" sz="1200" i="1" dirty="0">
                <a:solidFill>
                  <a:srgbClr val="0066A7"/>
                </a:solidFill>
                <a:latin typeface="Arial" pitchFamily="34" charset="0"/>
                <a:ea typeface="Arial" pitchFamily="34" charset="-122"/>
                <a:cs typeface="Arial" pitchFamily="34" charset="-120"/>
              </a:rPr>
              <a:t>Explained, not clicked: outbound email and WhatsApp (switched off on UAT), real payments (gateway not connected), SSO/MFA (keys pending), live AI generation (mock mode).</a:t>
            </a:r>
            <a:endParaRPr lang="en-US" sz="1200" dirty="0"/>
          </a:p>
        </p:txBody>
      </p:sp>
      <p:sp>
        <p:nvSpPr>
          <p:cNvPr id="47" name="Text 45"/>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48" name="Text 46"/>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1985DD"/>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2800" b="1" dirty="0">
                <a:solidFill>
                  <a:srgbClr val="1A1A2E"/>
                </a:solidFill>
                <a:latin typeface="Arial" pitchFamily="34" charset="0"/>
                <a:ea typeface="Arial" pitchFamily="34" charset="-122"/>
                <a:cs typeface="Arial" pitchFamily="34" charset="-120"/>
              </a:rPr>
              <a:t>What changed on UAT between 4 and 17 September</a:t>
            </a:r>
            <a:endParaRPr lang="en-US" sz="2800" dirty="0"/>
          </a:p>
        </p:txBody>
      </p:sp>
      <p:sp>
        <p:nvSpPr>
          <p:cNvPr id="4" name="Shape 2"/>
          <p:cNvSpPr/>
          <p:nvPr/>
        </p:nvSpPr>
        <p:spPr>
          <a:xfrm>
            <a:off x="548640" y="1463040"/>
            <a:ext cx="11091672" cy="384048"/>
          </a:xfrm>
          <a:prstGeom prst="rect">
            <a:avLst/>
          </a:prstGeom>
          <a:solidFill>
            <a:srgbClr val="06355C"/>
          </a:solidFill>
          <a:ln w="6350">
            <a:solidFill>
              <a:srgbClr val="E2E6EF"/>
            </a:solidFill>
            <a:prstDash val="solid"/>
          </a:ln>
        </p:spPr>
      </p:sp>
      <p:sp>
        <p:nvSpPr>
          <p:cNvPr id="5" name="Text 3"/>
          <p:cNvSpPr/>
          <p:nvPr/>
        </p:nvSpPr>
        <p:spPr>
          <a:xfrm>
            <a:off x="658368" y="1499616"/>
            <a:ext cx="132588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Area</a:t>
            </a:r>
            <a:endParaRPr lang="en-US" sz="1100" dirty="0"/>
          </a:p>
        </p:txBody>
      </p:sp>
      <p:sp>
        <p:nvSpPr>
          <p:cNvPr id="6" name="Text 4"/>
          <p:cNvSpPr/>
          <p:nvPr/>
        </p:nvSpPr>
        <p:spPr>
          <a:xfrm>
            <a:off x="2057400" y="1499616"/>
            <a:ext cx="516636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Finding</a:t>
            </a:r>
            <a:endParaRPr lang="en-US" sz="1100" dirty="0"/>
          </a:p>
        </p:txBody>
      </p:sp>
      <p:sp>
        <p:nvSpPr>
          <p:cNvPr id="7" name="Text 5"/>
          <p:cNvSpPr/>
          <p:nvPr/>
        </p:nvSpPr>
        <p:spPr>
          <a:xfrm>
            <a:off x="7315200" y="1499616"/>
            <a:ext cx="420624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Outcome</a:t>
            </a:r>
            <a:endParaRPr lang="en-US" sz="1100" dirty="0"/>
          </a:p>
        </p:txBody>
      </p:sp>
      <p:sp>
        <p:nvSpPr>
          <p:cNvPr id="8" name="Shape 6"/>
          <p:cNvSpPr/>
          <p:nvPr/>
        </p:nvSpPr>
        <p:spPr>
          <a:xfrm>
            <a:off x="548640" y="1847088"/>
            <a:ext cx="11091672" cy="512064"/>
          </a:xfrm>
          <a:prstGeom prst="rect">
            <a:avLst/>
          </a:prstGeom>
          <a:solidFill>
            <a:srgbClr val="F7FAFD"/>
          </a:solidFill>
          <a:ln w="6350">
            <a:solidFill>
              <a:srgbClr val="E2E6EF"/>
            </a:solidFill>
            <a:prstDash val="solid"/>
          </a:ln>
        </p:spPr>
      </p:sp>
      <p:sp>
        <p:nvSpPr>
          <p:cNvPr id="9" name="Text 7"/>
          <p:cNvSpPr/>
          <p:nvPr/>
        </p:nvSpPr>
        <p:spPr>
          <a:xfrm>
            <a:off x="658368" y="1883664"/>
            <a:ext cx="1325880" cy="438912"/>
          </a:xfrm>
          <a:prstGeom prst="rect">
            <a:avLst/>
          </a:prstGeom>
          <a:noFill/>
          <a:ln/>
        </p:spPr>
        <p:txBody>
          <a:bodyPr wrap="square" lIns="0" tIns="0" rIns="0" bIns="0" rtlCol="0" anchor="ctr"/>
          <a:lstStyle/>
          <a:p>
            <a:pPr indent="0" marL="0">
              <a:buNone/>
            </a:pPr>
            <a:r>
              <a:rPr lang="en-US" sz="1000" b="1" dirty="0">
                <a:solidFill>
                  <a:srgbClr val="1A1A2E"/>
                </a:solidFill>
                <a:latin typeface="Arial" pitchFamily="34" charset="0"/>
                <a:ea typeface="Arial" pitchFamily="34" charset="-122"/>
                <a:cs typeface="Arial" pitchFamily="34" charset="-120"/>
              </a:rPr>
              <a:t>Security</a:t>
            </a:r>
            <a:endParaRPr lang="en-US" sz="1000" dirty="0"/>
          </a:p>
        </p:txBody>
      </p:sp>
      <p:sp>
        <p:nvSpPr>
          <p:cNvPr id="10" name="Text 8"/>
          <p:cNvSpPr/>
          <p:nvPr/>
        </p:nvSpPr>
        <p:spPr>
          <a:xfrm>
            <a:off x="2057400" y="1883664"/>
            <a:ext cx="516636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C2 cross-tenant self-enrol · H1 enumeration · H3/H4 rate limits · M1/M3/M4 headers</a:t>
            </a:r>
            <a:endParaRPr lang="en-US" sz="1000" dirty="0"/>
          </a:p>
        </p:txBody>
      </p:sp>
      <p:sp>
        <p:nvSpPr>
          <p:cNvPr id="11" name="Text 9"/>
          <p:cNvSpPr/>
          <p:nvPr/>
        </p:nvSpPr>
        <p:spPr>
          <a:xfrm>
            <a:off x="7315200" y="1883664"/>
            <a:ext cx="420624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Fixed and verified on UAT (3-4 Sep)</a:t>
            </a:r>
            <a:endParaRPr lang="en-US" sz="1000" dirty="0"/>
          </a:p>
        </p:txBody>
      </p:sp>
      <p:sp>
        <p:nvSpPr>
          <p:cNvPr id="12" name="Shape 10"/>
          <p:cNvSpPr/>
          <p:nvPr/>
        </p:nvSpPr>
        <p:spPr>
          <a:xfrm>
            <a:off x="548640" y="2359152"/>
            <a:ext cx="11091672" cy="512064"/>
          </a:xfrm>
          <a:prstGeom prst="rect">
            <a:avLst/>
          </a:prstGeom>
          <a:solidFill>
            <a:srgbClr val="FFFFFF"/>
          </a:solidFill>
          <a:ln w="6350">
            <a:solidFill>
              <a:srgbClr val="E2E6EF"/>
            </a:solidFill>
            <a:prstDash val="solid"/>
          </a:ln>
        </p:spPr>
      </p:sp>
      <p:sp>
        <p:nvSpPr>
          <p:cNvPr id="13" name="Text 11"/>
          <p:cNvSpPr/>
          <p:nvPr/>
        </p:nvSpPr>
        <p:spPr>
          <a:xfrm>
            <a:off x="658368" y="2395728"/>
            <a:ext cx="1325880" cy="438912"/>
          </a:xfrm>
          <a:prstGeom prst="rect">
            <a:avLst/>
          </a:prstGeom>
          <a:noFill/>
          <a:ln/>
        </p:spPr>
        <p:txBody>
          <a:bodyPr wrap="square" lIns="0" tIns="0" rIns="0" bIns="0" rtlCol="0" anchor="ctr"/>
          <a:lstStyle/>
          <a:p>
            <a:pPr indent="0" marL="0">
              <a:buNone/>
            </a:pPr>
            <a:r>
              <a:rPr lang="en-US" sz="1000" b="1" dirty="0">
                <a:solidFill>
                  <a:srgbClr val="1A1A2E"/>
                </a:solidFill>
                <a:latin typeface="Arial" pitchFamily="34" charset="0"/>
                <a:ea typeface="Arial" pitchFamily="34" charset="-122"/>
                <a:cs typeface="Arial" pitchFamily="34" charset="-120"/>
              </a:rPr>
              <a:t>Realtime</a:t>
            </a:r>
            <a:endParaRPr lang="en-US" sz="1000" dirty="0"/>
          </a:p>
        </p:txBody>
      </p:sp>
      <p:sp>
        <p:nvSpPr>
          <p:cNvPr id="14" name="Text 12"/>
          <p:cNvSpPr/>
          <p:nvPr/>
        </p:nvSpPr>
        <p:spPr>
          <a:xfrm>
            <a:off x="2057400" y="2395728"/>
            <a:ext cx="516636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Live-session stream buffered by the web server (F-11)</a:t>
            </a:r>
            <a:endParaRPr lang="en-US" sz="1000" dirty="0"/>
          </a:p>
        </p:txBody>
      </p:sp>
      <p:sp>
        <p:nvSpPr>
          <p:cNvPr id="15" name="Text 13"/>
          <p:cNvSpPr/>
          <p:nvPr/>
        </p:nvSpPr>
        <p:spPr>
          <a:xfrm>
            <a:off x="7315200" y="2395728"/>
            <a:ext cx="420624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Fixed at the proxy; first byte in 0.05 s</a:t>
            </a:r>
            <a:endParaRPr lang="en-US" sz="1000" dirty="0"/>
          </a:p>
        </p:txBody>
      </p:sp>
      <p:sp>
        <p:nvSpPr>
          <p:cNvPr id="16" name="Shape 14"/>
          <p:cNvSpPr/>
          <p:nvPr/>
        </p:nvSpPr>
        <p:spPr>
          <a:xfrm>
            <a:off x="548640" y="2871216"/>
            <a:ext cx="11091672" cy="512064"/>
          </a:xfrm>
          <a:prstGeom prst="rect">
            <a:avLst/>
          </a:prstGeom>
          <a:solidFill>
            <a:srgbClr val="F7FAFD"/>
          </a:solidFill>
          <a:ln w="6350">
            <a:solidFill>
              <a:srgbClr val="E2E6EF"/>
            </a:solidFill>
            <a:prstDash val="solid"/>
          </a:ln>
        </p:spPr>
      </p:sp>
      <p:sp>
        <p:nvSpPr>
          <p:cNvPr id="17" name="Text 15"/>
          <p:cNvSpPr/>
          <p:nvPr/>
        </p:nvSpPr>
        <p:spPr>
          <a:xfrm>
            <a:off x="658368" y="2907792"/>
            <a:ext cx="1325880" cy="438912"/>
          </a:xfrm>
          <a:prstGeom prst="rect">
            <a:avLst/>
          </a:prstGeom>
          <a:noFill/>
          <a:ln/>
        </p:spPr>
        <p:txBody>
          <a:bodyPr wrap="square" lIns="0" tIns="0" rIns="0" bIns="0" rtlCol="0" anchor="ctr"/>
          <a:lstStyle/>
          <a:p>
            <a:pPr indent="0" marL="0">
              <a:buNone/>
            </a:pPr>
            <a:r>
              <a:rPr lang="en-US" sz="1000" b="1" dirty="0">
                <a:solidFill>
                  <a:srgbClr val="1A1A2E"/>
                </a:solidFill>
                <a:latin typeface="Arial" pitchFamily="34" charset="0"/>
                <a:ea typeface="Arial" pitchFamily="34" charset="-122"/>
                <a:cs typeface="Arial" pitchFamily="34" charset="-120"/>
              </a:rPr>
              <a:t>Roles</a:t>
            </a:r>
            <a:endParaRPr lang="en-US" sz="1000" dirty="0"/>
          </a:p>
        </p:txBody>
      </p:sp>
      <p:sp>
        <p:nvSpPr>
          <p:cNvPr id="18" name="Text 16"/>
          <p:cNvSpPr/>
          <p:nvPr/>
        </p:nvSpPr>
        <p:spPr>
          <a:xfrm>
            <a:off x="2057400" y="2907792"/>
            <a:ext cx="516636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Course author landed on a learner shell (T-01)</a:t>
            </a:r>
            <a:endParaRPr lang="en-US" sz="1000" dirty="0"/>
          </a:p>
        </p:txBody>
      </p:sp>
      <p:sp>
        <p:nvSpPr>
          <p:cNvPr id="19" name="Text 17"/>
          <p:cNvSpPr/>
          <p:nvPr/>
        </p:nvSpPr>
        <p:spPr>
          <a:xfrm>
            <a:off x="7315200" y="2907792"/>
            <a:ext cx="420624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Author role seeded on install + upgrade; authoring nav live (8 Sep)</a:t>
            </a:r>
            <a:endParaRPr lang="en-US" sz="1000" dirty="0"/>
          </a:p>
        </p:txBody>
      </p:sp>
      <p:sp>
        <p:nvSpPr>
          <p:cNvPr id="20" name="Shape 18"/>
          <p:cNvSpPr/>
          <p:nvPr/>
        </p:nvSpPr>
        <p:spPr>
          <a:xfrm>
            <a:off x="548640" y="3383280"/>
            <a:ext cx="11091672" cy="512064"/>
          </a:xfrm>
          <a:prstGeom prst="rect">
            <a:avLst/>
          </a:prstGeom>
          <a:solidFill>
            <a:srgbClr val="FFFFFF"/>
          </a:solidFill>
          <a:ln w="6350">
            <a:solidFill>
              <a:srgbClr val="E2E6EF"/>
            </a:solidFill>
            <a:prstDash val="solid"/>
          </a:ln>
        </p:spPr>
      </p:sp>
      <p:sp>
        <p:nvSpPr>
          <p:cNvPr id="21" name="Text 19"/>
          <p:cNvSpPr/>
          <p:nvPr/>
        </p:nvSpPr>
        <p:spPr>
          <a:xfrm>
            <a:off x="658368" y="3419856"/>
            <a:ext cx="1325880" cy="438912"/>
          </a:xfrm>
          <a:prstGeom prst="rect">
            <a:avLst/>
          </a:prstGeom>
          <a:noFill/>
          <a:ln/>
        </p:spPr>
        <p:txBody>
          <a:bodyPr wrap="square" lIns="0" tIns="0" rIns="0" bIns="0" rtlCol="0" anchor="ctr"/>
          <a:lstStyle/>
          <a:p>
            <a:pPr indent="0" marL="0">
              <a:buNone/>
            </a:pPr>
            <a:r>
              <a:rPr lang="en-US" sz="1000" b="1" dirty="0">
                <a:solidFill>
                  <a:srgbClr val="1A1A2E"/>
                </a:solidFill>
                <a:latin typeface="Arial" pitchFamily="34" charset="0"/>
                <a:ea typeface="Arial" pitchFamily="34" charset="-122"/>
                <a:cs typeface="Arial" pitchFamily="34" charset="-120"/>
              </a:rPr>
              <a:t>Tenancy</a:t>
            </a:r>
            <a:endParaRPr lang="en-US" sz="1000" dirty="0"/>
          </a:p>
        </p:txBody>
      </p:sp>
      <p:sp>
        <p:nvSpPr>
          <p:cNvPr id="22" name="Text 20"/>
          <p:cNvSpPr/>
          <p:nvPr/>
        </p:nvSpPr>
        <p:spPr>
          <a:xfrm>
            <a:off x="2057400" y="3419856"/>
            <a:ext cx="516636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Admin dashboard and compliance report leaked other tenants' figures and filters</a:t>
            </a:r>
            <a:endParaRPr lang="en-US" sz="1000" dirty="0"/>
          </a:p>
        </p:txBody>
      </p:sp>
      <p:sp>
        <p:nvSpPr>
          <p:cNvPr id="23" name="Text 21"/>
          <p:cNvSpPr/>
          <p:nvPr/>
        </p:nvSpPr>
        <p:spPr>
          <a:xfrm>
            <a:off x="7315200" y="3419856"/>
            <a:ext cx="420624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Every widget, filter and export tenant-scoped; screen-verified (16-17 Sep)</a:t>
            </a:r>
            <a:endParaRPr lang="en-US" sz="1000" dirty="0"/>
          </a:p>
        </p:txBody>
      </p:sp>
      <p:sp>
        <p:nvSpPr>
          <p:cNvPr id="24" name="Shape 22"/>
          <p:cNvSpPr/>
          <p:nvPr/>
        </p:nvSpPr>
        <p:spPr>
          <a:xfrm>
            <a:off x="548640" y="3895344"/>
            <a:ext cx="11091672" cy="512064"/>
          </a:xfrm>
          <a:prstGeom prst="rect">
            <a:avLst/>
          </a:prstGeom>
          <a:solidFill>
            <a:srgbClr val="F7FAFD"/>
          </a:solidFill>
          <a:ln w="6350">
            <a:solidFill>
              <a:srgbClr val="E2E6EF"/>
            </a:solidFill>
            <a:prstDash val="solid"/>
          </a:ln>
        </p:spPr>
      </p:sp>
      <p:sp>
        <p:nvSpPr>
          <p:cNvPr id="25" name="Text 23"/>
          <p:cNvSpPr/>
          <p:nvPr/>
        </p:nvSpPr>
        <p:spPr>
          <a:xfrm>
            <a:off x="658368" y="3931920"/>
            <a:ext cx="1325880" cy="438912"/>
          </a:xfrm>
          <a:prstGeom prst="rect">
            <a:avLst/>
          </a:prstGeom>
          <a:noFill/>
          <a:ln/>
        </p:spPr>
        <p:txBody>
          <a:bodyPr wrap="square" lIns="0" tIns="0" rIns="0" bIns="0" rtlCol="0" anchor="ctr"/>
          <a:lstStyle/>
          <a:p>
            <a:pPr indent="0" marL="0">
              <a:buNone/>
            </a:pPr>
            <a:r>
              <a:rPr lang="en-US" sz="1000" b="1" dirty="0">
                <a:solidFill>
                  <a:srgbClr val="1A1A2E"/>
                </a:solidFill>
                <a:latin typeface="Arial" pitchFamily="34" charset="0"/>
                <a:ea typeface="Arial" pitchFamily="34" charset="-122"/>
                <a:cs typeface="Arial" pitchFamily="34" charset="-120"/>
              </a:rPr>
              <a:t>Language</a:t>
            </a:r>
            <a:endParaRPr lang="en-US" sz="1000" dirty="0"/>
          </a:p>
        </p:txBody>
      </p:sp>
      <p:sp>
        <p:nvSpPr>
          <p:cNvPr id="26" name="Text 24"/>
          <p:cNvSpPr/>
          <p:nvPr/>
        </p:nvSpPr>
        <p:spPr>
          <a:xfrm>
            <a:off x="2057400" y="3931920"/>
            <a:ext cx="516636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English fragments and escaped characters on dashboards, login, filters, reports</a:t>
            </a:r>
            <a:endParaRPr lang="en-US" sz="1000" dirty="0"/>
          </a:p>
        </p:txBody>
      </p:sp>
      <p:sp>
        <p:nvSpPr>
          <p:cNvPr id="27" name="Text 25"/>
          <p:cNvSpPr/>
          <p:nvPr/>
        </p:nvSpPr>
        <p:spPr>
          <a:xfrm>
            <a:off x="7315200" y="3931920"/>
            <a:ext cx="420624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Theme 332/332 + plugin packs at parity; 16 on-screen checks passed</a:t>
            </a:r>
            <a:endParaRPr lang="en-US" sz="1000" dirty="0"/>
          </a:p>
        </p:txBody>
      </p:sp>
      <p:sp>
        <p:nvSpPr>
          <p:cNvPr id="28" name="Shape 26"/>
          <p:cNvSpPr/>
          <p:nvPr/>
        </p:nvSpPr>
        <p:spPr>
          <a:xfrm>
            <a:off x="548640" y="4407408"/>
            <a:ext cx="11091672" cy="512064"/>
          </a:xfrm>
          <a:prstGeom prst="rect">
            <a:avLst/>
          </a:prstGeom>
          <a:solidFill>
            <a:srgbClr val="FFFFFF"/>
          </a:solidFill>
          <a:ln w="6350">
            <a:solidFill>
              <a:srgbClr val="E2E6EF"/>
            </a:solidFill>
            <a:prstDash val="solid"/>
          </a:ln>
        </p:spPr>
      </p:sp>
      <p:sp>
        <p:nvSpPr>
          <p:cNvPr id="29" name="Text 27"/>
          <p:cNvSpPr/>
          <p:nvPr/>
        </p:nvSpPr>
        <p:spPr>
          <a:xfrm>
            <a:off x="658368" y="4443984"/>
            <a:ext cx="1325880" cy="438912"/>
          </a:xfrm>
          <a:prstGeom prst="rect">
            <a:avLst/>
          </a:prstGeom>
          <a:noFill/>
          <a:ln/>
        </p:spPr>
        <p:txBody>
          <a:bodyPr wrap="square" lIns="0" tIns="0" rIns="0" bIns="0" rtlCol="0" anchor="ctr"/>
          <a:lstStyle/>
          <a:p>
            <a:pPr indent="0" marL="0">
              <a:buNone/>
            </a:pPr>
            <a:r>
              <a:rPr lang="en-US" sz="1000" b="1" dirty="0">
                <a:solidFill>
                  <a:srgbClr val="1A1A2E"/>
                </a:solidFill>
                <a:latin typeface="Arial" pitchFamily="34" charset="0"/>
                <a:ea typeface="Arial" pitchFamily="34" charset="-122"/>
                <a:cs typeface="Arial" pitchFamily="34" charset="-120"/>
              </a:rPr>
              <a:t>Content</a:t>
            </a:r>
            <a:endParaRPr lang="en-US" sz="1000" dirty="0"/>
          </a:p>
        </p:txBody>
      </p:sp>
      <p:sp>
        <p:nvSpPr>
          <p:cNvPr id="30" name="Text 28"/>
          <p:cNvSpPr/>
          <p:nvPr/>
        </p:nvSpPr>
        <p:spPr>
          <a:xfrm>
            <a:off x="2057400" y="4443984"/>
            <a:ext cx="516636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SCORM untested on the new stack</a:t>
            </a:r>
            <a:endParaRPr lang="en-US" sz="1000" dirty="0"/>
          </a:p>
        </p:txBody>
      </p:sp>
      <p:sp>
        <p:nvSpPr>
          <p:cNvPr id="31" name="Text 29"/>
          <p:cNvSpPr/>
          <p:nvPr/>
        </p:nvSpPr>
        <p:spPr>
          <a:xfrm>
            <a:off x="7315200" y="4443984"/>
            <a:ext cx="420624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Real SCORM 1.2 package plays; files serve correctly</a:t>
            </a:r>
            <a:endParaRPr lang="en-US" sz="1000" dirty="0"/>
          </a:p>
        </p:txBody>
      </p:sp>
      <p:sp>
        <p:nvSpPr>
          <p:cNvPr id="32" name="Shape 30"/>
          <p:cNvSpPr/>
          <p:nvPr/>
        </p:nvSpPr>
        <p:spPr>
          <a:xfrm>
            <a:off x="548640" y="4919472"/>
            <a:ext cx="11091672" cy="512064"/>
          </a:xfrm>
          <a:prstGeom prst="rect">
            <a:avLst/>
          </a:prstGeom>
          <a:solidFill>
            <a:srgbClr val="F7FAFD"/>
          </a:solidFill>
          <a:ln w="6350">
            <a:solidFill>
              <a:srgbClr val="E2E6EF"/>
            </a:solidFill>
            <a:prstDash val="solid"/>
          </a:ln>
        </p:spPr>
      </p:sp>
      <p:sp>
        <p:nvSpPr>
          <p:cNvPr id="33" name="Text 31"/>
          <p:cNvSpPr/>
          <p:nvPr/>
        </p:nvSpPr>
        <p:spPr>
          <a:xfrm>
            <a:off x="658368" y="4956048"/>
            <a:ext cx="1325880" cy="438912"/>
          </a:xfrm>
          <a:prstGeom prst="rect">
            <a:avLst/>
          </a:prstGeom>
          <a:noFill/>
          <a:ln/>
        </p:spPr>
        <p:txBody>
          <a:bodyPr wrap="square" lIns="0" tIns="0" rIns="0" bIns="0" rtlCol="0" anchor="ctr"/>
          <a:lstStyle/>
          <a:p>
            <a:pPr indent="0" marL="0">
              <a:buNone/>
            </a:pPr>
            <a:r>
              <a:rPr lang="en-US" sz="1000" b="1" dirty="0">
                <a:solidFill>
                  <a:srgbClr val="1A1A2E"/>
                </a:solidFill>
                <a:latin typeface="Arial" pitchFamily="34" charset="0"/>
                <a:ea typeface="Arial" pitchFamily="34" charset="-122"/>
                <a:cs typeface="Arial" pitchFamily="34" charset="-120"/>
              </a:rPr>
              <a:t>Branding</a:t>
            </a:r>
            <a:endParaRPr lang="en-US" sz="1000" dirty="0"/>
          </a:p>
        </p:txBody>
      </p:sp>
      <p:sp>
        <p:nvSpPr>
          <p:cNvPr id="34" name="Text 32"/>
          <p:cNvSpPr/>
          <p:nvPr/>
        </p:nvSpPr>
        <p:spPr>
          <a:xfrm>
            <a:off x="2057400" y="4956048"/>
            <a:ext cx="516636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Footer carried an open-source licence badge</a:t>
            </a:r>
            <a:endParaRPr lang="en-US" sz="1000" dirty="0"/>
          </a:p>
        </p:txBody>
      </p:sp>
      <p:sp>
        <p:nvSpPr>
          <p:cNvPr id="35" name="Text 33"/>
          <p:cNvSpPr/>
          <p:nvPr/>
        </p:nvSpPr>
        <p:spPr>
          <a:xfrm>
            <a:off x="7315200" y="4956048"/>
            <a:ext cx="420624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Replaced with Airpay's private-and-confidential notice (en + hi)</a:t>
            </a:r>
            <a:endParaRPr lang="en-US" sz="1000" dirty="0"/>
          </a:p>
        </p:txBody>
      </p:sp>
      <p:sp>
        <p:nvSpPr>
          <p:cNvPr id="36" name="Shape 34"/>
          <p:cNvSpPr/>
          <p:nvPr/>
        </p:nvSpPr>
        <p:spPr>
          <a:xfrm>
            <a:off x="548640" y="5431536"/>
            <a:ext cx="11091672" cy="512064"/>
          </a:xfrm>
          <a:prstGeom prst="rect">
            <a:avLst/>
          </a:prstGeom>
          <a:solidFill>
            <a:srgbClr val="FFFFFF"/>
          </a:solidFill>
          <a:ln w="6350">
            <a:solidFill>
              <a:srgbClr val="E2E6EF"/>
            </a:solidFill>
            <a:prstDash val="solid"/>
          </a:ln>
        </p:spPr>
      </p:sp>
      <p:sp>
        <p:nvSpPr>
          <p:cNvPr id="37" name="Text 35"/>
          <p:cNvSpPr/>
          <p:nvPr/>
        </p:nvSpPr>
        <p:spPr>
          <a:xfrm>
            <a:off x="658368" y="5468112"/>
            <a:ext cx="1325880" cy="438912"/>
          </a:xfrm>
          <a:prstGeom prst="rect">
            <a:avLst/>
          </a:prstGeom>
          <a:noFill/>
          <a:ln/>
        </p:spPr>
        <p:txBody>
          <a:bodyPr wrap="square" lIns="0" tIns="0" rIns="0" bIns="0" rtlCol="0" anchor="ctr"/>
          <a:lstStyle/>
          <a:p>
            <a:pPr indent="0" marL="0">
              <a:buNone/>
            </a:pPr>
            <a:r>
              <a:rPr lang="en-US" sz="1000" b="1" dirty="0">
                <a:solidFill>
                  <a:srgbClr val="1A1A2E"/>
                </a:solidFill>
                <a:latin typeface="Arial" pitchFamily="34" charset="0"/>
                <a:ea typeface="Arial" pitchFamily="34" charset="-122"/>
                <a:cs typeface="Arial" pitchFamily="34" charset="-120"/>
              </a:rPr>
              <a:t>Ops</a:t>
            </a:r>
            <a:endParaRPr lang="en-US" sz="1000" dirty="0"/>
          </a:p>
        </p:txBody>
      </p:sp>
      <p:sp>
        <p:nvSpPr>
          <p:cNvPr id="38" name="Text 36"/>
          <p:cNvSpPr/>
          <p:nvPr/>
        </p:nvSpPr>
        <p:spPr>
          <a:xfrm>
            <a:off x="2057400" y="5468112"/>
            <a:ext cx="516636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Backup/restore and load never measured on UAT</a:t>
            </a:r>
            <a:endParaRPr lang="en-US" sz="1000" dirty="0"/>
          </a:p>
        </p:txBody>
      </p:sp>
      <p:sp>
        <p:nvSpPr>
          <p:cNvPr id="39" name="Text 37"/>
          <p:cNvSpPr/>
          <p:nvPr/>
        </p:nvSpPr>
        <p:spPr>
          <a:xfrm>
            <a:off x="7315200" y="5468112"/>
            <a:ext cx="4206240" cy="438912"/>
          </a:xfrm>
          <a:prstGeom prst="rect">
            <a:avLst/>
          </a:prstGeom>
          <a:noFill/>
          <a:ln/>
        </p:spPr>
        <p:txBody>
          <a:bodyPr wrap="square" lIns="0" tIns="0" rIns="0" bIns="0" rtlCol="0" anchor="ctr"/>
          <a:lstStyle/>
          <a:p>
            <a:pPr indent="0" marL="0">
              <a:buNone/>
            </a:pPr>
            <a:r>
              <a:rPr lang="en-US" sz="1000" dirty="0">
                <a:solidFill>
                  <a:srgbClr val="5A6070"/>
                </a:solidFill>
                <a:latin typeface="Arial" pitchFamily="34" charset="0"/>
                <a:ea typeface="Arial" pitchFamily="34" charset="-122"/>
                <a:cs typeface="Arial" pitchFamily="34" charset="-120"/>
              </a:rPr>
              <a:t>Restore drill 44 s; 20-user baseline 0 errors, p95 ≤ 1 s; daily log-scan</a:t>
            </a:r>
            <a:endParaRPr lang="en-US" sz="1000" dirty="0"/>
          </a:p>
        </p:txBody>
      </p:sp>
      <p:sp>
        <p:nvSpPr>
          <p:cNvPr id="40" name="Text 38"/>
          <p:cNvSpPr/>
          <p:nvPr/>
        </p:nvSpPr>
        <p:spPr>
          <a:xfrm>
            <a:off x="548640" y="6080760"/>
            <a:ext cx="11064240" cy="548640"/>
          </a:xfrm>
          <a:prstGeom prst="rect">
            <a:avLst/>
          </a:prstGeom>
          <a:noFill/>
          <a:ln/>
        </p:spPr>
        <p:txBody>
          <a:bodyPr wrap="square" lIns="0" tIns="0" rIns="0" bIns="0" rtlCol="0" anchor="ctr"/>
          <a:lstStyle/>
          <a:p>
            <a:pPr indent="0" marL="0">
              <a:buNone/>
            </a:pPr>
            <a:r>
              <a:rPr lang="en-US" sz="1000" i="1" dirty="0">
                <a:solidFill>
                  <a:srgbClr val="5A6070"/>
                </a:solidFill>
                <a:latin typeface="Arial" pitchFamily="34" charset="0"/>
                <a:ea typeface="Arial" pitchFamily="34" charset="-122"/>
                <a:cs typeface="Arial" pitchFamily="34" charset="-120"/>
              </a:rPr>
              <a:t>Every row has a commit, a checksummed deploy record and, where it is visual, a screenshot folder under docs/visual-evidence. Versions on UAT (17 Sep): theme 2026090805, courses 1.11.5, compliance report 1.0.2, gamification 1.0.3, content market 1.0.2.</a:t>
            </a:r>
            <a:endParaRPr lang="en-US" sz="1000" dirty="0"/>
          </a:p>
        </p:txBody>
      </p:sp>
      <p:sp>
        <p:nvSpPr>
          <p:cNvPr id="41" name="Text 39"/>
          <p:cNvSpPr/>
          <p:nvPr/>
        </p:nvSpPr>
        <p:spPr>
          <a:xfrm>
            <a:off x="548640" y="6510528"/>
            <a:ext cx="6400800" cy="228600"/>
          </a:xfrm>
          <a:prstGeom prst="rect">
            <a:avLst/>
          </a:prstGeom>
          <a:noFill/>
          <a:ln/>
        </p:spPr>
        <p:txBody>
          <a:bodyPr wrap="square" lIns="0" tIns="0" rIns="0" bIns="0" rtlCol="0" anchor="ctr"/>
          <a:lstStyle/>
          <a:p>
            <a:pPr indent="0" marL="0">
              <a:buNone/>
            </a:pPr>
            <a:r>
              <a:rPr lang="en-US" sz="850" dirty="0">
                <a:solidFill>
                  <a:srgbClr val="A0A9B8"/>
                </a:solidFill>
                <a:latin typeface="Arial" pitchFamily="34" charset="0"/>
                <a:ea typeface="Arial" pitchFamily="34" charset="-122"/>
                <a:cs typeface="Arial" pitchFamily="34" charset="-120"/>
              </a:rPr>
              <a:t>Airpay Academy 2.0  ·  Sentientia LMS  ·  UAT showcase  ·  Confidential</a:t>
            </a:r>
            <a:endParaRPr lang="en-US" sz="850" dirty="0"/>
          </a:p>
        </p:txBody>
      </p:sp>
      <p:sp>
        <p:nvSpPr>
          <p:cNvPr id="42" name="Text 40"/>
          <p:cNvSpPr/>
          <p:nvPr/>
        </p:nvSpPr>
        <p:spPr>
          <a:xfrm>
            <a:off x="11475720" y="6510528"/>
            <a:ext cx="502920" cy="228600"/>
          </a:xfrm>
          <a:prstGeom prst="rect">
            <a:avLst/>
          </a:prstGeom>
          <a:noFill/>
          <a:ln/>
        </p:spPr>
        <p:txBody>
          <a:bodyPr wrap="square" lIns="0" tIns="0" rIns="0" bIns="0" rtlCol="0" anchor="ctr"/>
          <a:lstStyle/>
          <a:p>
            <a:pPr algn="r" indent="0" marL="0">
              <a:buNone/>
            </a:pPr>
            <a:r>
              <a:rPr lang="en-US" sz="850" dirty="0">
                <a:solidFill>
                  <a:srgbClr val="A0A9B8"/>
                </a:solidFill>
                <a:latin typeface="Arial" pitchFamily="34" charset="0"/>
                <a:ea typeface="Arial" pitchFamily="34" charset="-122"/>
                <a:cs typeface="Arial" pitchFamily="34" charset="-120"/>
              </a:rPr>
              <a:t>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Airpay Academy 2.0 - Sentientia LMS - UAT showcase</dc:title>
  <dc:subject>PptxGenJS Presentation</dc:subject>
  <dc:creator>Nitin Rajput</dc:creator>
  <cp:lastModifiedBy>Nitin Rajput</cp:lastModifiedBy>
  <cp:revision>1</cp:revision>
  <dcterms:created xsi:type="dcterms:W3CDTF">2026-09-22T06:44:16Z</dcterms:created>
  <dcterms:modified xsi:type="dcterms:W3CDTF">2026-09-22T06:44:16Z</dcterms:modified>
</cp:coreProperties>
</file>