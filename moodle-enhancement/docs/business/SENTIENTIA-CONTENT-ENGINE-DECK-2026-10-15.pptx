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30 checkable claims about five vendors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dPt>
            <c:idx val="0"/>
            <c:spPr>
              <a:solidFill>
                <a:srgbClr val="15803D"/>
              </a:solidFill>
            </c:spPr>
          </c:dPt>
          <c:dPt>
            <c:idx val="1"/>
            <c:spPr>
              <a:solidFill>
                <a:srgbClr val="1985DD"/>
              </a:solidFill>
            </c:spPr>
          </c:dPt>
          <c:dPt>
            <c:idx val="2"/>
            <c:spPr>
              <a:solidFill>
                <a:srgbClr val="B45309"/>
              </a:solidFill>
            </c:spPr>
          </c:dPt>
          <c:dPt>
            <c:idx val="3"/>
            <c:spPr>
              <a:solidFill>
                <a:srgbClr val="DC2626"/>
              </a:solidFill>
            </c:spPr>
          </c:dPt>
          <c:cat>
            <c:strRef>
              <c:f>Sheet1!$A$2:$A$5</c:f>
              <c:strCache>
                <c:ptCount val="4"/>
                <c:pt idx="0">
                  <c:v>Verified</c:v>
                </c:pt>
                <c:pt idx="1">
                  <c:v>Verified in part</c:v>
                </c:pt>
                <c:pt idx="2">
                  <c:v>Found nowhere</c:v>
                </c:pt>
                <c:pt idx="3">
                  <c:v>Contradicted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18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Vendors (documented today)</c:v>
                </c:pt>
              </c:strCache>
            </c:strRef>
          </c:tx>
          <c:spPr>
            <a:solidFill>
              <a:srgbClr val="C9D2E0"/>
            </a:solidFill>
          </c:spPr>
          <c:cat>
            <c:strRef>
              <c:f>Sheet1!$A$2:$A$13</c:f>
              <c:strCache>
                <c:ptCount val="12"/>
                <c:pt idx="0">
                  <c:v>Sentientia after Stage 3 (target)</c:v>
                </c:pt>
                <c:pt idx="1">
                  <c:v>Sentientia after Stage 1 (target)</c:v>
                </c:pt>
                <c:pt idx="2">
                  <c:v>Moodle Workplace</c:v>
                </c:pt>
                <c:pt idx="3">
                  <c:v>Sentientia today</c:v>
                </c:pt>
                <c:pt idx="4">
                  <c:v>Articulate</c:v>
                </c:pt>
                <c:pt idx="5">
                  <c:v>360Learning</c:v>
                </c:pt>
                <c:pt idx="6">
                  <c:v>Docebo</c:v>
                </c:pt>
                <c:pt idx="7">
                  <c:v>7taps</c:v>
                </c:pt>
                <c:pt idx="8">
                  <c:v>Tenneo</c:v>
                </c:pt>
                <c:pt idx="9">
                  <c:v>SuccessFactors</c:v>
                </c:pt>
                <c:pt idx="10">
                  <c:v>Invince</c:v>
                </c:pt>
                <c:pt idx="11">
                  <c:v>Mindsmith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39</c:v>
                </c:pt>
                <c:pt idx="3">
                  <c:v>0</c:v>
                </c:pt>
                <c:pt idx="4">
                  <c:v>30</c:v>
                </c:pt>
                <c:pt idx="5">
                  <c:v>24</c:v>
                </c:pt>
                <c:pt idx="6">
                  <c:v>22</c:v>
                </c:pt>
                <c:pt idx="7">
                  <c:v>22</c:v>
                </c:pt>
                <c:pt idx="8">
                  <c:v>18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Sentientia today (from code)</c:v>
                </c:pt>
              </c:strCache>
            </c:strRef>
          </c:tx>
          <c:spPr>
            <a:solidFill>
              <a:srgbClr val="0066A7"/>
            </a:solidFill>
          </c:spPr>
          <c:cat>
            <c:strRef>
              <c:f>Sheet1!$A$2:$A$13</c:f>
              <c:strCache>
                <c:ptCount val="12"/>
                <c:pt idx="0">
                  <c:v>Sentientia after Stage 3 (target)</c:v>
                </c:pt>
                <c:pt idx="1">
                  <c:v>Sentientia after Stage 1 (target)</c:v>
                </c:pt>
                <c:pt idx="2">
                  <c:v>Moodle Workplace</c:v>
                </c:pt>
                <c:pt idx="3">
                  <c:v>Sentientia today</c:v>
                </c:pt>
                <c:pt idx="4">
                  <c:v>Articulate</c:v>
                </c:pt>
                <c:pt idx="5">
                  <c:v>360Learning</c:v>
                </c:pt>
                <c:pt idx="6">
                  <c:v>Docebo</c:v>
                </c:pt>
                <c:pt idx="7">
                  <c:v>7taps</c:v>
                </c:pt>
                <c:pt idx="8">
                  <c:v>Tenneo</c:v>
                </c:pt>
                <c:pt idx="9">
                  <c:v>SuccessFactors</c:v>
                </c:pt>
                <c:pt idx="10">
                  <c:v>Invince</c:v>
                </c:pt>
                <c:pt idx="11">
                  <c:v>Mindsmith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Sentientia plan targets</c:v>
                </c:pt>
              </c:strCache>
            </c:strRef>
          </c:tx>
          <c:spPr>
            <a:solidFill>
              <a:srgbClr val="1985DD"/>
            </a:solidFill>
          </c:spPr>
          <c:cat>
            <c:strRef>
              <c:f>Sheet1!$A$2:$A$13</c:f>
              <c:strCache>
                <c:ptCount val="12"/>
                <c:pt idx="0">
                  <c:v>Sentientia after Stage 3 (target)</c:v>
                </c:pt>
                <c:pt idx="1">
                  <c:v>Sentientia after Stage 1 (target)</c:v>
                </c:pt>
                <c:pt idx="2">
                  <c:v>Moodle Workplace</c:v>
                </c:pt>
                <c:pt idx="3">
                  <c:v>Sentientia today</c:v>
                </c:pt>
                <c:pt idx="4">
                  <c:v>Articulate</c:v>
                </c:pt>
                <c:pt idx="5">
                  <c:v>360Learning</c:v>
                </c:pt>
                <c:pt idx="6">
                  <c:v>Docebo</c:v>
                </c:pt>
                <c:pt idx="7">
                  <c:v>7taps</c:v>
                </c:pt>
                <c:pt idx="8">
                  <c:v>Tenneo</c:v>
                </c:pt>
                <c:pt idx="9">
                  <c:v>SuccessFactors</c:v>
                </c:pt>
                <c:pt idx="10">
                  <c:v>Invince</c:v>
                </c:pt>
                <c:pt idx="11">
                  <c:v>Mindsmith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84</c:v>
                </c:pt>
                <c:pt idx="1">
                  <c:v>58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100" b="1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STUDY.md in docs/research/2026-10-15-scorm-lxp and the C-suite brief. Nothing in this deck claims a feature is live; all AI and voice calls so far were mocked.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 2 and the C-suite brief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sections 1, 3, 4, 5, 13. Vendor scores come from public pages and are scored low where only marketing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sections 2 and 3.1; sources/R1 (claim table) and sources/R6 (learning science).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matrix/capability-matrix.csv and matrix/scoring-method.md. Sentientia is scored from code with full visibility; vendors from public pages. The structure of the finding survives a one-point change in any cell; the exact percentages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sections 3, 4.2 and 9. Tenneo and Invince name large bank customers; every reference is vendor-sourced and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 5 (and 5.5, where the written record overstates the code). Flags default OFF; nothing here is live for learners.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ADR-034 decisions D1 to D3; STUDY.md section 6. Package mode default is multilingual (one activity, one completion); per-language packages are an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 7 (7.4 reviewer capacity). Capacity planning values are assumptions to be replaced by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 8; sources/R3 (candidate engines, licences, India GPU cost). No model was downloaded and no voice was synthesised in this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 9 and sources/R4. Not legal advice; clause references are marked verified or unverified in R4.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prototypes/index.html (open from the file system). Light and dark, LTR and RTL, 1440 and 375 px. Synthetic data; no screen-reader or performance testing yet. Self-assessment in prototypes/README.md.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pilot/evidence/ (reports, audit logs, screenshots) and STUDY.md section 13. Mock mode proves the compiler and runtimes; it does not prove translation quality, voice quality or Moodle 5.3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 11 (11.1 table, 11.2 developer unlocks). Every feature flag defaults OFF; nothing flips for learners without Nitin's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 12. Model lines at INR 87 per USD; speech lines at about INR 95 per USD (a 9% spread that changes no conclusion).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STUDY.md section 14 (twelve risks with likelihood and impact). What we will not claim until evidence exists: live, serving learners, conformant, 150+ languages, minutes-not-months.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C-suite brief section 9. Until the cap and key exist, no AI or voice call can run live; the pilot harness refuses to start without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docs/research/2026-10-15-scorm-lxp/README.md lists every deliverable. Pilot prerequisites: pilot/LIVE-RUN-CHECKLIST.md.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D5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C5E3F7"/>
                </a:solidFill>
                <a:latin typeface="Arial"/>
              </a:rPr>
              <a:t>SENTIENTIA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965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The content engine: SOP to multilingual, scenario-based course, built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Study findings, staged plan, costs and the decisions we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C5E3F7"/>
                </a:solidFill>
                <a:latin typeface="Arial"/>
              </a:rPr>
              <a:t>Prepared for Nitin Rajput, Head of L&amp;D, Airpay  |  15 October 2026  |  For the founder and C-suite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The category moved. Our content engine has not.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76656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b="1" sz="1900">
                <a:solidFill>
                  <a:srgbClr val="1A1A2E"/>
                </a:solidFill>
                <a:latin typeface="Arial"/>
              </a:rPr>
              <a:t>Authoring moved inside the LMS. </a:t>
            </a:r>
            <a:r>
              <a:rPr sz="1900">
                <a:solidFill>
                  <a:srgbClr val="1A1A2E"/>
                </a:solidFill>
                <a:latin typeface="Arial"/>
              </a:rPr>
              <a:t>Vendors now turn a document into a course with AI, voice it, translate it and package it to SCORM or cmi5 automatically.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900">
                <a:solidFill>
                  <a:srgbClr val="1A1A2E"/>
                </a:solidFill>
                <a:latin typeface="Arial"/>
              </a:rPr>
              <a:t>Our moat is governance, not generation. </a:t>
            </a:r>
            <a:r>
              <a:rPr sz="1900">
                <a:solidFill>
                  <a:srgbClr val="1A1A2E"/>
                </a:solidFill>
                <a:latin typeface="Arial"/>
              </a:rPr>
              <a:t>Regulated buyers ask who approved this Hindi sentence, where this voice was made, and whether it runs in their LMS.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900">
                <a:solidFill>
                  <a:srgbClr val="1A1A2E"/>
                </a:solidFill>
                <a:latin typeface="Arial"/>
              </a:rPr>
              <a:t>Thirteen languages is a cost problem first. </a:t>
            </a:r>
            <a:r>
              <a:rPr sz="1900">
                <a:solidFill>
                  <a:srgbClr val="1A1A2E"/>
                </a:solidFill>
                <a:latin typeface="Arial"/>
              </a:rPr>
              <a:t>Machine translation is cheap; reviewers are not.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900">
                <a:solidFill>
                  <a:srgbClr val="1A1A2E"/>
                </a:solidFill>
                <a:latin typeface="Arial"/>
              </a:rPr>
              <a:t>Voice scales badly when rented. </a:t>
            </a:r>
            <a:r>
              <a:rPr sz="1900">
                <a:solidFill>
                  <a:srgbClr val="1A1A2E"/>
                </a:solidFill>
                <a:latin typeface="Arial"/>
              </a:rPr>
              <a:t>Per-character fees across thirteen languages never 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554480"/>
            <a:ext cx="3931920" cy="3291840"/>
          </a:xfrm>
          <a:prstGeom prst="roundRect">
            <a:avLst>
              <a:gd name="adj" fmla="val 5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91640"/>
            <a:ext cx="3566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066A7"/>
                </a:solidFill>
                <a:latin typeface="Arial"/>
              </a:rPr>
              <a:t>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103120"/>
            <a:ext cx="356616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Arial"/>
              </a:rPr>
              <a:t>Build the content engine as a Sentientia product, on the platform we already own, instead of renting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What we did: tested a report, a market and our own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39"/>
            <a:ext cx="17373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0066A7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68219"/>
            <a:ext cx="1554480" cy="72969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platforms compared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691639"/>
            <a:ext cx="17373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0066A7"/>
                </a:solidFill>
                <a:latin typeface="Arial"/>
              </a:rPr>
              <a:t>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668219"/>
            <a:ext cx="1554480" cy="72969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criteria, weighted for an India BFSI buyer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691639"/>
            <a:ext cx="17373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0066A7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2668219"/>
            <a:ext cx="1554480" cy="72969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languages planned, incl. Urdu and Arabic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199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199" y="1691639"/>
            <a:ext cx="17373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0066A7"/>
                </a:solidFill>
                <a:latin typeface="Arial"/>
              </a:rPr>
              <a:t>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39" y="2668219"/>
            <a:ext cx="1554480" cy="72969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tests on the pilot harness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691639"/>
            <a:ext cx="17373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0066A7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668219"/>
            <a:ext cx="1554480" cy="72969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clickable prototypes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55448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1691639"/>
            <a:ext cx="17373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0066A7"/>
                </a:solidFill>
                <a:latin typeface="Arial"/>
              </a:rPr>
              <a:t>INR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668219"/>
            <a:ext cx="1554480" cy="72969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spent: no paid API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11094415" cy="2377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sz="1800">
                <a:solidFill>
                  <a:srgbClr val="1A1A2E"/>
                </a:solidFill>
                <a:latin typeface="Arial"/>
              </a:rPr>
              <a:t>The report's 30 checkable vendor claims were verified one by one against vendor pages and reviews.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sz="1800">
                <a:solidFill>
                  <a:srgbClr val="1A1A2E"/>
                </a:solidFill>
                <a:latin typeface="Arial"/>
              </a:rPr>
              <a:t>Sentientia was scored from its code, not its brochure; where the two disagree the code wins (six places).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sz="1800">
                <a:solidFill>
                  <a:srgbClr val="1A1A2E"/>
                </a:solidFill>
                <a:latin typeface="Arial"/>
              </a:rPr>
              <a:t>A mock pilot compiles one course into SCORM 1.2, SCORM 2004 and cmi5 and was played in a real browser.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The report: right architecture, uneven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554480"/>
            <a:ext cx="5303520" cy="4389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b="1" sz="1800">
                <a:solidFill>
                  <a:srgbClr val="1A1A2E"/>
                </a:solidFill>
                <a:latin typeface="Arial"/>
              </a:rPr>
              <a:t>Right: </a:t>
            </a:r>
            <a:r>
              <a:rPr sz="1800">
                <a:solidFill>
                  <a:srgbClr val="1A1A2E"/>
                </a:solidFill>
                <a:latin typeface="Arial"/>
              </a:rPr>
              <a:t>a canonical course document, a proxy for live AI, tag-safe translation with human stages, a packager hardened for Moodle. We adopt all four.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800">
                <a:solidFill>
                  <a:srgbClr val="1A1A2E"/>
                </a:solidFill>
                <a:latin typeface="Arial"/>
              </a:rPr>
              <a:t>Thin: </a:t>
            </a:r>
            <a:r>
              <a:rPr sz="1800">
                <a:solidFill>
                  <a:srgbClr val="1A1A2E"/>
                </a:solidFill>
                <a:latin typeface="Arial"/>
              </a:rPr>
              <a:t>no buyer, no price, no compliance, voice assumed to be rented.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800">
                <a:solidFill>
                  <a:srgbClr val="1A1A2E"/>
                </a:solidFill>
                <a:latin typeface="Arial"/>
              </a:rPr>
              <a:t>Wrong: </a:t>
            </a:r>
            <a:r>
              <a:rPr sz="1800">
                <a:solidFill>
                  <a:srgbClr val="1A1A2E"/>
                </a:solidFill>
                <a:latin typeface="Arial"/>
              </a:rPr>
              <a:t>the "forget 50% in an hour" figures are folklore, not Ebbinghaus's data.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800">
                <a:solidFill>
                  <a:srgbClr val="1A1A2E"/>
                </a:solidFill>
                <a:latin typeface="Arial"/>
              </a:rPr>
              <a:t>Vendor marketing: </a:t>
            </a:r>
            <a:r>
              <a:rPr sz="1800">
                <a:solidFill>
                  <a:srgbClr val="1A1A2E"/>
                </a:solidFill>
                <a:latin typeface="Arial"/>
              </a:rPr>
              <a:t>"150+ languages", "four months to four weeks" and template counts are vendor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No vendor in the set is ahead; the lanes we want are open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A6070"/>
                </a:solidFill>
                <a:latin typeface="Arial"/>
              </a:rPr>
              <a:t>Weighted score on 51 criteria, % of maximum (scored low where only marketing exists)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7498079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645920"/>
            <a:ext cx="347472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b="1" sz="1600">
                <a:solidFill>
                  <a:srgbClr val="1A1A2E"/>
                </a:solidFill>
                <a:latin typeface="Arial"/>
              </a:rPr>
              <a:t>Moodle Workplace 39%, Articulate 30%. </a:t>
            </a:r>
            <a:r>
              <a:rPr sz="1600">
                <a:solidFill>
                  <a:srgbClr val="1A1A2E"/>
                </a:solidFill>
                <a:latin typeface="Arial"/>
              </a:rPr>
              <a:t>Sentientia is at 31% today.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600">
                <a:solidFill>
                  <a:srgbClr val="1A1A2E"/>
                </a:solidFill>
                <a:latin typeface="Arial"/>
              </a:rPr>
              <a:t>Targets, not facts: </a:t>
            </a:r>
            <a:r>
              <a:rPr sz="1600">
                <a:solidFill>
                  <a:srgbClr val="1A1A2E"/>
                </a:solidFill>
                <a:latin typeface="Arial"/>
              </a:rPr>
              <a:t>58% after Stage 1, 84% after Stage 3.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600">
                <a:solidFill>
                  <a:srgbClr val="1A1A2E"/>
                </a:solidFill>
                <a:latin typeface="Arial"/>
              </a:rPr>
              <a:t>15 of 51 criteria </a:t>
            </a:r>
            <a:r>
              <a:rPr sz="1600">
                <a:solidFill>
                  <a:srgbClr val="1A1A2E"/>
                </a:solidFill>
                <a:latin typeface="Arial"/>
              </a:rPr>
              <a:t>have no vendor at "shipped and documented".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600">
                <a:solidFill>
                  <a:srgbClr val="1A1A2E"/>
                </a:solidFill>
                <a:latin typeface="Arial"/>
              </a:rPr>
              <a:t>Confidence: </a:t>
            </a:r>
            <a:r>
              <a:rPr sz="1600">
                <a:solidFill>
                  <a:srgbClr val="1A1A2E"/>
                </a:solidFill>
                <a:latin typeface="Arial"/>
              </a:rPr>
              <a:t>10 vendors low, 10 medium, none high.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Where the market is open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611880" cy="3200400"/>
          </a:xfrm>
          <a:prstGeom prst="roundRect">
            <a:avLst>
              <a:gd name="adj" fmla="val 4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34290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Localisation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3429000" cy="2542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500"/>
              </a:spcAft>
              <a:buChar char="•"/>
            </a:pPr>
            <a:r>
              <a:rPr sz="1500">
                <a:solidFill>
                  <a:srgbClr val="1A1A2E"/>
                </a:solidFill>
                <a:latin typeface="Arial"/>
              </a:rPr>
              <a:t>Translation memory with XLIFF and a two-stage human review: documented by almost no one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500">
                <a:solidFill>
                  <a:srgbClr val="1A1A2E"/>
                </a:solidFill>
                <a:latin typeface="Arial"/>
              </a:rPr>
              <a:t>Machine translation plus glossary is everywhere; reviewer workflow is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611880" cy="3200400"/>
          </a:xfrm>
          <a:prstGeom prst="roundRect">
            <a:avLst>
              <a:gd name="adj" fmla="val 4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490472"/>
            <a:ext cx="34290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In-region speech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2029968"/>
            <a:ext cx="3429000" cy="2542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500"/>
              </a:spcAft>
              <a:buChar char="•"/>
            </a:pPr>
            <a:r>
              <a:rPr sz="1500">
                <a:solidFill>
                  <a:srgbClr val="1A1A2E"/>
                </a:solidFill>
                <a:latin typeface="Arial"/>
              </a:rPr>
              <a:t>Where speech is processed, how a brand name is pronounced, how captions are aligned: documented by none of 20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500">
                <a:solidFill>
                  <a:srgbClr val="1A1A2E"/>
                </a:solidFill>
                <a:latin typeface="Arial"/>
              </a:rPr>
              <a:t>Self-hosting in India is a differentiator, if it passes a quality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611880" cy="3200400"/>
          </a:xfrm>
          <a:prstGeom prst="roundRect">
            <a:avLst>
              <a:gd name="adj" fmla="val 4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490472"/>
            <a:ext cx="34290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Decision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029968"/>
            <a:ext cx="3429000" cy="2542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500"/>
              </a:spcAft>
              <a:buChar char="•"/>
            </a:pPr>
            <a:r>
              <a:rPr sz="1500">
                <a:solidFill>
                  <a:srgbClr val="1A1A2E"/>
                </a:solidFill>
                <a:latin typeface="Arial"/>
              </a:rPr>
              <a:t>Scenario choices as data, not just a score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500">
                <a:solidFill>
                  <a:srgbClr val="1A1A2E"/>
                </a:solidFill>
                <a:latin typeface="Arial"/>
              </a:rPr>
              <a:t>Spaced practice after completion; roleplay with human-calibrated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728655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Arial"/>
              </a:rPr>
              <a:t>No vendor shows an India hosting region or a DPDP statement. Self-hosted Moodle and Tenneo's client-server option are the only on-premise paths found. That is what an Indian bank's security questionnaire probes.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Where Sentientia stands, from code and not the brochure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25146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Exists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2514600" cy="33649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AI gateway with spend caps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Authoring drafts with review gate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Real Moodle course builder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Translation of pasted text, 4 languages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xAPI endpoint, cmi5 session tracker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No live AI call has ever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46304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55848" y="146304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490472"/>
            <a:ext cx="25146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Proved in this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029968"/>
            <a:ext cx="2514600" cy="33649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Canonical course schema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Compiler to 3 standards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Hardened runtimes and validation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55 tests, browser run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Six prototypes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46304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146304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490472"/>
            <a:ext cx="25146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Designed, not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029968"/>
            <a:ext cx="2514600" cy="33649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Self-hosted speech service and gate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XLIFF, memory, two-stage review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Scenario editor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Daily Review practice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Live roleplay (formative first)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46304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70264" y="146304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5A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490472"/>
            <a:ext cx="25146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Deferred, costed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2029968"/>
            <a:ext cx="2514600" cy="33649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AI avatar video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Native mobile app (funded separately)</a:t>
            </a:r>
          </a:p>
          <a:p>
            <a:pPr marL="203200" indent="-203200">
              <a:spcAft>
                <a:spcPts val="500"/>
              </a:spcAft>
              <a:buChar char="•"/>
            </a:pPr>
            <a:r>
              <a:rPr sz="1450">
                <a:solidFill>
                  <a:srgbClr val="1A1A2E"/>
                </a:solidFill>
                <a:latin typeface="Arial"/>
              </a:rPr>
              <a:t>SCORM import / decompile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One course document, three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Arial"/>
              </a:rPr>
              <a:t>SOP, PDF, DOCX, PPTX or prompt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7480" y="2286000"/>
            <a:ext cx="457200" cy="365760"/>
          </a:xfrm>
          <a:prstGeom prst="rightArrow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600200"/>
            <a:ext cx="3383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Canonical course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057400"/>
            <a:ext cx="33832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slides  |  branching scenario  |  quiz
every language  |  protected terms
approvals  |  provenance  |  audit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03720" y="2286000"/>
            <a:ext cx="457200" cy="365760"/>
          </a:xfrm>
          <a:prstGeom prst="rightArrow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23360" cy="731520"/>
          </a:xfrm>
          <a:prstGeom prst="roundRect">
            <a:avLst>
              <a:gd name="adj" fmla="val 12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435608"/>
            <a:ext cx="374903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66A7"/>
                </a:solidFill>
                <a:latin typeface="Arial"/>
              </a:rPr>
              <a:t>SCORM 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773936"/>
            <a:ext cx="3749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Arial"/>
              </a:rPr>
              <a:t>Airpay default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286000"/>
            <a:ext cx="4023360" cy="731520"/>
          </a:xfrm>
          <a:prstGeom prst="roundRect">
            <a:avLst>
              <a:gd name="adj" fmla="val 12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304288"/>
            <a:ext cx="374903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66A7"/>
                </a:solidFill>
                <a:latin typeface="Arial"/>
              </a:rPr>
              <a:t>SCORM 2004 4th 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42615"/>
            <a:ext cx="3749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Arial"/>
              </a:rPr>
              <a:t>buyers who require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154680"/>
            <a:ext cx="4023360" cy="731520"/>
          </a:xfrm>
          <a:prstGeom prst="roundRect">
            <a:avLst>
              <a:gd name="adj" fmla="val 12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3172968"/>
            <a:ext cx="374903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66A7"/>
                </a:solidFill>
                <a:latin typeface="Arial"/>
              </a:rPr>
              <a:t>cmi5 / xAPI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511296"/>
            <a:ext cx="3749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Arial"/>
              </a:rPr>
              <a:t>LRS-first, decision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11094415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Generate and translate on Claude </a:t>
            </a:r>
            <a:r>
              <a:rPr sz="1700">
                <a:solidFill>
                  <a:srgbClr val="1A1A2E"/>
                </a:solidFill>
                <a:latin typeface="Arial"/>
              </a:rPr>
              <a:t>through our own gateway: keys, spend ledger, caps, mock-first.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Speech in India </a:t>
            </a:r>
            <a:r>
              <a:rPr sz="1700">
                <a:solidFill>
                  <a:srgbClr val="1A1A2E"/>
                </a:solidFill>
                <a:latin typeface="Arial"/>
              </a:rPr>
              <a:t>on a service we control, with a quality gate per language and a fallback.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One static player </a:t>
            </a:r>
            <a:r>
              <a:rPr sz="1700">
                <a:solidFill>
                  <a:srgbClr val="1A1A2E"/>
                </a:solidFill>
                <a:latin typeface="Arial"/>
              </a:rPr>
              <a:t>written once and hardened against Moodle's runtime traps (the 4,096-character progress limit, exit state, interaction logging).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Nothing machine-made reaches learners </a:t>
            </a:r>
            <a:r>
              <a:rPr sz="1700">
                <a:solidFill>
                  <a:srgbClr val="1A1A2E"/>
                </a:solidFill>
                <a:latin typeface="Arial"/>
              </a:rPr>
              <a:t>without a named human approval, recorded in a hash-chained audit log.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Thirteen languages, two human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266786" cy="777240"/>
          </a:xfrm>
          <a:prstGeom prst="roundRect">
            <a:avLst>
              <a:gd name="adj" fmla="val 12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266786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Arial"/>
              </a:rPr>
              <a:t>Segment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52586" y="1554480"/>
            <a:ext cx="1266786" cy="777240"/>
          </a:xfrm>
          <a:prstGeom prst="roundRect">
            <a:avLst>
              <a:gd name="adj" fmla="val 12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52586" y="1572768"/>
            <a:ext cx="1266786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Arial"/>
              </a:rPr>
              <a:t>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6533" y="1554480"/>
            <a:ext cx="1266786" cy="777240"/>
          </a:xfrm>
          <a:prstGeom prst="roundRect">
            <a:avLst>
              <a:gd name="adj" fmla="val 12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6533" y="1572768"/>
            <a:ext cx="1266786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Arial"/>
              </a:rPr>
              <a:t>Machine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0480" y="1554480"/>
            <a:ext cx="1266786" cy="777240"/>
          </a:xfrm>
          <a:prstGeom prst="roundRect">
            <a:avLst>
              <a:gd name="adj" fmla="val 12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0480" y="1572768"/>
            <a:ext cx="1266786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Arial"/>
              </a:rPr>
              <a:t>Auto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554480"/>
            <a:ext cx="1266786" cy="77724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4427" y="1572768"/>
            <a:ext cx="1266786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Translator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8374" y="1554480"/>
            <a:ext cx="1266786" cy="77724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8374" y="1572768"/>
            <a:ext cx="1266786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Subject expert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2321" y="1554480"/>
            <a:ext cx="1266786" cy="77724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2321" y="1572768"/>
            <a:ext cx="1266786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Admin sign-off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6268" y="1554480"/>
            <a:ext cx="1266786" cy="777240"/>
          </a:xfrm>
          <a:prstGeom prst="roundRect">
            <a:avLst>
              <a:gd name="adj" fmla="val 12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6268" y="1572768"/>
            <a:ext cx="1266786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Arial"/>
              </a:rPr>
              <a:t>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37744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A6070"/>
                </a:solidFill>
                <a:latin typeface="Arial"/>
              </a:rPr>
              <a:t>Blue = human stages. Only approved languages reach learners; machine drafts are preview-only.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34640"/>
            <a:ext cx="5669280" cy="3474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Languages: </a:t>
            </a:r>
            <a:r>
              <a:rPr sz="1700">
                <a:solidFill>
                  <a:srgbClr val="1A1A2E"/>
                </a:solidFill>
                <a:latin typeface="Arial"/>
              </a:rPr>
              <a:t>Hindi, Marathi, Kannada, Tamil, Telugu, Bengali, Gujarati, Malayalam, Punjabi, Odia, Assamese, Urdu, Arabic, English (Swahili kept).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Right-to-left done properly: </a:t>
            </a:r>
            <a:r>
              <a:rPr sz="1700">
                <a:solidFill>
                  <a:srgbClr val="1A1A2E"/>
                </a:solidFill>
                <a:latin typeface="Arial"/>
              </a:rPr>
              <a:t>mirrored layout, isolated terms and amounts, script fonts.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XLIFF out and in </a:t>
            </a:r>
            <a:r>
              <a:rPr sz="1700">
                <a:solidFill>
                  <a:srgbClr val="1A1A2E"/>
                </a:solidFill>
                <a:latin typeface="Arial"/>
              </a:rPr>
              <a:t>for agencies; checks catch placeholders, numbers and brand terms.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834640"/>
            <a:ext cx="5120640" cy="3291840"/>
          </a:xfrm>
          <a:prstGeom prst="roundRect">
            <a:avLst>
              <a:gd name="adj" fmla="val 5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92608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66A7"/>
                </a:solidFill>
                <a:latin typeface="Arial"/>
              </a:rPr>
              <a:t>THE NUMBER THAT SETS THE LANGUAGE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91840"/>
            <a:ext cx="4754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600" b="1">
                <a:solidFill>
                  <a:srgbClr val="0066A7"/>
                </a:solidFill>
                <a:latin typeface="Arial"/>
              </a:rPr>
              <a:t>5 to 6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114800"/>
            <a:ext cx="4754880" cy="1920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Arial"/>
              </a:rPr>
              <a:t>of human review per language per course. Fifty courses a year in thirteen languages is about two full-time reviewers. Translation memory makes repeat content 30 to 50% cheaper, so languages are enabled by demand.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Our own voice: cheap to run, only worth it if it passes a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7040880" cy="1976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1737360"/>
              </a:tblGrid>
              <a:tr h="329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Check (per language)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How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Naturalness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Blind listening panel, 20 native raters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MOS 4.0 or more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Intelligibility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ASR round trip vs a human recording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within 1.2x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Brand terms, numbers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60-term and 50-item sets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95% or more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Speed and cost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Real-time factor on a T4-class GPU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0.5 or less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Licence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Commercial use confirmed in writing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no CC-BY-NC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508760"/>
            <a:ext cx="3749039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b="1" sz="1500">
                <a:solidFill>
                  <a:srgbClr val="1A1A2E"/>
                </a:solidFill>
                <a:latin typeface="Arial"/>
              </a:rPr>
              <a:t>Compute is a few rupees: </a:t>
            </a:r>
            <a:r>
              <a:rPr sz="1500">
                <a:solidFill>
                  <a:srgbClr val="1A1A2E"/>
                </a:solidFill>
                <a:latin typeface="Arial"/>
              </a:rPr>
              <a:t>INR 5 to 11 per course-language on on-demand India GPUs.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500">
                <a:solidFill>
                  <a:srgbClr val="1A1A2E"/>
                </a:solidFill>
                <a:latin typeface="Arial"/>
              </a:rPr>
              <a:t>Why self-host: </a:t>
            </a:r>
            <a:r>
              <a:rPr sz="1500">
                <a:solidFill>
                  <a:srgbClr val="1A1A2E"/>
                </a:solidFill>
                <a:latin typeface="Arial"/>
              </a:rPr>
              <a:t>residency, unlimited regeneration while reviewing, one consistent voice.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500">
                <a:solidFill>
                  <a:srgbClr val="1A1A2E"/>
                </a:solidFill>
                <a:latin typeface="Arial"/>
              </a:rPr>
              <a:t>Fallback stays wired: </a:t>
            </a:r>
            <a:r>
              <a:rPr sz="1500">
                <a:solidFill>
                  <a:srgbClr val="1A1A2E"/>
                </a:solidFill>
                <a:latin typeface="Arial"/>
              </a:rPr>
              <a:t>an India-region voice (INR 12 to 24).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29200"/>
            <a:ext cx="11094415" cy="1188720"/>
          </a:xfrm>
          <a:prstGeom prst="roundRect">
            <a:avLst>
              <a:gd name="adj" fmla="val 8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728655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rial"/>
              </a:rPr>
              <a:t>A language that fails the gate stays on the fallback until it passes. Urdu and Arabic will probably stay there longest. Several strong open models are non-commercial licences and are excluded.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Compliance built in, for DPDP and a bank's vendor questionnaire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4413" cy="2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789"/>
                <a:gridCol w="4992486"/>
                <a:gridCol w="3698138"/>
              </a:tblGrid>
              <a:tr h="329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Answers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</a:tr>
              <a:tr h="53085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Personal-data gate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Scans every source and generated string for Aadhaar, PAN, mobile, email, IFSC, card; blocks the run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DPDP safeguards; no PII to any model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3085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Residency record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Every artefact records where it was processed; speech runs in India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Data-location statement per component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  <a:tr h="53085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Hash-chained audit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Who generated, translated, approved; model; hashes; cannot be overwritten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Audit and access rights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3085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Vendor posture pack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Sub-processor list, DPA template, exit plan (JSON, XLIFF, TMX, standard packages)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RBI IT-outsourcing style questionnaire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Incident path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6-hour CERT-In reporting folded into the existing runbook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CERT-In 2022 directions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11094415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45309"/>
                </a:solidFill>
                <a:latin typeface="Arial"/>
              </a:rPr>
              <a:t>Open for counsel: is Claude inference available in India? Is an employee-training system a material IT outsourcing for Airpay? These are the first questions, not afterthoughts.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Six clickable prototypes on our design tokens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learner-home-desktop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" y="1417320"/>
            <a:ext cx="3072384" cy="1920240"/>
          </a:xfrm>
          <a:prstGeom prst="rect">
            <a:avLst/>
          </a:prstGeom>
          <a:ln w="9525">
            <a:solidFill>
              <a:srgbClr val="C9D2E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3355848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66A7"/>
                </a:solidFill>
                <a:latin typeface="Arial"/>
              </a:rPr>
              <a:t>Learner home</a:t>
            </a:r>
          </a:p>
        </p:txBody>
      </p:sp>
      <p:pic>
        <p:nvPicPr>
          <p:cNvPr id="6" name="Picture 5" descr="02-course-player-desktop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1417320"/>
            <a:ext cx="3072384" cy="1920240"/>
          </a:xfrm>
          <a:prstGeom prst="rect">
            <a:avLst/>
          </a:prstGeom>
          <a:ln w="9525">
            <a:solidFill>
              <a:srgbClr val="C9D2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297680" y="3355848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66A7"/>
                </a:solidFill>
                <a:latin typeface="Arial"/>
              </a:rPr>
              <a:t>Course player</a:t>
            </a:r>
          </a:p>
        </p:txBody>
      </p:sp>
      <p:pic>
        <p:nvPicPr>
          <p:cNvPr id="8" name="Picture 7" descr="03-authoring-studio-desktop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468" y="1417320"/>
            <a:ext cx="3072384" cy="1920240"/>
          </a:xfrm>
          <a:prstGeom prst="rect">
            <a:avLst/>
          </a:prstGeom>
          <a:ln w="9525">
            <a:solidFill>
              <a:srgbClr val="C9D2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046720" y="3355848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66A7"/>
                </a:solidFill>
                <a:latin typeface="Arial"/>
              </a:rPr>
              <a:t>Authoring studio</a:t>
            </a:r>
          </a:p>
        </p:txBody>
      </p:sp>
      <p:pic>
        <p:nvPicPr>
          <p:cNvPr id="10" name="Picture 9" descr="04-localisation-review-desktop-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" y="3886200"/>
            <a:ext cx="3072384" cy="1920240"/>
          </a:xfrm>
          <a:prstGeom prst="rect">
            <a:avLst/>
          </a:prstGeom>
          <a:ln w="9525">
            <a:solidFill>
              <a:srgbClr val="C9D2E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5824727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66A7"/>
                </a:solidFill>
                <a:latin typeface="Arial"/>
              </a:rPr>
              <a:t>Localisation review</a:t>
            </a:r>
          </a:p>
        </p:txBody>
      </p:sp>
      <p:pic>
        <p:nvPicPr>
          <p:cNvPr id="12" name="Picture 11" descr="05-admin-analytics-desktop-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3886200"/>
            <a:ext cx="3072384" cy="1920240"/>
          </a:xfrm>
          <a:prstGeom prst="rect">
            <a:avLst/>
          </a:prstGeom>
          <a:ln w="9525">
            <a:solidFill>
              <a:srgbClr val="C9D2E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297680" y="5824727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66A7"/>
                </a:solidFill>
                <a:latin typeface="Arial"/>
              </a:rPr>
              <a:t>Admin analytics</a:t>
            </a:r>
          </a:p>
        </p:txBody>
      </p:sp>
      <p:pic>
        <p:nvPicPr>
          <p:cNvPr id="14" name="Picture 13" descr="06-scenario-editor-desktop-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468" y="3886200"/>
            <a:ext cx="3072384" cy="1920240"/>
          </a:xfrm>
          <a:prstGeom prst="rect">
            <a:avLst/>
          </a:prstGeom>
          <a:ln w="9525">
            <a:solidFill>
              <a:srgbClr val="C9D2E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046720" y="5824727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66A7"/>
                </a:solidFill>
                <a:latin typeface="Arial"/>
              </a:rPr>
              <a:t>Scenario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The pilot: one document, three standards, zero rupees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94960" cy="4754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Compiles </a:t>
            </a:r>
            <a:r>
              <a:rPr sz="1700">
                <a:solidFill>
                  <a:srgbClr val="1A1A2E"/>
                </a:solidFill>
                <a:latin typeface="Arial"/>
              </a:rPr>
              <a:t>a UPI-dispute course (four slides, nine-step scenario, five questions, 13 languages) to SCORM 1.2, SCORM 2004 and cmi5.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Validates </a:t>
            </a:r>
            <a:r>
              <a:rPr sz="1700">
                <a:solidFill>
                  <a:srgbClr val="1A1A2E"/>
                </a:solidFill>
                <a:latin typeface="Arial"/>
              </a:rPr>
              <a:t>every package (21 checks), simulates a learner, and the build is byte-for-byte repeatable.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Played in a real browser </a:t>
            </a:r>
            <a:r>
              <a:rPr sz="1700">
                <a:solidFill>
                  <a:srgbClr val="1A1A2E"/>
                </a:solidFill>
                <a:latin typeface="Arial"/>
              </a:rPr>
              <a:t>against a stand-in LMS: pass, fail and resume after reload.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55 tests; </a:t>
            </a:r>
            <a:r>
              <a:rPr sz="1700">
                <a:solidFill>
                  <a:srgbClr val="1A1A2E"/>
                </a:solidFill>
                <a:latin typeface="Arial"/>
              </a:rPr>
              <a:t>a browser bug that all unit tests missed was found and fixed.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700">
                <a:solidFill>
                  <a:srgbClr val="1A1A2E"/>
                </a:solidFill>
                <a:latin typeface="Arial"/>
              </a:rPr>
              <a:t>Live path refuses to start </a:t>
            </a:r>
            <a:r>
              <a:rPr sz="1700">
                <a:solidFill>
                  <a:srgbClr val="1A1A2E"/>
                </a:solidFill>
                <a:latin typeface="Arial"/>
              </a:rPr>
              <a:t>without the spend cap, the API key and a typed confirmation per call.</a:t>
            </a:r>
          </a:p>
        </p:txBody>
      </p:sp>
      <p:pic>
        <p:nvPicPr>
          <p:cNvPr id="5" name="Picture 4" descr="07-stub-lms-scorm12-pa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05940"/>
            <a:ext cx="5486400" cy="3429000"/>
          </a:xfrm>
          <a:prstGeom prst="rect">
            <a:avLst/>
          </a:prstGeom>
          <a:ln w="9525">
            <a:solidFill>
              <a:srgbClr val="C9D2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172200" y="5577840"/>
            <a:ext cx="5486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A6070"/>
                </a:solidFill>
                <a:latin typeface="Arial"/>
              </a:rPr>
              <a:t>Stand-in LMS log beside the player: score 100, passed, 8 interaction records, 102-character saved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The plan: 90, 180 and 365 days, each with a stop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4413" cy="2836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19"/>
                <a:gridCol w="3484196"/>
                <a:gridCol w="3117438"/>
                <a:gridCol w="2934060"/>
              </a:tblGrid>
              <a:tr h="321691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Delivers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Evidence gate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Stop rule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</a:tr>
              <a:tr h="709041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A2E"/>
                          </a:solidFill>
                          <a:latin typeface="Arial"/>
                        </a:rPr>
                        <a:t>1 Foundation
days 0 to 90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2E"/>
                          </a:solidFill>
                          <a:latin typeface="Arial"/>
                        </a:rPr>
                        <a:t>Course document, compiler for 3 standards, translation core with two-stage review, speech service v0, Hindi end to end, live pilot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2E"/>
                          </a:solidFill>
                          <a:latin typeface="Arial"/>
                        </a:rPr>
                        <a:t>Runs in Moodle 5.3 with resume and pass/fail; Hindi approved by named reviewers; speech scorecard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2E"/>
                          </a:solidFill>
                          <a:latin typeface="Arial"/>
                        </a:rPr>
                        <a:t>Compiler fails Moodle tests after 3 rounds: SCORM 1.2 only. Hindi voice fails twice: rented voice stays primary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90271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A2E"/>
                          </a:solidFill>
                          <a:latin typeface="Arial"/>
                        </a:rPr>
                        <a:t>2 Scenarios and scale
days 90 to 180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2E"/>
                          </a:solidFill>
                          <a:latin typeface="Arial"/>
                        </a:rPr>
                        <a:t>Scenario editor, Daily Review practice, 13 languages, right-to-left, decision analytics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2E"/>
                          </a:solidFill>
                          <a:latin typeface="Arial"/>
                        </a:rPr>
                        <a:t>Scenario authored in under 2 hours; practice engagement; reviewer throughput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2E"/>
                          </a:solidFill>
                          <a:latin typeface="Arial"/>
                        </a:rPr>
                        <a:t>Authoring over 4 hours: simplify; reviewers under half of plan: cut languages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  <a:tr h="90271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A2E"/>
                          </a:solidFill>
                          <a:latin typeface="Arial"/>
                        </a:rPr>
                        <a:t>3 Roleplay and product
days 180 to 365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2E"/>
                          </a:solidFill>
                          <a:latin typeface="Arial"/>
                        </a:rPr>
                        <a:t>Formative AI roleplay, learner speech, sellable tier, conformance, hardening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2E"/>
                          </a:solidFill>
                          <a:latin typeface="Arial"/>
                        </a:rPr>
                        <a:t>Rubric agreement with raters 0.6 or more; second customer in a day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2E"/>
                          </a:solidFill>
                          <a:latin typeface="Arial"/>
                        </a:rPr>
                        <a:t>No customer asks by day 240: defer; scores never count until calibrated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4068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Arial"/>
              </a:rPr>
              <a:t>About 72 Claude sessions in all. One developer takes over the speech service and pulls analytics forward; two bring the 13-language rollout in by day 150; a localisation lead owns reviewers and glossaries.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What it costs per course per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7589517" cy="2452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754"/>
                <a:gridCol w="3000507"/>
                <a:gridCol w="1500253"/>
                <a:gridCol w="1412003"/>
              </a:tblGrid>
              <a:tr h="329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Per language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13 languages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Arial"/>
                        </a:rPr>
                        <a:t>T0 Mock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Everything simulated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INR 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INR 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3085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Arial"/>
                        </a:rPr>
                        <a:t>T1 Lean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AI draft, self-hosted voice, one review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INR 1,450 to 3,050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INR 19k to 40k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  <a:tr h="53085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Arial"/>
                        </a:rPr>
                        <a:t>T2 Standard (compliance)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AI draft, voice and quality check, two-stage review, audit export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INR 2,800 to 5,850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INR 36k to 76k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73228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Arial"/>
                        </a:rPr>
                        <a:t>T3 Premium / fallback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Premium AI, rented voice or professional translation, two-stage review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INR 5,100 to 12,200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INR 66k to 160k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508760"/>
            <a:ext cx="3291840" cy="3840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b="1" sz="1500">
                <a:solidFill>
                  <a:srgbClr val="1A1A2E"/>
                </a:solidFill>
                <a:latin typeface="Arial"/>
              </a:rPr>
              <a:t>People are over 90%. </a:t>
            </a:r>
            <a:r>
              <a:rPr sz="1500">
                <a:solidFill>
                  <a:srgbClr val="1A1A2E"/>
                </a:solidFill>
                <a:latin typeface="Arial"/>
              </a:rPr>
              <a:t>AI is INR 25 to 45; voice INR 5 to 11 self-hosted.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500">
                <a:solidFill>
                  <a:srgbClr val="1A1A2E"/>
                </a:solidFill>
                <a:latin typeface="Arial"/>
              </a:rPr>
              <a:t>Fixed: </a:t>
            </a:r>
            <a:r>
              <a:rPr sz="1500">
                <a:solidFill>
                  <a:srgbClr val="1A1A2E"/>
                </a:solidFill>
                <a:latin typeface="Arial"/>
              </a:rPr>
              <a:t>India GPU about INR 7.5k to 17k a year at 100 courses; listening panel INR 5k to 15k per language.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b="1" sz="1500">
                <a:solidFill>
                  <a:srgbClr val="1A1A2E"/>
                </a:solidFill>
                <a:latin typeface="Arial"/>
              </a:rPr>
              <a:t>Pilot month cap: </a:t>
            </a:r>
            <a:r>
              <a:rPr sz="1500">
                <a:solidFill>
                  <a:srgbClr val="1A1A2E"/>
                </a:solidFill>
                <a:latin typeface="Arial"/>
              </a:rPr>
              <a:t>INR 10,000.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A6070"/>
                </a:solidFill>
                <a:latin typeface="Arial"/>
              </a:rPr>
              <a:t>Planning values at list prices. Human rates are assumptions to be replaced by quotes. The first live run measures the real cost per course per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Risks and how each is gated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4414" cy="291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0964"/>
                <a:gridCol w="4807579"/>
                <a:gridCol w="3235871"/>
              </a:tblGrid>
              <a:tr h="329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Gate or mitigation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Fallback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</a:tr>
              <a:tr h="53085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Voice quality not good enough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Per-language listening-panel gate; pronunciation lexicon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Rented India-region voice; self-hosted stays evaluation-only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Model licence not commercial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Written confirmation before any engine ships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Switch engine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  <a:tr h="53085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Reviewer capacity not staffed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Languages by demand; memory reuse; localisation lead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Fewer languages; machine drafts preview-only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Moodle runtime surprises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SCORM 1.2 default; cmi5 external first; test inside Moodle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SCORM 1.2 only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  <a:tr h="53085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Model data leaves India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Only de-identified content; PII gate; sub-processor pack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Customer-specific on-premise model, costed later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3294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Engineering bandwidth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Stop rules per stage; whole builds only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Arial"/>
                        </a:rPr>
                        <a:t>Stage 3 defers first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The six 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36192"/>
            <a:ext cx="1036289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b="1" sz="1700">
                <a:solidFill>
                  <a:srgbClr val="1A1A2E"/>
                </a:solidFill>
                <a:latin typeface="Arial"/>
              </a:rPr>
              <a:t>Accept ADR-034 </a:t>
            </a:r>
            <a:r>
              <a:rPr sz="1700">
                <a:solidFill>
                  <a:srgbClr val="1A1A2E"/>
                </a:solidFill>
                <a:latin typeface="Arial"/>
              </a:rPr>
              <a:t>and the Stage 1 scope.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9424"/>
            <a:ext cx="566928" cy="566928"/>
          </a:xfrm>
          <a:prstGeom prst="ellipse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9424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22576"/>
            <a:ext cx="1036289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b="1" sz="1700">
                <a:solidFill>
                  <a:srgbClr val="1A1A2E"/>
                </a:solidFill>
                <a:latin typeface="Arial"/>
              </a:rPr>
              <a:t>Set the AI spend cap </a:t>
            </a:r>
            <a:r>
              <a:rPr sz="1700">
                <a:solidFill>
                  <a:srgbClr val="1A1A2E"/>
                </a:solidFill>
                <a:latin typeface="Arial"/>
              </a:rPr>
              <a:t>(Addendum A, still blank): INR 10,000 for the pilot month, and provide the API key.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35808"/>
            <a:ext cx="566928" cy="566928"/>
          </a:xfrm>
          <a:prstGeom prst="ellipse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35808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6289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b="1" sz="1700">
                <a:solidFill>
                  <a:srgbClr val="1A1A2E"/>
                </a:solidFill>
                <a:latin typeface="Arial"/>
              </a:rPr>
              <a:t>Approve the speech line: </a:t>
            </a:r>
            <a:r>
              <a:rPr sz="1700">
                <a:solidFill>
                  <a:srgbClr val="1A1A2E"/>
                </a:solidFill>
                <a:latin typeface="Arial"/>
              </a:rPr>
              <a:t>India GPU batch jobs (about INR 10k to 20k a year), listening-panel honoraria, a six-week evaluation time-box.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22191"/>
            <a:ext cx="566928" cy="566928"/>
          </a:xfrm>
          <a:prstGeom prst="ellipse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22191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95344"/>
            <a:ext cx="1036289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b="1" sz="1700">
                <a:solidFill>
                  <a:srgbClr val="1A1A2E"/>
                </a:solidFill>
                <a:latin typeface="Arial"/>
              </a:rPr>
              <a:t>Name Hindi reviewers: </a:t>
            </a:r>
            <a:r>
              <a:rPr sz="1700">
                <a:solidFill>
                  <a:srgbClr val="1A1A2E"/>
                </a:solidFill>
                <a:latin typeface="Arial"/>
              </a:rPr>
              <a:t>a translator and a subject expert, so the two-stage loop runs on real content.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608576"/>
            <a:ext cx="566928" cy="566928"/>
          </a:xfrm>
          <a:prstGeom prst="ellipse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08576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81728"/>
            <a:ext cx="1036289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b="1" sz="1700">
                <a:solidFill>
                  <a:srgbClr val="1A1A2E"/>
                </a:solidFill>
                <a:latin typeface="Arial"/>
              </a:rPr>
              <a:t>Decide the product stance: </a:t>
            </a:r>
            <a:r>
              <a:rPr sz="1700">
                <a:solidFill>
                  <a:srgbClr val="1A1A2E"/>
                </a:solidFill>
                <a:latin typeface="Arial"/>
              </a:rPr>
              <a:t>part of the Enterprise plus AI tier, or a priced add-on.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394960"/>
            <a:ext cx="566928" cy="566928"/>
          </a:xfrm>
          <a:prstGeom prst="ellipse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468112"/>
            <a:ext cx="1036289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b="1" sz="1700">
                <a:solidFill>
                  <a:srgbClr val="1A1A2E"/>
                </a:solidFill>
                <a:latin typeface="Arial"/>
              </a:rPr>
              <a:t>Reconfirm data residency with compliance: </a:t>
            </a:r>
            <a:r>
              <a:rPr sz="1700">
                <a:solidFill>
                  <a:srgbClr val="1A1A2E"/>
                </a:solidFill>
                <a:latin typeface="Arial"/>
              </a:rPr>
              <a:t>de-identified content to Claude outside India with the study's controls, or cost an on-premise option.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Arial"/>
              </a:rPr>
              <a:t>What happens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280160" cy="45720"/>
          </a:xfrm>
          <a:prstGeom prst="rect">
            <a:avLst/>
          </a:prstGeom>
          <a:solidFill>
            <a:srgbClr val="006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94415" cy="175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8875532"/>
              </a:tblGrid>
              <a:tr h="375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Horizon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Focus</a:t>
                      </a:r>
                    </a:p>
                  </a:txBody>
                  <a:tcPr marL="73152" marR="73152" marT="45720" marB="45720" anchor="ctr">
                    <a:solidFill>
                      <a:srgbClr val="0066A7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2E"/>
                          </a:solidFill>
                          <a:latin typeface="Arial"/>
                        </a:rPr>
                        <a:t>Now to +90 days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Arial"/>
                        </a:rPr>
                        <a:t>Stage 1 foundation; live pilot once the cap and key exist; Hindi reviewed end to end; first speech gate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2E"/>
                          </a:solidFill>
                          <a:latin typeface="Arial"/>
                        </a:rPr>
                        <a:t>+3 to +6 months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Arial"/>
                        </a:rPr>
                        <a:t>Scenarios, Daily Review, thirteen languages, right-to-left, decision analytics</a:t>
                      </a:r>
                    </a:p>
                  </a:txBody>
                  <a:tcPr marL="73152" marR="73152" marT="45720" marB="45720" anchor="ctr">
                    <a:solidFill>
                      <a:srgbClr val="F2F4FB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2E"/>
                          </a:solidFill>
                          <a:latin typeface="Arial"/>
                        </a:rPr>
                        <a:t>+6 to +12 months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Arial"/>
                        </a:rPr>
                        <a:t>Live roleplay (formative), engine packaged for a second customer, conformance testing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03200" indent="-203200">
              <a:spcAft>
                <a:spcPts val="7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rial"/>
              </a:rPr>
              <a:t>Study, matrix, architecture decision, pilot and prototypes are on the branch claude/research-scorm-lxp, not merged.</a:t>
            </a:r>
          </a:p>
          <a:p>
            <a:pPr marL="203200" indent="-203200">
              <a:spcAft>
                <a:spcPts val="7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rial"/>
              </a:rPr>
              <a:t>Nothing is live; every flag defaults OFF; the next step on your side is the cap, the key and the reviewers.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A6070"/>
                </a:solidFill>
                <a:latin typeface="Arial"/>
              </a:rPr>
              <a:t>Sentientia Content Engine  |  15 October 2026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A607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