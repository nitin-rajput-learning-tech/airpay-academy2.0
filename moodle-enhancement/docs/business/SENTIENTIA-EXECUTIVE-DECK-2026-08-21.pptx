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story: over the past months we transformed the LMS we purchased into a platform we fully own - and it is now good enough to sell. Today: a status view and five approvals.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build is largely done and de-risked, but be precise - Sentientia is NOT live yet. All user data on it is a copy of the production database used for testing. The asks fund validation, compliance evidence, and the first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vendor relationship neutrally - we are benchmarking them via an RFP, not burning the bridge. The point is ownership and 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engineering-record numbers, not estimates - every figure traces to the repository and its decision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is built and demonstrated end-to-end on a complete copy of the production database (2,871 employees, 3 tenants incl. ZEEA Mafunzo). Zero of it existed in the purchased product. No live users are on Sentientia yet - go-live follows the UAT rehearsal.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carries the people/talent story: adoption, inclusion (Hindi), accessibility - and the same experience is the demo we show prospects.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governance banner is the finance story: AI cannot overspend by design - an unset budget means AI stays off, never unlimited.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WhatsApp is the differentiator to call out - for an Indian workforce it beats email open-rates by an order of magnitude, and incumbent global products do not lead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growth-story slide. The Meridian demo exists today on the development environment; dressing it with branding and sample content for sales demos is one of the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fintech buyer the first three questionnaire sections are identity, assurance, lifecycle. We built the identity and privacy layers; the certification runway is what the security budget purchases.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payment-bypass find alone arguably paid for the programme - frame it factually, not as vendor-bashing.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"when does it go live": Stage A this month, Stage B next, production cutover is a gated decision after the rehearsal passes - deliberately not date-promised.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Named competitor benchmark (Invince/UpsideLMS) is in the internal gap analysis - keep names off the slide, share verbally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pressed on internal cost: the honest answer is that this was built with existing headcount plus AI tooling; the vendor RFP will give the market-price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roadmap depends on the approvals on the next slide - say so explicitly when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infra, headcount and marketing amounts before presenting. Security programme + AI budget are PENDING approval - promise the detailed spend-plan annexes. AI cap: being estimated; a self-hosted local-model option (e.g. Ollama on our own server) is under evaluation to shrink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Presenting risks yourself builds more credibility than waiting to be asked. Key-person risk is the one leadership will feel - the hire ask on slide 16 is its mitigation.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1-2 ask for direction, not final numbers - the detailed spend plans follow as annexes. Item 6 is a note, not an approval: it protects everyone from date pressure on the cutover.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 - the full engineering inventory with component names lives in the product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Closes the loop on "how was this possible with a small team" - governance + AI leverage, not shortcuts.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3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A4D8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0A4D80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AIRPAY  LEARNING &amp; DEVELOPMENT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purchased platform to an owned product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&amp; approval briefing</a:t>
            </a:r>
            <a:pPr indent="0" marL="0">
              <a:buNone/>
            </a:pPr>
            <a:r>
              <a:rPr lang="en-US" sz="1500" dirty="0">
                <a:solidFill>
                  <a:srgbClr val="A9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  what we built, where it stands, and what we ask next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Nitin Rajput  ·  Head of Learning &amp; Development  ·  August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turned a vendor system into an owned platform - and a potential product 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happened.  </a:t>
            </a:r>
            <a:pPr indent="0" marL="0">
              <a:buNone/>
            </a:pPr>
            <a:r>
              <a:rPr lang="en-US" sz="13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platform we purchased (and pay AMC on) has been rebuilt in-house into Sentientia LMS: a fully owned, white-label, AI-ready enterprise platform. The platform is feature-complete and hardened against a full copy of production data (all 3 tenants); it is not yet serving live users. Formal validation begins on the newly provisioned UAT environment this month; real users load only after a passed migration rehearsal.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46+6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2186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&amp; blocks built or rebuilt (from ~17 purchased)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83280" y="2560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D6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383280" y="32186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 fixed in the purchased code - incl. one critical payment flaw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0" y="2560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3,500+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217920" y="32186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user records in the production data copy it is hardened against (3 tenants)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052560" y="2560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9052560" y="32186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languages at 100% parity (EN + HI), enforced by automation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11091672" cy="2103120"/>
          </a:xfrm>
          <a:prstGeom prst="roundRect">
            <a:avLst>
              <a:gd name="adj" fmla="val 3043"/>
            </a:avLst>
          </a:prstGeom>
          <a:solidFill>
            <a:srgbClr val="E8F2F9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ASK TODAY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Approve the security &amp; certification programme (Rs 80-120 lakh envelope; detailed spend plan to follow)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Approve the AI operating budget in principle - monthly cap being estimated, incl. a self-hosted model option to reduce it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Approve infrastructure, staffing and go-to-market line items to carry the product to its first external customer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bought - and where it was holding us 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19072"/>
            <a:ext cx="420624" cy="420624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594" y="1828434"/>
            <a:ext cx="201900" cy="201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7007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purchased baseline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228600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vendor LMS suite (~17 plugins) built on open-source Moodle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Skinned vendor theme - we owned none of the experience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compliance training for 3 tenants: airpay internal, public, and ZEEA Mafunzo (Tanzania)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by the vendor under an annual maintenance contract (AMC) for the last few years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1591"/>
            </a:avLst>
          </a:prstGeom>
          <a:solidFill>
            <a:srgbClr val="FDF3EC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28232" y="1719072"/>
            <a:ext cx="420624" cy="420624"/>
          </a:xfrm>
          <a:prstGeom prst="ellipse">
            <a:avLst/>
          </a:prstGeom>
          <a:solidFill>
            <a:srgbClr val="ED692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594" y="1828434"/>
            <a:ext cx="201900" cy="201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95160" y="17007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could not do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428232" y="228600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English-only in practice; dated, non-brand user experience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on an ageing Moodle line; upgrades depended on the vendor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AI, no mobile app strategy, no real-time engagement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Single-tenant mindset - nothing reusable for other organisations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 defects (incl. a critical payment-verification flaw we later found and fixed)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improvement from here on was built in-house, on top of this baseline - with production never breaking underneath it.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3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MONTHS OF 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transformation, in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11096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29968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1965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→ 52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768096" y="2606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&amp; blocks: purchased suite rebuilt, extended and fully owned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6916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98848" y="1911096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29968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181965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4517136" y="2606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files in our own design system - zero vendor dependency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0" y="169164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47888" y="1911096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029968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69680" y="181965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18" name="Text 13"/>
          <p:cNvSpPr/>
          <p:nvPr/>
        </p:nvSpPr>
        <p:spPr>
          <a:xfrm>
            <a:off x="8266176" y="2606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features built behind one governed gateway with hard spend caps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319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9808" y="4151376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70248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405993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768096" y="4846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language parity, machine-enforced on every change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97680" y="39319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498848" y="4151376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4270248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20640" y="405993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28" name="Text 21"/>
          <p:cNvSpPr/>
          <p:nvPr/>
        </p:nvSpPr>
        <p:spPr>
          <a:xfrm>
            <a:off x="4517136" y="4846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architecture decisions on record (audit-ready engineering)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046720" y="39319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47888" y="4151376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270248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69680" y="405993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200" dirty="0"/>
          </a:p>
        </p:txBody>
      </p:sp>
      <p:sp>
        <p:nvSpPr>
          <p:cNvPr id="33" name="Text 25"/>
          <p:cNvSpPr/>
          <p:nvPr/>
        </p:nvSpPr>
        <p:spPr>
          <a:xfrm>
            <a:off x="8266176" y="48463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defects fixed in the purchased code, incl. a critical payment flaw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WORKING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everyday platform, rebuilt - proven on production-scale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746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51" y="1851111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728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modern application shell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" y="2221992"/>
            <a:ext cx="319125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Role-aware navigation for learners, managers, trainers and admins; redesigned login &amp; self-signup; KPI dashboards with deadlines, achievements and continue-learning.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43984" y="1746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591" y="1851111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37760" y="1728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brand &amp; dark mode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462272" y="2221992"/>
            <a:ext cx="319125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brand book adopted 100%; dark mode with verified contrast; accessibility built in (reduced motion, screen-reader structure, touch targets).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93024" y="1746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631" y="1851111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6800" y="1728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at 100% parity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11312" y="2221992"/>
            <a:ext cx="319125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screen available in Hindi, kept in lockstep with English by an automated quality gate. Three more languages partially covered.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886200"/>
            <a:ext cx="352044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94944" y="4032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551" y="4137111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88720" y="4014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surfaces for employees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13232" y="4507992"/>
            <a:ext cx="319125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Skills with gap analysis, certificates wall, gamification (points, levels, streaks), one-click enrolment for free courses.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97680" y="3886200"/>
            <a:ext cx="352044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43984" y="4032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8591" y="4137111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37760" y="4014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&amp; compliance views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4462272" y="4507992"/>
            <a:ext cx="319125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KPIs, compliance drill-downs and escalation digests - managers see their team without asking L&amp;D.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46720" y="3886200"/>
            <a:ext cx="352044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193024" y="4032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631" y="4137111"/>
            <a:ext cx="193121" cy="1931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686800" y="4014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&amp; HR operations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211312" y="4507992"/>
            <a:ext cx="319125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storefront with cart, GST and the airpay payment gateway; HR-system import proven on the full 2,871-employee load; joiner/leaver automation.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consumer-grade experience for every employee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3794760"/>
          </a:xfrm>
          <a:prstGeom prst="roundRect">
            <a:avLst>
              <a:gd name="adj" fmla="val 1687"/>
            </a:avLst>
          </a:prstGeom>
          <a:solidFill>
            <a:srgbClr val="FAF5F0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- the purchased product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83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open-source look; nothing felt like airpay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English-only; Hindi speakers second-class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different navigation worlds confused learners mid-course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dark mode; accessibility untested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"Recommended" courses were not actually personalised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94960" cy="3794760"/>
          </a:xfrm>
          <a:prstGeom prst="roundRect">
            <a:avLst>
              <a:gd name="adj" fmla="val 1687"/>
            </a:avLst>
          </a:prstGeom>
          <a:solidFill>
            <a:srgbClr val="EEF7F1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737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- Sentientia 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983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branded app shell across every page and role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Hindi experience - enforced, not aspirational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in-course player: progress bar, contents, next-activity flow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mode + WCAG-grade contrast and motion sensitivity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driven by each employee's real skill gaps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56235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adoption. A platform people like using is the difference between compliance theatre and a learning culture - and it is the storefront when we sell Sentientia externally.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ENTERING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AI suite - six features, one safety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520440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09928"/>
            <a:ext cx="347472" cy="347472"/>
          </a:xfrm>
          <a:prstGeom prst="ellipse">
            <a:avLst/>
          </a:prstGeom>
          <a:solidFill>
            <a:srgbClr val="E8F2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1800271"/>
            <a:ext cx="166787" cy="1667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682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quiz generation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source text; reviewed questions publish into real course quizzes.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572768"/>
            <a:ext cx="3520440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34840" y="1709928"/>
            <a:ext cx="347472" cy="347472"/>
          </a:xfrm>
          <a:prstGeom prst="ellipse">
            <a:avLst/>
          </a:prstGeom>
          <a:solidFill>
            <a:srgbClr val="E8F2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5183" y="1800271"/>
            <a:ext cx="166787" cy="1667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64608" y="1682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course authoring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462272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drafts become complete courses with mastery checks.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46720" y="1572768"/>
            <a:ext cx="3520440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83880" y="1709928"/>
            <a:ext cx="347472" cy="347472"/>
          </a:xfrm>
          <a:prstGeom prst="ellipse">
            <a:avLst/>
          </a:prstGeom>
          <a:solidFill>
            <a:srgbClr val="E8F2F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223" y="1800271"/>
            <a:ext cx="166787" cy="1667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13648" y="168249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intelligence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11312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skill-gap analysis feeding personal recommendations.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054096"/>
            <a:ext cx="3520440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" y="3191256"/>
            <a:ext cx="347472" cy="347472"/>
          </a:xfrm>
          <a:prstGeom prst="ellipse">
            <a:avLst/>
          </a:prstGeom>
          <a:solidFill>
            <a:srgbClr val="E8F2F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3281599"/>
            <a:ext cx="166787" cy="16678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15568" y="316382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recommendations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13232" y="358444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suggestions from each employee's actual gaps.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97680" y="3054096"/>
            <a:ext cx="3520440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34840" y="3191256"/>
            <a:ext cx="347472" cy="347472"/>
          </a:xfrm>
          <a:prstGeom prst="ellipse">
            <a:avLst/>
          </a:prstGeom>
          <a:solidFill>
            <a:srgbClr val="E8F2F9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83" y="3281599"/>
            <a:ext cx="166787" cy="16678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864608" y="316382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translation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4462272" y="358444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translations with protected brand terms, human-reviewed.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46720" y="3054096"/>
            <a:ext cx="3520440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183880" y="3191256"/>
            <a:ext cx="347472" cy="347472"/>
          </a:xfrm>
          <a:prstGeom prst="ellipse">
            <a:avLst/>
          </a:prstGeom>
          <a:solidFill>
            <a:srgbClr val="E8F2F9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4223" y="3281599"/>
            <a:ext cx="166787" cy="16678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613648" y="316382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assistant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211312" y="358444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guarded agent that can recommend, enrol and book sessions.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548640" y="4709160"/>
            <a:ext cx="11091672" cy="1463040"/>
          </a:xfrm>
          <a:prstGeom prst="roundRect">
            <a:avLst>
              <a:gd name="adj" fmla="val 4375"/>
            </a:avLst>
          </a:prstGeom>
          <a:solidFill>
            <a:srgbClr val="06355C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49808" y="4956048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74920"/>
            <a:ext cx="219456" cy="2194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37160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feature runs through one governed gateway</a:t>
            </a:r>
            <a:endParaRPr lang="en-US" sz="1400" dirty="0"/>
          </a:p>
        </p:txBody>
      </p:sp>
      <p:sp>
        <p:nvSpPr>
          <p:cNvPr id="38" name="Text 29"/>
          <p:cNvSpPr/>
          <p:nvPr/>
        </p:nvSpPr>
        <p:spPr>
          <a:xfrm>
            <a:off x="1371600" y="5230368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key management  ·  every call logged to a spend ledger  ·  hard daily &amp; monthly budget caps that fail closed  ·  human review before anything reaches learners  ·  switched off by default until we approve budgets</a:t>
            </a:r>
            <a:endParaRPr lang="en-US" sz="1150" dirty="0"/>
          </a:p>
        </p:txBody>
      </p:sp>
      <p:sp>
        <p:nvSpPr>
          <p:cNvPr id="39" name="Text 30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40" name="Text 31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ENTERING 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Engagement, mobile reach and enterprise integration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297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83080"/>
            <a:ext cx="457200" cy="457200"/>
          </a:xfrm>
          <a:prstGeom prst="ellipse">
            <a:avLst/>
          </a:prstGeom>
          <a:solidFill>
            <a:srgbClr val="ED69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1901952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49808" y="242316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in-class polls &amp; quizzes (Mentimeter-class), built in-house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leaderboards with privacy opt-out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proctoring with identity verification, ready for cloud face-match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4297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62272" y="1783080"/>
            <a:ext cx="457200" cy="457200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1144" y="190195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47488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498848" y="242316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mobile app (PWA) with push notifications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notification channel - India-first engagement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Funded native app track on iOS/Android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0" y="1600200"/>
            <a:ext cx="3520440" cy="4297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11312" y="1783080"/>
            <a:ext cx="457200" cy="457200"/>
          </a:xfrm>
          <a:prstGeom prst="ellipse">
            <a:avLst/>
          </a:prstGeom>
          <a:solidFill>
            <a:srgbClr val="0A4D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19019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796528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47888" y="242316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REST API with rate limiting + LTI 1.3 standard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HR sync with KeKa (join / move / exit), security-hardened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Learning-activity capture (xAPI) + external content-marketplace connectors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feature-flagged and OFF by default until validated - platform behaviour never changes by accident.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3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STRATEGIC SHIFT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internal tool to sellable product - and we can prove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is architected as a white-label, multi-customer platform: every organisation gets its own tenants, branding, feature switches and data isolation. This month we demonstrated it end-to-end: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87168"/>
            <a:ext cx="502920" cy="50292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248716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the customer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3200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fictional second customer -"Meridian Financial Services" - added through the built-in registry.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22860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2487168"/>
            <a:ext cx="502920" cy="50292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20640" y="248716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one switch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17136" y="3200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resolved every Meridian user to the Meridian customer, fully isolated from airpay data.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487168"/>
            <a:ext cx="502920" cy="50292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0" y="248716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Configure, not code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66176" y="320040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and branding now resolve per customer - the same flag can be ON for airpay and OFF for Meridian.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120640"/>
            <a:ext cx="438912" cy="438912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925" y="5234757"/>
            <a:ext cx="210678" cy="21067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353312" y="502920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 engineering, with automated tests:  </a:t>
            </a:r>
            <a:pPr indent="0" marL="0">
              <a:buNone/>
            </a:pPr>
            <a:r>
              <a:rPr lang="en-US" sz="12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customer #2 is now a configuration task measured in days - not an engineering project measured in months. That is the difference between an internal tool and a product.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Privacy, identity and the certification runway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746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51" y="1851111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728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privacy, done properly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" y="2221992"/>
            <a:ext cx="319125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 + DPDP Act 2023 data-subject-rights tooling (export, deletion, consent log); privacy declarations across the entire plugin suite.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43984" y="1746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8591" y="1851111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37760" y="1728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Identity, bank-grade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462272" y="2221992"/>
            <a:ext cx="319125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single sign-on and multi-factor authentication configuration packs ready; OAuth2-only email (no stored passwords) per IT mandate.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46720" y="1600200"/>
            <a:ext cx="352044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93024" y="1746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7631" y="1851111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6800" y="1728216"/>
            <a:ext cx="2752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Modern, current platform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11312" y="2221992"/>
            <a:ext cx="319125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to the current Moodle 5.x line with a repeatable upgrade pipeline - no more being stranded on old versions.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840480"/>
            <a:ext cx="11091672" cy="2148840"/>
          </a:xfrm>
          <a:prstGeom prst="roundRect">
            <a:avLst>
              <a:gd name="adj" fmla="val 2979"/>
            </a:avLst>
          </a:prstGeom>
          <a:solidFill>
            <a:srgbClr val="E8F2F9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77240" y="400507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CERTIFICATION RUNWAY - funded envelope approved in principle, dates re-baselined on the new UAT environment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777240" y="4389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777240" y="468172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Incident-response plan + ISO gap closure with evidence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3474720" y="4389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3474720" y="468172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penetration test (CERT-In empanelled) executed + remediated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6172200" y="4389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172200" y="468172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25,000-user load test - published scale proof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869680" y="4389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869680" y="4681728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27001 Stage 1 engagement; SOC 2 track for global buyers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SAFE TO BET 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the purchased product never had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7667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79222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51" y="1896831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773936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ships hot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" y="2267712"/>
            <a:ext cx="5047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feature is behind a switch, OFF by default; flipped per customer/tenant only after validation. The current airpay.academy production has stayed untouched throughout - by design.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537667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9944" y="179222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551" y="1896831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73936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on record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428232" y="2267712"/>
            <a:ext cx="5047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formal architecture decision records + state cards per component - any engineer (or auditor) can reconstruct why the platform is the way it 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7667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94944" y="4032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51" y="4137111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88720" y="4014216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quality gates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713232" y="4507992"/>
            <a:ext cx="5047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pre-commit checks and an 11-job CI pipeline: language parity, security scans, contract checks, automated tests - regressions are caught by machines, not users.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63640" y="3886200"/>
            <a:ext cx="5376672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9944" y="40325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551" y="4137111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03720" y="4014216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audit what we bought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28232" y="4507992"/>
            <a:ext cx="504748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programme found and fixed 100+ defects in the vendor code - including a critical payment-verification bypass that had been in production undetected.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 are versioned, checksummed packages with signed-off deployment guidebooks - the same discipline we will offer paying customers.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right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EEF7F1"/>
          </a:solidFill>
          <a:ln w="9525">
            <a:solidFill>
              <a:srgbClr val="E2E6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65376"/>
            <a:ext cx="1371600" cy="402336"/>
          </a:xfrm>
          <a:prstGeom prst="roundRect">
            <a:avLst>
              <a:gd name="adj" fmla="val 11364"/>
            </a:avLst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6537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286000" y="1755648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approvals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0" y="173736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and technology leadership approved the UAT programme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EEF7F1"/>
          </a:solidFill>
          <a:ln w="9525">
            <a:solidFill>
              <a:srgbClr val="E2E6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798064"/>
            <a:ext cx="1371600" cy="402336"/>
          </a:xfrm>
          <a:prstGeom prst="roundRect">
            <a:avLst>
              <a:gd name="adj" fmla="val 11364"/>
            </a:avLst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7980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86000" y="268833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environment live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267004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servers provisioned this week - modern stack requirements met (PHP 8.3 / MySQL 8.4); access credentials issued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11296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730752"/>
            <a:ext cx="1371600" cy="402336"/>
          </a:xfrm>
          <a:prstGeom prst="roundRect">
            <a:avLst>
              <a:gd name="adj" fmla="val 11364"/>
            </a:avLst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7307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286000" y="362102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wiring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0" y="36027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web address + load balancer; deployment package already delivered to DevOps with checksums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443984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4663440"/>
            <a:ext cx="1371600" cy="402336"/>
          </a:xfrm>
          <a:prstGeom prst="roundRect">
            <a:avLst>
              <a:gd name="adj" fmla="val 11364"/>
            </a:avLst>
          </a:prstGeom>
          <a:solidFill>
            <a:srgbClr val="0066A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466344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86000" y="455371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A - first full validation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0" y="453542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install and functional smoke of the complete platform on the new stack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76672"/>
            <a:ext cx="1109167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5596128"/>
            <a:ext cx="1371600" cy="402336"/>
          </a:xfrm>
          <a:prstGeom prst="roundRect">
            <a:avLst>
              <a:gd name="adj" fmla="val 11364"/>
            </a:avLst>
          </a:prstGeom>
          <a:solidFill>
            <a:srgbClr val="0A4D80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59612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286000" y="54864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B - migration rehearsal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669280" y="5468112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rehearsal with a copy of live data - the gate before real users first load onto Sentientia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platforms are converging on AI - and India-first wins are open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analysts describe the LMS / LXP / micro-learning categories collapsing into one AI-native platform organised around skills. Incumbents are re-positioning fast; enterprise buyers in India additionally need DPDP compliance, Indian-language depth and WhatsApp-native engagement - exactly where global products are weakest.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37667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94944" y="26609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551" y="2765511"/>
            <a:ext cx="193121" cy="1931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07008" y="26426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AI-native, governed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07008" y="3081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AI with budget governance - not a bolted-on chatbot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63640" y="2514600"/>
            <a:ext cx="537667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9944" y="26609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551" y="2765511"/>
            <a:ext cx="193121" cy="1931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22008" y="26426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India-first by design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922008" y="3081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DPDP tooling, 100% Hindi, WhatsApp channel, BFSI compliance depth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4114800"/>
            <a:ext cx="537667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94944" y="42611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51" y="4365711"/>
            <a:ext cx="193121" cy="19312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07008" y="42428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multi-customer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207008" y="46817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Demonstrated - most competitors retrofit this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263640" y="4114800"/>
            <a:ext cx="537667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9944" y="4261104"/>
            <a:ext cx="402336" cy="402336"/>
          </a:xfrm>
          <a:prstGeom prst="ellipse">
            <a:avLst/>
          </a:prstGeom>
          <a:solidFill>
            <a:srgbClr val="0066A7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551" y="4365711"/>
            <a:ext cx="193121" cy="19312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22008" y="42428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cost advantage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922008" y="46817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core: no per-seat licence to a foreign vendor; we sell hosting, service and outcomes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against the named incumbent in our segment (400+ organisations, marquee bank client), our analysis places Sentientia at or ahead on the foundations the market is converging toward.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Sentientia earns: service revenue plus cost avoidance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LINE (draft pricing - for sign-off)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4937760" cy="932688"/>
          </a:xfrm>
          <a:prstGeom prst="roundRect">
            <a:avLst>
              <a:gd name="adj" fmla="val 5882"/>
            </a:avLst>
          </a:prstGeom>
          <a:solidFill>
            <a:srgbClr val="E8F2F9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176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LMS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training that runs itself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221284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Rs 300-500</a:t>
            </a:r>
            <a:pPr algn="r" indent="0" marL="0">
              <a:buNone/>
            </a:pPr>
            <a:endParaRPr lang="en-US" sz="130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user / year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145536"/>
            <a:ext cx="4937760" cy="932688"/>
          </a:xfrm>
          <a:prstGeom prst="roundRect">
            <a:avLst>
              <a:gd name="adj" fmla="val 5882"/>
            </a:avLst>
          </a:prstGeom>
          <a:solidFill>
            <a:srgbClr val="E8F2F9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2186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 + Reach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360273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employees actually open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69080" y="3255264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Rs 600-900</a:t>
            </a:r>
            <a:pPr algn="r" indent="0" marL="0">
              <a:buNone/>
            </a:pPr>
            <a:endParaRPr lang="en-US" sz="130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user / year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4187952"/>
            <a:ext cx="4937760" cy="932688"/>
          </a:xfrm>
          <a:prstGeom prst="roundRect">
            <a:avLst>
              <a:gd name="adj" fmla="val 5882"/>
            </a:avLst>
          </a:prstGeom>
          <a:solidFill>
            <a:srgbClr val="E8F2F9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+ AI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32688" y="46451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with the governed AI suite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42976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 Rs 1,200-1,800</a:t>
            </a:r>
            <a:pPr algn="r" indent="0" marL="0">
              <a:buNone/>
            </a:pPr>
            <a:endParaRPr lang="en-US" sz="130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user / year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52578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licence means we sell hosting, implementation, support SLAs and the AI service - not seats. Anchors from the internal pricing draft; final figures need sign-off.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63640" y="1508760"/>
            <a:ext cx="539496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AVOIDANCE &amp; LEVERAGE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2103120"/>
            <a:ext cx="4983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benchmark in progress: we have formally asked the incumbent vendor to quote effort, cost and timeline to replicate this transformation - their number becomes the documented value of what was built in-house.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 leverage: the same letter asks whether they would support Sentientia under AMC - either answer strengthens our negotiating position at renewal.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build cost: primarily existing L&amp;D capacity amplified by AI-assisted engineering - direct spend to date has been minimal. [Effort summary available separately.]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TWO QUARTERS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validation to first external customer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ED69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377440"/>
            <a:ext cx="23591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Stage A: first full-platform validation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Stage B: live-data migration rehearsal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Incident-response plan + ISO gaps closed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Penetration-test vendor signed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60420" y="1645920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0066A7"/>
          </a:solidFill>
          <a:ln/>
        </p:spPr>
      </p:sp>
      <p:sp>
        <p:nvSpPr>
          <p:cNvPr id="9" name="Text 7"/>
          <p:cNvSpPr/>
          <p:nvPr/>
        </p:nvSpPr>
        <p:spPr>
          <a:xfrm>
            <a:off x="336042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60420" y="224028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97580" y="2377440"/>
            <a:ext cx="23591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Penetration test executed + remediated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cutover decision (gated on Stage B)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customer dressed for sales (branding, sample content)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features first live pilots on UAT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0066A7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24028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2377440"/>
            <a:ext cx="23591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25k-user load test - scale proof published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taxonomy populated (content team)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collateral + security questionnaire pack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external prospect conversations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83980" y="1645920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0066A7"/>
          </a:solidFill>
          <a:ln/>
        </p:spPr>
      </p:sp>
      <p:sp>
        <p:nvSpPr>
          <p:cNvPr id="17" name="Text 15"/>
          <p:cNvSpPr/>
          <p:nvPr/>
        </p:nvSpPr>
        <p:spPr>
          <a:xfrm>
            <a:off x="8983980" y="16459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83980" y="224028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21140" y="2377440"/>
            <a:ext cx="23591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27001 Stage 1 engagement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external pilot customer target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mobile app build underway</a:t>
            </a:r>
            <a:endParaRPr lang="en-US" sz="10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2 track opens for global buyers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cutover remains a gated decision after the migration rehearsal passes - dates above are working targets, not commitments to risk.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&amp; resource approvals requested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365760"/>
          </a:xfrm>
          <a:prstGeom prst="rect">
            <a:avLst/>
          </a:prstGeom>
          <a:solidFill>
            <a:srgbClr val="06355C"/>
          </a:solidFill>
          <a:ln w="6350">
            <a:solidFill>
              <a:srgbClr val="E2E6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600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46120" y="16002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buys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63840" y="16002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104120" y="1600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1109167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6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96596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certification programme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46120" y="196596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Penetration test, ISO 27001 gap closure + Stage 1, SOC 2 track, 25k load test - the evidence enterprise buyers require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19659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80-120 lakh envelope (detailed spend plan to follow)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104120" y="19659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approval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11091672" cy="777240"/>
          </a:xfrm>
          <a:prstGeom prst="rect">
            <a:avLst/>
          </a:prstGeom>
          <a:solidFill>
            <a:srgbClr val="F7FAFD"/>
          </a:solidFill>
          <a:ln w="6350">
            <a:solidFill>
              <a:srgbClr val="E2E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operating budget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46120" y="274320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AI usage (quiz generation first) under hard monthly caps that fail closed; unused budget is simply not spent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0" y="2743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 being estimated; self-hosted model option under evaluation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104120" y="27432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approval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74720"/>
            <a:ext cx="1109167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6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35204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46120" y="352044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right-sizing for the migration rehearsal; production database upgrade; domain, load balancer &amp; certificates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3840" y="35204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[DevOps estimate - to confirm]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04120" y="35204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ask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091672" cy="777240"/>
          </a:xfrm>
          <a:prstGeom prst="rect">
            <a:avLst/>
          </a:prstGeom>
          <a:solidFill>
            <a:srgbClr val="F7FAFD"/>
          </a:solidFill>
          <a:ln w="6350">
            <a:solidFill>
              <a:srgbClr val="E2E6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42976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46120" y="429768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platform-support engineer (per the draft SLA model); content-team time to tag courses to skills; native-app build squad (already funded in principle)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863840" y="4297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[Headcount plan - to confirm]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104120" y="429768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Partially approved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9167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6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50749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246120" y="507492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customer dressing, sales collateral, security-questionnaire pack, pricing sign-off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863840" y="50749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[Marketing estimate - to confirm]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104120" y="50749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ask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59161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line-item spend plans for the security programme and the AI budget will be circulated before sign-off - approval on direction is requested today.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EYES OPEN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and how we are handling them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7667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6276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Key-person concentration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93852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i="1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was built by a very small team.  </a:t>
            </a:r>
            <a:pPr indent="0" marL="0">
              <a:buNone/>
            </a:pPr>
            <a:r>
              <a:rPr lang="en-US" sz="98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documented to auditable standard (decision records, runbooks, guidebooks); support-engineer hire spreads the load; vendor AMC option keeps a fallback.</a:t>
            </a:r>
            <a:endParaRPr lang="en-US" sz="98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7667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62763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Single-customer proof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28232" y="193852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i="1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airpay is the only customer, and Sentientia is not live yet.  </a:t>
            </a:r>
            <a:pPr indent="0" marL="0">
              <a:buNone/>
            </a:pPr>
            <a:r>
              <a:rPr lang="en-US" sz="98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validation + migration rehearsal are the immediate path to go-live; multi-customer architecture demonstrated; first external pilot is a dated roadmap item.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48640" y="3090672"/>
            <a:ext cx="537667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1638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Vendor/AMC ambiguity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" y="34747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i="1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incumbent vendor may decline to support our build.  </a:t>
            </a:r>
            <a:pPr indent="0" marL="0">
              <a:buNone/>
            </a:pPr>
            <a:r>
              <a:rPr lang="en-US" sz="98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RFP sent; either answer informs renewal. Our own runbooks reduce dependence either way.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263640" y="3090672"/>
            <a:ext cx="537667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16382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timeline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28232" y="347472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i="1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Certifications take quarters, and buyers ask early.  </a:t>
            </a:r>
            <a:pPr indent="0" marL="0">
              <a:buNone/>
            </a:pPr>
            <a:r>
              <a:rPr lang="en-US" sz="98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Penetration test + evidence pack land this quarter and satisfy most questionnaires before ISO completes.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548640" y="4626864"/>
            <a:ext cx="537667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7000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sizing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3232" y="5010912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i="1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servers are modest; rehearsal may need more.  </a:t>
            </a:r>
            <a:pPr indent="0" marL="0">
              <a:buNone/>
            </a:pPr>
            <a:r>
              <a:rPr lang="en-US" sz="98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and budgeted - resize is a same-day cloud operation, flagged with DevOps in advance.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6263640" y="4626864"/>
            <a:ext cx="5376672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7000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dependency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5010912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i="1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Skills-based features need courses tagged to skills.  </a:t>
            </a:r>
            <a:pPr indent="0" marL="0">
              <a:buNone/>
            </a:pPr>
            <a:r>
              <a:rPr lang="en-US" sz="98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Content-team workstream scoped; platform falls back gracefully until tagging completes.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35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CD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CLOSE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requested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640080"/>
          </a:xfrm>
          <a:prstGeom prst="roundRect">
            <a:avLst>
              <a:gd name="adj" fmla="val 8571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37360"/>
            <a:ext cx="365760" cy="36576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16459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security &amp; certification programme direction (Rs 80-120 lakh envelope; spend plan to follow)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11091672" cy="640080"/>
          </a:xfrm>
          <a:prstGeom prst="roundRect">
            <a:avLst>
              <a:gd name="adj" fmla="val 8571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487168"/>
            <a:ext cx="365760" cy="36576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AI budget direction - cap to be estimated, incl. evaluating self-hosted models to cut cost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11091672" cy="640080"/>
          </a:xfrm>
          <a:prstGeom prst="roundRect">
            <a:avLst>
              <a:gd name="adj" fmla="val 8571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236976"/>
            <a:ext cx="365760" cy="36576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314553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infrastructure line: UAT right-sizing + production database upgrade + domain/load-balancer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11091672" cy="640080"/>
          </a:xfrm>
          <a:prstGeom prst="roundRect">
            <a:avLst>
              <a:gd name="adj" fmla="val 8571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3986784"/>
            <a:ext cx="365760" cy="36576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389534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one platform-support engineer and the content-team skills-tagging workstream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599432"/>
            <a:ext cx="11091672" cy="640080"/>
          </a:xfrm>
          <a:prstGeom prst="roundRect">
            <a:avLst>
              <a:gd name="adj" fmla="val 8571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4736592"/>
            <a:ext cx="365760" cy="365760"/>
          </a:xfrm>
          <a:prstGeom prst="ellipse">
            <a:avLst/>
          </a:prstGeom>
          <a:solidFill>
            <a:srgbClr val="ED692B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25880" y="46451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go-to-market preparation: demo customer dressing, collateral, and sign-off of the draft pricing tiers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349240"/>
            <a:ext cx="11091672" cy="640080"/>
          </a:xfrm>
          <a:prstGeom prst="roundRect">
            <a:avLst>
              <a:gd name="adj" fmla="val 8571"/>
            </a:avLst>
          </a:prstGeom>
          <a:solidFill>
            <a:srgbClr val="0A4D80"/>
          </a:solidFill>
          <a:ln w="9525">
            <a:solidFill>
              <a:srgbClr val="1C6EA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" y="5486400"/>
            <a:ext cx="365760" cy="365760"/>
          </a:xfrm>
          <a:prstGeom prst="ellipse">
            <a:avLst/>
          </a:prstGeom>
          <a:solidFill>
            <a:srgbClr val="1985DD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25880" y="5394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production cutover gate: it follows a passed migration rehearsal, not a calendar date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inventory (condensed)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PLATFORM (on by default at go-live)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Owned design system &amp; app shell (4 role personas)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 login, self-signup, landing page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mode + WCAG-grade accessibility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Hindi parity (automated gate); kn/mr/sw partial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Skills: gap analysis, radar, recommendations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wall + certificate health monitoring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Gamification: points, levels, streaks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team KPIs + compliance drill-downs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storefront, cart, GST, payment gateway (hardened)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HRMS CSV import (2,871 employees proven) + joiner/leaver automation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requests &amp; approval routing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&amp; email digests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 vendor-code defects fixed</a:t>
            </a:r>
            <a:endParaRPr lang="en-US" sz="1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63640" y="1508760"/>
            <a:ext cx="54864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- FEATURE-FLAGGED (validated on UAT first)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in-course player (single navigation, progress, next-up)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gateway: central keys, spend ledger, fail-closed caps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quiz generation -&gt; real course quizzes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course authoring -&gt; real courses with mastery checks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intelligence, recommendations, translation, assistant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sessions (polls/quizzes), live leaderboards, proctoring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PWA + push; WhatsApp channel; funded native app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REST API + LTI 1.3; KeKa HRMS webhook sync (hardened)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xAPI activity capture; content-marketplace connectors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GDPR/DPDP data-subject-rights tooling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OAuth2-only email; Microsoft SSO + MFA packs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multi-customer registry (Customer-N demonstrated)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Moodle 5.2 upgrade candidate, checksummed release packages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85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record &amp; delivery discipline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9222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828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decision records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9222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760720" y="1828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pre-commit checks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9222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509760" y="18288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pipeline jobs on every change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35204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4670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01168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files under the parity gate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3200400"/>
            <a:ext cx="35204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80560" y="334670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150+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76072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around the new feature set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3200400"/>
            <a:ext cx="35204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0" y="3346704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50976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checksummed release packages delivered to DevOps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89204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E8F2F9"/>
          </a:solidFill>
          <a:ln w="9525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note.  </a:t>
            </a:r>
            <a:pPr indent="0" marL="0">
              <a:buNone/>
            </a:pPr>
            <a:r>
              <a:rPr lang="en-US" sz="1200" dirty="0">
                <a:solidFill>
                  <a:srgbClr val="5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programme pairs a small internal team with AI-assisted engineering under strict human gates: every change is reviewed, feature-flagged, tested and documented before it ships. The same governance applies to the AI features the platform itself offers.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Sentientia LMS  |  Confidential - internal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475720" y="651052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0A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Sentientia LMS - Investment &amp; Approval Briefing</dc:title>
  <dc:subject>PptxGenJS Presentation</dc:subject>
  <dc:creator>Nitin Rajput</dc:creator>
  <cp:lastModifiedBy>Nitin Rajput</cp:lastModifiedBy>
  <cp:revision>1</cp:revision>
  <dcterms:created xsi:type="dcterms:W3CDTF">2026-08-24T06:01:40Z</dcterms:created>
  <dcterms:modified xsi:type="dcterms:W3CDTF">2026-08-24T06:01:40Z</dcterms:modified>
</cp:coreProperties>
</file>