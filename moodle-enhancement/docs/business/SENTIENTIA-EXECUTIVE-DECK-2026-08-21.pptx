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story: over the past months we transformed the LMS we purchased into a platform we fully own - and it is now good enough to sell. Today: a status view and five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this is not a request to start something - the build is largely done and de-risked. The asks fund validation, compliance evidence, and the first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vendor relationship neutrally - we are benchmarking them via an RFP, not burning the bridge. The point is ownership and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engineering-record numbers, not estimates - every figure traces to the repository and its decision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what employees see today on airpay.academy - zero of it existed in the purchased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carries the people/talent story: adoption, inclusion (Hindi), accessibility - and the same experience is the demo we show prospects.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banner is the finance story: AI cannot overspend by design - an unset budget means AI stays off, never unlimited.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WhatsApp is the differentiator to call out - for an Indian workforce it beats email open-rates by an order of magnitude, and incumbent global products do not lead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growth-story slide. The Meridian demo exists today on the development environment; dressing it with branding and sample content for sales demos is one of the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fintech buyer the first three questionnaire sections are identity, assurance, lifecycle. We built the identity and privacy layers; the certification runway is what the security budget purchases.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payment-bypass find alone arguably paid for the programme - frame it factually, not as vendor-bashing.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"when does it go live": Stage A this month, Stage B next, production cutover is a gated decision after the rehearsal passes - deliberately not date-promised.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Named competitor benchmark (Invince/UpsideLMS) is in the internal gap analysis - keep names off the slide, share verbally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pressed on internal cost: the honest answer is that this was built with existing headcount plus AI tooling; the vendor RFP will give the market-price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depends on the approvals on the next slide - say so explicitly when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three [to confirm] amounts before presenting: DevOps infra estimate, headcount plan, marketing estimate. The security envelope and AI-cap principle are already signed - anchor on that momentum.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risks yourself builds more credibility than waiting to be asked. Key-person risk is the one leadership will feel - the hire ask on slide 16 is its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6 is a "note", not an approval - it protects everyone from date pressure on the production cutover.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- the full engineering inventory with component names lives in the product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Closes the loop on "how was this possible with a small team" - governance + AI leverage, not shortcuts.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A4D8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A4D8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AIRPAY  LEARNING &amp; DEVELOPMENT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purchased platform to an owned product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approval briefing</a:t>
            </a:r>
            <a:pPr indent="0" marL="0">
              <a:buNone/>
            </a:pPr>
            <a:r>
              <a:rPr lang="en-US" sz="1500" dirty="0">
                <a:solidFill>
                  <a:srgbClr val="A9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  what we built, where it stands, and what we ask next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Nitin Rajput  ·  Head of Learning &amp; Development  ·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turned a vendor system into an owned platform - and a potential product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happened.  </a:t>
            </a:r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platform we purchased (and pay AMC on) has been rebuilt in-house into Sentientia LMS: a fully owned, white-label, AI-ready enterprise platform. Employees already use the new experience foundation in production; the advanced feature set is built, tested and staged behind switches, entering formal validation on the newly provisioned UAT environment this month.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46+6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218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&amp; blocks built or rebuilt (from ~17 purchased)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2560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D6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383280" y="3218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fixed in the purchased code - incl. one critical payment flaw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0" y="2560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217920" y="3218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on the platform across 3 business units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52560" y="25603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052560" y="32186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at 100% parity (EN + HI), enforced by automation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2103120"/>
          </a:xfrm>
          <a:prstGeom prst="roundRect">
            <a:avLst>
              <a:gd name="adj" fmla="val 3043"/>
            </a:avLst>
          </a:prstGeom>
          <a:solidFill>
            <a:srgbClr val="E8F2F9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279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 TODAY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Confirm the security &amp; certification budget figure (envelope already approved in principle)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Approve the AI operating budget (monthly cap) so the built AI suite can go live safely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Approve infrastructure, staffing and go-to-market line items to carry the product to its first external customer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bought - and where it was holding us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19072"/>
            <a:ext cx="420624" cy="420624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94" y="1828434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00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purchased baseline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vendor LMS suite (~17 plugins) built on open-source Moodle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Skinned vendor theme - we owned none of the experience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core compliance training for 3 business units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the vendor under an annual maintenance contract (AMC) for the last few years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1591"/>
            </a:avLst>
          </a:prstGeom>
          <a:solidFill>
            <a:srgbClr val="FDF3EC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19072"/>
            <a:ext cx="420624" cy="420624"/>
          </a:xfrm>
          <a:prstGeom prst="ellipse">
            <a:avLst/>
          </a:prstGeom>
          <a:solidFill>
            <a:srgbClr val="ED6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594" y="1828434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7007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could not do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28232" y="228600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English-only in practice; dated, non-brand user experience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an ageing Moodle line; upgrades depended on the vendor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AI, no mobile app strategy, no real-time engagement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Single-tenant mindset - nothing reusable for other organisations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defects (incl. a critical payment-verification flaw we later found and fixed)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improvement from here on was built in-house, on top of this baseline - with production never breaking underneath it.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3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MONTHS OF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transformation, in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11096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2996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965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→ 52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68096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&amp; blocks: purchased suite rebuilt, extended and fully owned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8848" y="1911096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299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81965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514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4517136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files in our own design system - zero vendor dependency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1911096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2996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1965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8266176" y="2606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features built behind one governed gateway with hard spend caps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151376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5993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768096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language parity, machine-enforced on every change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8848" y="4151376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270248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405993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28" name="Text 21"/>
          <p:cNvSpPr/>
          <p:nvPr/>
        </p:nvSpPr>
        <p:spPr>
          <a:xfrm>
            <a:off x="4517136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architecture decisions on record (audit-ready engineering)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47888" y="4151376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270248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405993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3200" dirty="0"/>
          </a:p>
        </p:txBody>
      </p:sp>
      <p:sp>
        <p:nvSpPr>
          <p:cNvPr id="33" name="Text 25"/>
          <p:cNvSpPr/>
          <p:nvPr/>
        </p:nvSpPr>
        <p:spPr>
          <a:xfrm>
            <a:off x="8266176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fixed in the purchased code, incl. a critical payment flaw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DELIVERED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 today - serving 3,500+ employees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46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1851111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28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application shell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2221992"/>
            <a:ext cx="3191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Role-aware navigation for learners, managers, trainers and admins; redesigned login &amp; self-signup; KPI dashboards with deadlines, achievements and continue-learning.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3984" y="1746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591" y="1851111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728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brand &amp; dark mode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62272" y="2221992"/>
            <a:ext cx="3191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brand book adopted 100%; dark mode with verified contrast; accessibility built in (reduced motion, screen-reader structure, touch targets).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1746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631" y="1851111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1728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at 100% parity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11312" y="2221992"/>
            <a:ext cx="3191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available in Hindi, kept in lockstep with English by an automated quality gate. Three more languages partially covered.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" y="4032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" y="4137111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014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surfaces for employees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3232" y="4507992"/>
            <a:ext cx="3191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Skills with gap analysis, certificates wall, gamification (points, levels, streaks), one-click enrolment for free courses.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43984" y="4032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591" y="4137111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37760" y="4014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&amp; compliance views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62272" y="4507992"/>
            <a:ext cx="3191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KPIs, compliance drill-downs and escalation digests - managers see their team without asking L&amp;D.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93024" y="4032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631" y="4137111"/>
            <a:ext cx="193121" cy="1931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86800" y="4014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&amp; HR operations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11312" y="4507992"/>
            <a:ext cx="3191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storefront with cart, GST and the airpay payment gateway; HR-system import proven on the full 2,871-employee load; joiner/leaver automation.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consumer-grade experience for every employee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3794760"/>
          </a:xfrm>
          <a:prstGeom prst="roundRect">
            <a:avLst>
              <a:gd name="adj" fmla="val 1687"/>
            </a:avLst>
          </a:prstGeom>
          <a:solidFill>
            <a:srgbClr val="FAF5F0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- the purchased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open-source look; nothing felt like airpay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English-only; Hindi speakers second-class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navigation worlds confused learners mid-course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dark mode; accessibility untested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"Recommended" courses were not actually personalised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3794760"/>
          </a:xfrm>
          <a:prstGeom prst="roundRect">
            <a:avLst>
              <a:gd name="adj" fmla="val 1687"/>
            </a:avLst>
          </a:prstGeom>
          <a:solidFill>
            <a:srgbClr val="EEF7F1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- Sentientia 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branded app shell across every page and role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Hindi experience - enforced, not aspirational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in-course player: progress bar, contents, next-activity flow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+ WCAG-grade contrast and motion sensitivity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driven by each employee's real skill gaps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adoption. A platform people like using is the difference between compliance theatre and a learning culture - and it is the storefront when we sell Sentientia externally.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ENTERING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AI suite - six features, one safety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09928"/>
            <a:ext cx="347472" cy="347472"/>
          </a:xfrm>
          <a:prstGeom prst="ellipse">
            <a:avLst/>
          </a:prstGeom>
          <a:solidFill>
            <a:srgbClr val="E8F2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800271"/>
            <a:ext cx="166787" cy="166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6824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quiz generation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source text; reviewed questions publish into real course quizzes.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72768"/>
            <a:ext cx="3520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1709928"/>
            <a:ext cx="347472" cy="347472"/>
          </a:xfrm>
          <a:prstGeom prst="ellipse">
            <a:avLst/>
          </a:prstGeom>
          <a:solidFill>
            <a:srgbClr val="E8F2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183" y="1800271"/>
            <a:ext cx="166787" cy="166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64608" y="16824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course authoring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62272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drafts become complete courses with mastery checks.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72768"/>
            <a:ext cx="3520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1709928"/>
            <a:ext cx="347472" cy="347472"/>
          </a:xfrm>
          <a:prstGeom prst="ellipse">
            <a:avLst/>
          </a:prstGeom>
          <a:solidFill>
            <a:srgbClr val="E8F2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223" y="1800271"/>
            <a:ext cx="166787" cy="166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13648" y="16824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intelligence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11312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skill-gap analysis feeding personal recommendations.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054096"/>
            <a:ext cx="3520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191256"/>
            <a:ext cx="347472" cy="347472"/>
          </a:xfrm>
          <a:prstGeom prst="ellipse">
            <a:avLst/>
          </a:prstGeom>
          <a:solidFill>
            <a:srgbClr val="E8F2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281599"/>
            <a:ext cx="166787" cy="166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31638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recommendations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3232" y="35844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suggestions from each employee's actual gaps.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054096"/>
            <a:ext cx="3520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34840" y="3191256"/>
            <a:ext cx="347472" cy="347472"/>
          </a:xfrm>
          <a:prstGeom prst="ellipse">
            <a:avLst/>
          </a:prstGeom>
          <a:solidFill>
            <a:srgbClr val="E8F2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183" y="3281599"/>
            <a:ext cx="166787" cy="166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64608" y="31638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translation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62272" y="35844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translations with protected brand terms, human-reviewed.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054096"/>
            <a:ext cx="35204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83880" y="3191256"/>
            <a:ext cx="347472" cy="347472"/>
          </a:xfrm>
          <a:prstGeom prst="ellipse">
            <a:avLst/>
          </a:prstGeom>
          <a:solidFill>
            <a:srgbClr val="E8F2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223" y="3281599"/>
            <a:ext cx="166787" cy="166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13648" y="31638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assistant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11312" y="35844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guarded agent that can recommend, enrol and book sessions.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709160"/>
            <a:ext cx="11091672" cy="1463040"/>
          </a:xfrm>
          <a:prstGeom prst="roundRect">
            <a:avLst>
              <a:gd name="adj" fmla="val 4375"/>
            </a:avLst>
          </a:prstGeom>
          <a:solidFill>
            <a:srgbClr val="06355C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4956048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07492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7160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feature runs through one governed gateway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371600" y="5230368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key management  ·  every call logged to a spend ledger  ·  hard daily &amp; monthly budget caps that fail closed  ·  human review before anything reaches learners  ·  switched off by default until we approve budgets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40" name="Text 31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ENTERING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Engagement, mobile reach and enterprise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97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83080"/>
            <a:ext cx="457200" cy="457200"/>
          </a:xfrm>
          <a:prstGeom prst="ellipse">
            <a:avLst/>
          </a:prstGeom>
          <a:solidFill>
            <a:srgbClr val="ED6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242316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in-class polls &amp; quizzes (Mentimeter-class), built in-house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leaderboards with privacy opt-out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proctoring with identity verification, ready for cloud face-match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4297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62272" y="1783080"/>
            <a:ext cx="457200" cy="457200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019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98848" y="242316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mobile app (PWA) with push notifications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notification channel - India-first engagement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native app track on iOS/Android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4297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783080"/>
            <a:ext cx="457200" cy="457200"/>
          </a:xfrm>
          <a:prstGeom prst="ellipse">
            <a:avLst/>
          </a:prstGeom>
          <a:solidFill>
            <a:srgbClr val="0A4D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9019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9652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47888" y="242316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REST API with rate limiting + LTI 1.3 standard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HR sync with KeKa (join / move / exit), security-hardened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Learning-activity capture (xAPI) + external content-marketplace connectors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feature-flagged and dormant in production until validated - production behaviour never changes by accident.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internal tool to sellable product - and we can prove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is architected as a white-label, multi-customer platform: every organisation gets its own tenants, branding, feature switches and data isolation. This month we demonstrated it end-to-end: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87168"/>
            <a:ext cx="502920" cy="50292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the customer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fictional second customer -"Meridian Financial Services" - added through the built-in registry.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487168"/>
            <a:ext cx="502920" cy="50292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one switch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7136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resolved every Meridian user to the Meridian customer, fully isolated from airpay data.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487168"/>
            <a:ext cx="502920" cy="50292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69680" y="24871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Configure, not 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66176" y="3200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branding now resolve per customer - the same flag can be ON for airpay and OFF for Meridian.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120640"/>
            <a:ext cx="438912" cy="43891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925" y="5234757"/>
            <a:ext cx="210678" cy="21067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53312" y="50292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 engineering, with automated tests:  </a:t>
            </a:r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customer #2 is now a configuration task measured in days - not an engineering project measured in months. That is the difference between an internal tool and a product.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Privacy, identity and the certification runway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46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1851111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28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privacy, done properly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2221992"/>
            <a:ext cx="3191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+ DPDP Act 2023 data-subject-rights tooling (export, deletion, consent log); privacy declarations across the entire plugin suite.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3984" y="1746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591" y="1851111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728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bank-grade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62272" y="2221992"/>
            <a:ext cx="3191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single sign-on and multi-factor authentication configuration packs ready; OAuth2-only email (no stored passwords) per IT mandate.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1746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631" y="1851111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1728216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current platform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11312" y="2221992"/>
            <a:ext cx="319125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to the current Moodle 5.x line with a repeatable upgrade pipeline - no more being stranded on old versions.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11091672" cy="2148840"/>
          </a:xfrm>
          <a:prstGeom prst="roundRect">
            <a:avLst>
              <a:gd name="adj" fmla="val 2979"/>
            </a:avLst>
          </a:prstGeom>
          <a:solidFill>
            <a:srgbClr val="E8F2F9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40050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RUNWAY - funded envelope approved in principle, dates re-baselined on the new UAT environment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77240" y="4389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77240" y="468172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Incident-response plan + ISO gap closure with evidence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474720" y="4389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3474720" y="468172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penetration test (CERT-In empanelled) executed + remediated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172200" y="4389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172200" y="468172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25,000-user load test - published scale proof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869680" y="4389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8869680" y="468172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Stage 1 engagement; SOC 2 track for global buyers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SAFE TO BET 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the purchased product never had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7667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79222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1896831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77393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ships hot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2267712"/>
            <a:ext cx="5047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feature is behind a switch, OFF by default; flipped per customer/tenant only after validation. Production has never broken during this programme.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7667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179222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551" y="1896831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77393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on record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28232" y="2267712"/>
            <a:ext cx="5047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formal architecture decision records + state cards per component - any engineer (or auditor) can reconstruct why the platform is the way it is.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37667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" y="4032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4137111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01421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quality gates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13232" y="4507992"/>
            <a:ext cx="5047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pre-commit checks and an 11-job CI pipeline: language parity, security scans, contract checks, automated tests - regressions are caught by machines, not users.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7667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9944" y="40325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51" y="4137111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4014216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audit what we bought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28232" y="4507992"/>
            <a:ext cx="5047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programme found and fixed 100+ defects in the vendor code - including a critical payment-verification bypass that had been in production undetected.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are versioned, checksummed packages with signed-off deployment guidebooks - the same discipline we will offer paying customers.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EF7F1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65376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653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17556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approvals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technology leadership approved the UAT programme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EEF7F1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798064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7980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268833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environment live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267004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servers provisioned this week - modern stack requirements met (PHP 8.3 / MySQL 8.4); access credentials issued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730752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7307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86000" y="36210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wiring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36027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web address + load balancer; deployment package already delivered to DevOps with checksums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43984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663440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0066A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6634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455371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A - first full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453542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install and functional smoke of the complete platform on the new stack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76672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596128"/>
            <a:ext cx="1371600" cy="402336"/>
          </a:xfrm>
          <a:prstGeom prst="roundRect">
            <a:avLst>
              <a:gd name="adj" fmla="val 11364"/>
            </a:avLst>
          </a:prstGeom>
          <a:solidFill>
            <a:srgbClr val="0A4D8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5961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86000" y="54864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B - migration rehearsal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0" y="546811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rehearsal with a copy of live data - the gate before any production cutover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platforms are converging on AI - and India-first wins are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analysts describe the LMS / LXP / micro-learning categories collapsing into one AI-native platform organised around skills. Incumbents are re-positioning fast; enterprise buyers in India additionally need DPDP compliance, Indian-language depth and WhatsApp-native engagement - exactly where global products are weakest.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7667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26609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2765511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6426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AI-native, governed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07008" y="3081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AI with budget governance - not a bolted-on chatbot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514600"/>
            <a:ext cx="537667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9944" y="26609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551" y="2765511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22008" y="26426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India-first by design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922008" y="3081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tooling, 100% Hindi, WhatsApp channel, BFSI compliance depth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37667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944" y="42611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4365711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42428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multi-customer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07008" y="46817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- most competitors retrofit this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4114800"/>
            <a:ext cx="537667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9944" y="4261104"/>
            <a:ext cx="402336" cy="402336"/>
          </a:xfrm>
          <a:prstGeom prst="ellipse">
            <a:avLst/>
          </a:prstGeom>
          <a:solidFill>
            <a:srgbClr val="0066A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51" y="4365711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22008" y="42428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cost advantage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922008" y="46817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core: no per-seat licence to a foreign vendor; we sell hosting, service and outcomes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against the named incumbent in our segment (400+ organisations, marquee bank client), our analysis places Sentientia at or ahead on the foundations the market is converging toward.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Sentientia earns: service revenue plus cost avoidance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LINE (draft pricing - for sign-off)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4937760" cy="932688"/>
          </a:xfrm>
          <a:prstGeom prst="roundRect">
            <a:avLst>
              <a:gd name="adj" fmla="val 5882"/>
            </a:avLst>
          </a:prstGeom>
          <a:solidFill>
            <a:srgbClr val="E8F2F9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76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2560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training that runs itself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21284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Rs 300-500</a:t>
            </a:r>
            <a:pPr algn="r" indent="0" marL="0">
              <a:buNone/>
            </a:pPr>
            <a:endParaRPr lang="en-US" sz="13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user / year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145536"/>
            <a:ext cx="4937760" cy="932688"/>
          </a:xfrm>
          <a:prstGeom prst="roundRect">
            <a:avLst>
              <a:gd name="adj" fmla="val 5882"/>
            </a:avLst>
          </a:prstGeom>
          <a:solidFill>
            <a:srgbClr val="E8F2F9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218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+ Reach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6027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employees actually open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9080" y="325526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Rs 600-900</a:t>
            </a:r>
            <a:pPr algn="r" indent="0" marL="0">
              <a:buNone/>
            </a:pPr>
            <a:endParaRPr lang="en-US" sz="13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user / year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187952"/>
            <a:ext cx="4937760" cy="932688"/>
          </a:xfrm>
          <a:prstGeom prst="roundRect">
            <a:avLst>
              <a:gd name="adj" fmla="val 5882"/>
            </a:avLst>
          </a:prstGeom>
          <a:solidFill>
            <a:srgbClr val="E8F2F9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2611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+ AI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4645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with the governed AI suite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42976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Rs 1,200-1,800</a:t>
            </a:r>
            <a:pPr algn="r" indent="0" marL="0">
              <a:buNone/>
            </a:pPr>
            <a:endParaRPr lang="en-US" sz="13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user / year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2578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licence means we sell hosting, implementation, support SLAs and the AI service - not seats. Anchors from the internal pricing draft; final figures need sign-off.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539496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AVOIDANCE &amp; LEVERAGE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4983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benchmark in progress: we have formally asked the incumbent vendor to quote effort, cost and timeline to replicate this transformation - their number becomes the documented value of what was built in-house.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 leverage: the same letter asks whether they would support Sentientia under AMC - either answer strengthens our negotiating position at renewal.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build cost: primarily existing L&amp;D capacity amplified by AI-assisted engineering - direct spend to date has been minimal. [Effort summary available separately.]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TWO QUARTERS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validation to first external customer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ED6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377440"/>
            <a:ext cx="23591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Stage A: first full-platform validation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Stage B: live-data migration rehearsal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Incident-response plan + ISO gaps closed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Penetration-test vendor signed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0420" y="16459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/>
        </p:spPr>
      </p:sp>
      <p:sp>
        <p:nvSpPr>
          <p:cNvPr id="9" name="Text 7"/>
          <p:cNvSpPr/>
          <p:nvPr/>
        </p:nvSpPr>
        <p:spPr>
          <a:xfrm>
            <a:off x="336042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0420" y="224028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7580" y="2377440"/>
            <a:ext cx="23591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 executed + remediated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cutover decision (gated on Stage B)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customer dressed for sales (branding, sample content)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features first live pilots on UAT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24028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377440"/>
            <a:ext cx="23591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25k-user load test - scale proof published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taxonomy populated (content team)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collateral + security questionnaire pack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external prospect conversations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3980" y="164592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0066A7"/>
          </a:solidFill>
          <a:ln/>
        </p:spPr>
      </p:sp>
      <p:sp>
        <p:nvSpPr>
          <p:cNvPr id="17" name="Text 15"/>
          <p:cNvSpPr/>
          <p:nvPr/>
        </p:nvSpPr>
        <p:spPr>
          <a:xfrm>
            <a:off x="8983980" y="1645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83980" y="2240280"/>
            <a:ext cx="2606040" cy="36118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21140" y="2377440"/>
            <a:ext cx="23591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Stage 1 engagement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external pilot customer target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 build underway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track opens for global buyers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cutover remains a gated decision after the migration rehearsal passes - dates above are working targets, not commitments to risk.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resource approvals requested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solidFill>
            <a:srgbClr val="06355C"/>
          </a:solidFill>
          <a:ln w="6350">
            <a:solidFill>
              <a:srgbClr val="E2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46120" y="1600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buys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863840" y="1600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10412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65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certification programme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test, ISO 27001 gap closure + Stage 1, SOC 2 track, 25k load test - the evidence enterprise buyers require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1965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80-120 lakh envelope; exact figure to confirm today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04120" y="19659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in principle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91672" cy="777240"/>
          </a:xfrm>
          <a:prstGeom prst="rect">
            <a:avLst/>
          </a:prstGeom>
          <a:solidFill>
            <a:srgbClr val="F7FAFD"/>
          </a:solidFill>
          <a:ln w="6350">
            <a:solidFill>
              <a:srgbClr val="E2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43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budget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27432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 usage (quiz generation first) under hard monthly caps that fail closed; unused budget is simply not spent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cap: [to confirm today]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743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in principle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204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35204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right-sizing for the migration rehearsal; production database upgrade; domain, load balancer &amp; certificates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[DevOps estimate - to confirm]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104120" y="35204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11091672" cy="777240"/>
          </a:xfrm>
          <a:prstGeom prst="rect">
            <a:avLst/>
          </a:prstGeom>
          <a:solidFill>
            <a:srgbClr val="F7FAFD"/>
          </a:solidFill>
          <a:ln w="6350">
            <a:solidFill>
              <a:srgbClr val="E2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2976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46120" y="42976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platform-support engineer (per the draft SLA model); content-team time to tag courses to skills; native-app build squad (already funded in principle)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0" y="42976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[Headcount plan - to confirm]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104120" y="42976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approved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0749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50749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customer dressing, sales collateral, security-questionnaire pack, pricing sign-off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3840" y="5074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[Marketing estimate - to confirm]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104120" y="50749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ask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161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"approved in principle" lines were signed in the August decision memo - today we ask for the numbers, so vendors can be committed.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OPEN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how we are handling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76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27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Key-person concentration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93852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i="1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was built by a very small team.  </a:t>
            </a:r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documented to auditable standard (decision records, runbooks, guidebooks); support-engineer hire spreads the load; vendor AMC option keeps a fallback.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76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627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Single-customer proof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93852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i="1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airpay is the only production customer today.  </a:t>
            </a:r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Multi-customer architecture already demonstrated; demo customer + first external pilot are explicit roadmap items with dates.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5376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31638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Vendor/AMC ambiguity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34747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i="1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incumbent vendor may decline to support our build.  </a:t>
            </a:r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RFP sent; either answer informs renewal. Our own runbooks reduce dependence either way.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263640" y="3090672"/>
            <a:ext cx="5376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31638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timeline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4747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i="1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take quarters, and buyers ask early.  </a:t>
            </a:r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 + evidence pack land this quarter and satisfy most questionnaires before ISO completes.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8640" y="4626864"/>
            <a:ext cx="5376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4700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sizing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501091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i="1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servers are modest; rehearsal may need more.  </a:t>
            </a:r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and budgeted - resize is a same-day cloud operation, flagged with DevOps in advance.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263640" y="4626864"/>
            <a:ext cx="5376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700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dependency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01091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i="1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Skills-based features need courses tagged to skills.  </a:t>
            </a:r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Content-team workstream scoped; platform falls back gracefully until tagging completes.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3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CD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CLOSE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365760" cy="36576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security &amp; certification figure within the approved Rs 80-120 lakh envelope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487168"/>
            <a:ext cx="365760" cy="36576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3957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AI monthly operating cap and authorise the API key provisioning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236976"/>
            <a:ext cx="365760" cy="36576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14553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infrastructure line: UAT right-sizing + production database upgrade + domain/load-balancer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986784"/>
            <a:ext cx="365760" cy="36576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8953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one platform-support engineer and the content-team skills-tagging workstream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736592"/>
            <a:ext cx="365760" cy="365760"/>
          </a:xfrm>
          <a:prstGeom prst="ellipse">
            <a:avLst/>
          </a:prstGeom>
          <a:solidFill>
            <a:srgbClr val="ED692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64515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go-to-market preparation: demo customer dressing, collateral, and sign-off of the draft pricing tiers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8571"/>
            </a:avLst>
          </a:prstGeom>
          <a:solidFill>
            <a:srgbClr val="0A4D80"/>
          </a:solidFill>
          <a:ln w="9525">
            <a:solidFill>
              <a:srgbClr val="1C6E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486400"/>
            <a:ext cx="365760" cy="365760"/>
          </a:xfrm>
          <a:prstGeom prst="ellipse">
            <a:avLst/>
          </a:prstGeom>
          <a:solidFill>
            <a:srgbClr val="1985DD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394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production cutover gate: it follows a passed migration rehearsal, not a calendar date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inventory (condensed)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design system &amp; app shell (4 role personas)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Redesigned login, self-signup, landing page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+ WCAG-grade accessibility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Hindi parity (automated gate); kn/mr/sw partial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Skills: gap analysis, radar, recommendations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wall + certificate health monitoring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Gamification: points, levels, streaks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team KPIs + compliance drill-downs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storefront, cart, GST, payment gateway (hardened)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HRMS CSV import (2,871 employees proven) + joiner/leaver automation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requests &amp; approval routing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email digests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vendor-code defects fixed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63640" y="1508760"/>
            <a:ext cx="54864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- STAGED BEHIND SWITCHES (UAT PHASE)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in-course player (single navigation, progress, next-up)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gateway: central keys, spend ledger, fail-closed caps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quiz generation -&gt; real course quizzes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course authoring -&gt; real courses with mastery checks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intelligence, recommendations, translation, assistant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sessions (polls/quizzes), live leaderboards, proctoring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PWA + push; WhatsApp channel; funded native app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REST API + LTI 1.3; KeKa HRMS webhook sync (hardened)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xAPI activity capture; content-marketplace connectors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GDPR/DPDP data-subject-rights tooling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OAuth2-only email; Microsoft SSO + MFA packs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multi-customer registry (Customer-N demonstrated)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Moodle 5.2 upgrade candidate, checksummed release packages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85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record &amp; delivery discipline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922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922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76072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pre-commit checks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7922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09760" y="18288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jobs on every change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467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011680" y="33832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files under the parity gate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20040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3467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760720" y="33832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around the new feature 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200400"/>
            <a:ext cx="3520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33467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509760" y="33832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checksummed release packages delivered to DevOps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E8F2F9"/>
          </a:solidFill>
          <a:ln w="9525">
            <a:solidFill>
              <a:srgbClr val="E2E6EF"/>
            </a:solidFill>
            <a:prstDash val="solid"/>
          </a:ln>
          <a:effectLst>
            <a:outerShdw sx="100000" sy="100000" kx="0" ky="0" algn="bl" rotWithShape="0" blurRad="76200" dist="12700" dir="5400000">
              <a:srgbClr val="9AA6B5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note.  </a:t>
            </a:r>
            <a:pPr indent="0" marL="0">
              <a:buNone/>
            </a:pPr>
            <a:r>
              <a:rPr lang="en-US" sz="1200" dirty="0">
                <a:solidFill>
                  <a:srgbClr val="5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programme pairs a small internal team with AI-assisted engineering under strict human gates: every change is reviewed, feature-flagged, tested and documented before it ships. The same governance applies to the AI features the platform itself offers.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Sentientia LMS  |  Confidential - internal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A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Sentientia LMS - Investment &amp; Approval Briefing</dc:title>
  <dc:subject>PptxGenJS Presentation</dc:subject>
  <dc:creator>Nitin Rajput</dc:creator>
  <cp:lastModifiedBy>Nitin Rajput</cp:lastModifiedBy>
  <cp:revision>1</cp:revision>
  <dcterms:created xsi:type="dcterms:W3CDTF">2026-08-21T06:24:24Z</dcterms:created>
  <dcterms:modified xsi:type="dcterms:W3CDTF">2026-08-21T06:24:24Z</dcterms:modified>
</cp:coreProperties>
</file>